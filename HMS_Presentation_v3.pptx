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8882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89"/>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Welcome everyone. Today I present our Hospital Management System — a production-grade full-stack web application that covers every department of a modern hospital. It supports 19 user roles, 30+ API modules, and is secured with enterprise-grade security including Argon2id hashing, RS256 JWT, field-level encryption, and tamper-evident audit logs.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is not a simple CRUD app. It mirrors how a real hospital operates. Every department has its own purpose-built dashboard. The 19 roles each have different permissions — a nurse cannot access billing, a billing clerk cannot see prescriptions. The PWA means staff can install it on their phones and use it even without internet connectivity.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core problem is fragmentation. In most hospitals, a doctor writes a prescription on paper, a nurse records vitals in a notebook, and billing is done on a separate spreadsheet. There is no single source of truth. This leads to medical errors, data loss, and security breaches. Our system solves this by bringing every department onto one unified, secure, real-time platform.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Our objectives were clear from the start: digitize, secure, and connect. Every hospital role gets a purpose-built interface. Every action is audited. Every piece of sensitive data is encrypted. The system also automates routine tasks like sending low-stock alerts or generating PDF discharge summaries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system follows a three-tier architecture with additional layers. Redis handles sessions and rate limiting independently from the database. Socket.io enables real-time features. The backend is organized into 30+ independent modules. BullMQ handles async tasks like email sending and file processing so they don't block the main request thread.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Every single request — before it even reaches the business logic — passes through 9 security layers. This defense-in-depth approach means multiple layers must be bypassed for any attack to succeed. For example, even if an attacker has a valid JWT, they still need to pass the RBAC check. Even if they pass RBAC, their input is still sanitized.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system is organized into 8 functional categories covering every aspect of hospital operations. Each backend module is independently structured with its own routes, controller, service layer, and Zod validation schema. This modular design means new features can be added without touching existing code.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patient journey is the heart of the system. Every step is connected and audited. When a nurse records an abnormal vital sign, the doctor is notified instantly. When a doctor writes a prescription, the pharmacist sees it in their queue without refreshing. The entire journey from registration to billing is tracked in one unified system.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clinical workflow is the heart of the system. Every step is connected and audited. When a nurse records an abnormal vital sign, the doctor is notified instantly. When a doctor writes a prescription, the pharmacist sees it in their queue without refreshing. The entire journey from registration to billing is tracked in one unified system.</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Beyond clinical care, the system manages the physical and human resources of the hospital. The bed matrix gives a real-time view of bed availability. The blood bank tracks every unit from donation to transfusion. Inventory items have QR codes that can be scanned to update stock. HR functions like shifts and leaves are fully automated with approval workflows.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login flow has multiple checkpoints. First the IP is checked against the blocked list. Then rate limiting is checked. Then account lockout status. Only then is the password verified with Argon2id. On success, an RS256 JWT is issued with a 15-minute expiry. Refresh tokens are single-use and stored in Redis — each refresh rotates the token, so stolen refresh tokens become invalid after one use.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Security is not an afterthought here — it is built into every layer. Argon2id is specifically designed to be slow and memory-intensive to defeat brute-force attacks. The hash-chain audit log is like a blockchain for hospital records — if anyone deletes or modifies a log entry, the chain breaks and the system detects it immediately.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database has 40+ tables organized around the patient as the central entity. Everything connects back to the patient. Sensitive columns like email and phone are encrypted directly in the database using pgcrypto. Multi-step operations use database transactions — either everything succeeds or nothing is saved. UUID primary keys prevent enumeration attacks.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flowchart shows how three different roles interact through the system in real time. The doctor writes the prescription, the system validates and saves it, and the pharmacist is notified instantly via Socket.io. The patient is notified when the medication is dispensed. Every step creates an audit log entry. The PDF is generated on demand by Puppeteer.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These are real workflows supported by actual code in the system. The patient portal gives patients full visibility into their own care. The audit log has hash-chain verification that mathematically proves no entry has been tampered with. The blood bank tracks every unit from arrival to transfusion. The force logout feature lets admins terminate any session in real time.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technology choices reflect a modern, production-ready stack. Express 5 has improved async error handling. Argon2id won the Password Hashing Competition and is recommended over bcrypt. Puppeteer runs headless Chrome on the server to generate PDFs. ClamScan is an open-source antivirus integrated into the upload pipeline. Razorpay handles real payment processing.</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biggest advantage is that security and real-time capability are core to the architecture, not add-ons. The tamper-evident audit log is particularly unique — most hospital systems just store logs in a table. This system chains each entry with cryptographic hashes, so deletion or modification is immediately detectable.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Being honest about limitations is important. The telemedicine feature works but relies on an external video provider. The system is designed for a single hospital — multi-branch support would require architectural changes. The radiology module has roles and permissions defined but the full UI is partially implemented.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foundation is solid enough to support significant enhancements. AI integration using the vitals data already being collected could detect early warning signs of patient deterioration. FHIR integration would allow data exchange with other hospital systems, increasingly required by healthcare regulations. Multi-tenant support would make this commercially viable as a SaaS product for hospital chains.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To summarize: this system goes far beyond a typical project. It implements security patterns used in banking, real-time features used in communication platforms, and clinical workflows used in actual hospital software. Every feature shown today is backed by real, working code — not mockups or assumptions.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Thank you for your attention. I am happy to answer any questions about the technical implementation, security architecture, or clinical workflows. If you would like a live demo of any specific feature, I can walk you through 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88952" cy="2377440"/>
          </a:xfrm>
          <a:prstGeom prst="rect">
            <a:avLst/>
          </a:prstGeom>
          <a:solidFill>
            <a:srgbClr val="009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434840"/>
            <a:ext cx="12188952"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0080"/>
            <a:ext cx="11274552" cy="1005840"/>
          </a:xfrm>
          <a:prstGeom prst="rect">
            <a:avLst/>
          </a:prstGeom>
          <a:noFill/>
        </p:spPr>
        <p:txBody>
          <a:bodyPr wrap="square">
            <a:spAutoFit/>
          </a:bodyPr>
          <a:lstStyle/>
          <a:p>
            <a:pPr algn="ctr"/>
            <a:r>
              <a:rPr sz="3800" b="1" i="0">
                <a:solidFill>
                  <a:srgbClr val="FFFFFF"/>
                </a:solidFill>
                <a:latin typeface="Calibri" panose="020F0502020204030204"/>
              </a:rPr>
              <a:t>Hospital Management System (HMS)</a:t>
            </a:r>
            <a:endParaRPr sz="3800" b="1" i="0">
              <a:solidFill>
                <a:srgbClr val="FFFFFF"/>
              </a:solidFill>
              <a:latin typeface="Calibri" panose="020F0502020204030204"/>
            </a:endParaRPr>
          </a:p>
        </p:txBody>
      </p:sp>
      <p:sp>
        <p:nvSpPr>
          <p:cNvPr id="6" name="TextBox 5"/>
          <p:cNvSpPr txBox="1"/>
          <p:nvPr/>
        </p:nvSpPr>
        <p:spPr>
          <a:xfrm>
            <a:off x="457200" y="1737360"/>
            <a:ext cx="11274552" cy="548640"/>
          </a:xfrm>
          <a:prstGeom prst="rect">
            <a:avLst/>
          </a:prstGeom>
          <a:noFill/>
        </p:spPr>
        <p:txBody>
          <a:bodyPr wrap="square">
            <a:spAutoFit/>
          </a:bodyPr>
          <a:lstStyle/>
          <a:p>
            <a:pPr algn="ctr"/>
            <a:r>
              <a:rPr sz="1800" b="0" i="1">
                <a:solidFill>
                  <a:srgbClr val="00B4D8"/>
                </a:solidFill>
                <a:latin typeface="Calibri" panose="020F0502020204030204"/>
              </a:rPr>
              <a:t>A Full-Stack, Role-Based, Secure Healthcare Platform</a:t>
            </a:r>
            <a:endParaRPr sz="1800" b="0" i="1">
              <a:solidFill>
                <a:srgbClr val="00B4D8"/>
              </a:solidFill>
              <a:latin typeface="Calibri" panose="020F0502020204030204"/>
            </a:endParaRPr>
          </a:p>
        </p:txBody>
      </p:sp>
      <p:sp>
        <p:nvSpPr>
          <p:cNvPr id="7" name="Rectangle 6"/>
          <p:cNvSpPr/>
          <p:nvPr/>
        </p:nvSpPr>
        <p:spPr>
          <a:xfrm>
            <a:off x="1371600" y="2468880"/>
            <a:ext cx="9445752"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606040"/>
            <a:ext cx="11274552" cy="457200"/>
          </a:xfrm>
          <a:prstGeom prst="rect">
            <a:avLst/>
          </a:prstGeom>
          <a:noFill/>
        </p:spPr>
        <p:txBody>
          <a:bodyPr wrap="square">
            <a:spAutoFit/>
          </a:bodyPr>
          <a:lstStyle/>
          <a:p>
            <a:pPr algn="ctr"/>
            <a:r>
              <a:rPr sz="1400" b="0" i="0">
                <a:solidFill>
                  <a:srgbClr val="E8F4F8"/>
                </a:solidFill>
                <a:latin typeface="Calibri" panose="020F0502020204030204"/>
              </a:rPr>
              <a:t>Digitize  |  Secure  |  Connect  |  Automate</a:t>
            </a:r>
            <a:endParaRPr sz="1400" b="0" i="0">
              <a:solidFill>
                <a:srgbClr val="E8F4F8"/>
              </a:solidFill>
              <a:latin typeface="Calibri" panose="020F0502020204030204"/>
            </a:endParaRPr>
          </a:p>
        </p:txBody>
      </p:sp>
      <p:sp>
        <p:nvSpPr>
          <p:cNvPr id="9" name="Rounded Rectangle 8"/>
          <p:cNvSpPr/>
          <p:nvPr/>
        </p:nvSpPr>
        <p:spPr>
          <a:xfrm>
            <a:off x="457200" y="3200400"/>
            <a:ext cx="2103120" cy="438912"/>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19 User Roles</a:t>
            </a:r>
            <a:endParaRPr sz="1000" b="1">
              <a:solidFill>
                <a:srgbClr val="FFFFFF"/>
              </a:solidFill>
              <a:latin typeface="Calibri" panose="020F0502020204030204"/>
            </a:endParaRPr>
          </a:p>
        </p:txBody>
      </p:sp>
      <p:sp>
        <p:nvSpPr>
          <p:cNvPr id="10" name="Rounded Rectangle 9"/>
          <p:cNvSpPr/>
          <p:nvPr/>
        </p:nvSpPr>
        <p:spPr>
          <a:xfrm>
            <a:off x="2834640" y="3200400"/>
            <a:ext cx="2103120" cy="438912"/>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30+ API Modules</a:t>
            </a:r>
            <a:endParaRPr sz="1000" b="1">
              <a:solidFill>
                <a:srgbClr val="FFFFFF"/>
              </a:solidFill>
              <a:latin typeface="Calibri" panose="020F0502020204030204"/>
            </a:endParaRPr>
          </a:p>
        </p:txBody>
      </p:sp>
      <p:sp>
        <p:nvSpPr>
          <p:cNvPr id="11" name="Rounded Rectangle 10"/>
          <p:cNvSpPr/>
          <p:nvPr/>
        </p:nvSpPr>
        <p:spPr>
          <a:xfrm>
            <a:off x="5212080" y="3200400"/>
            <a:ext cx="2103120" cy="438912"/>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40+ DB Tables</a:t>
            </a:r>
            <a:endParaRPr sz="1000" b="1">
              <a:solidFill>
                <a:srgbClr val="FFFFFF"/>
              </a:solidFill>
              <a:latin typeface="Calibri" panose="020F0502020204030204"/>
            </a:endParaRPr>
          </a:p>
        </p:txBody>
      </p:sp>
      <p:sp>
        <p:nvSpPr>
          <p:cNvPr id="12" name="Rounded Rectangle 11"/>
          <p:cNvSpPr/>
          <p:nvPr/>
        </p:nvSpPr>
        <p:spPr>
          <a:xfrm>
            <a:off x="7589520" y="3200400"/>
            <a:ext cx="2103120" cy="438912"/>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Real-Time + PWA</a:t>
            </a:r>
            <a:endParaRPr sz="1000" b="1">
              <a:solidFill>
                <a:srgbClr val="FFFFFF"/>
              </a:solidFill>
              <a:latin typeface="Calibri" panose="020F0502020204030204"/>
            </a:endParaRPr>
          </a:p>
        </p:txBody>
      </p:sp>
      <p:sp>
        <p:nvSpPr>
          <p:cNvPr id="13" name="Rounded Rectangle 12"/>
          <p:cNvSpPr/>
          <p:nvPr/>
        </p:nvSpPr>
        <p:spPr>
          <a:xfrm>
            <a:off x="9966960" y="3200400"/>
            <a:ext cx="2103120" cy="438912"/>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9 Security Layers</a:t>
            </a:r>
            <a:endParaRPr sz="1000" b="1">
              <a:solidFill>
                <a:srgbClr val="FFFFFF"/>
              </a:solidFill>
              <a:latin typeface="Calibri" panose="020F0502020204030204"/>
            </a:endParaRPr>
          </a:p>
        </p:txBody>
      </p:sp>
      <p:sp>
        <p:nvSpPr>
          <p:cNvPr id="14" name="TextBox 13"/>
          <p:cNvSpPr txBox="1"/>
          <p:nvPr/>
        </p:nvSpPr>
        <p:spPr>
          <a:xfrm>
            <a:off x="457200" y="4663440"/>
            <a:ext cx="11274552" cy="337185"/>
          </a:xfrm>
          <a:prstGeom prst="rect">
            <a:avLst/>
          </a:prstGeom>
          <a:noFill/>
        </p:spPr>
        <p:txBody>
          <a:bodyPr wrap="square">
            <a:spAutoFit/>
          </a:bodyPr>
          <a:lstStyle/>
          <a:p>
            <a:pPr algn="ctr"/>
            <a:r>
              <a:rPr sz="1600" b="0" i="0">
                <a:solidFill>
                  <a:srgbClr val="FFFFFF"/>
                </a:solidFill>
                <a:latin typeface="Calibri" panose="020F0502020204030204"/>
              </a:rPr>
              <a:t>Presented by: [</a:t>
            </a:r>
            <a:r>
              <a:rPr lang="en-US" sz="1600" b="0" i="0">
                <a:solidFill>
                  <a:srgbClr val="FFFFFF"/>
                </a:solidFill>
                <a:latin typeface="Calibri" panose="020F0502020204030204"/>
              </a:rPr>
              <a:t>Alagappan Pl, Gokula Dharshan C, MahiBalaa D</a:t>
            </a:r>
            <a:r>
              <a:rPr sz="1600" b="0" i="0">
                <a:solidFill>
                  <a:srgbClr val="FFFFFF"/>
                </a:solidFill>
                <a:latin typeface="Calibri" panose="020F0502020204030204"/>
              </a:rPr>
              <a:t>]  |  [</a:t>
            </a:r>
            <a:r>
              <a:rPr lang="en-US" sz="1600" b="0" i="0">
                <a:solidFill>
                  <a:srgbClr val="FFFFFF"/>
                </a:solidFill>
                <a:latin typeface="Calibri" panose="020F0502020204030204"/>
              </a:rPr>
              <a:t>SRM Valliammai Engineering College</a:t>
            </a:r>
            <a:r>
              <a:rPr sz="1600" b="0" i="0">
                <a:solidFill>
                  <a:srgbClr val="FFFFFF"/>
                </a:solidFill>
                <a:latin typeface="Calibri" panose="020F0502020204030204"/>
              </a:rPr>
              <a:t>]  |  April 2026</a:t>
            </a:r>
            <a:endParaRPr sz="1600" b="0" i="0">
              <a:solidFill>
                <a:srgbClr val="FFFFFF"/>
              </a:solidFill>
              <a:latin typeface="Calibri" panose="020F0502020204030204"/>
            </a:endParaRPr>
          </a:p>
        </p:txBody>
      </p:sp>
      <p:sp>
        <p:nvSpPr>
          <p:cNvPr id="15" name="TextBox 14"/>
          <p:cNvSpPr txBox="1"/>
          <p:nvPr/>
        </p:nvSpPr>
        <p:spPr>
          <a:xfrm>
            <a:off x="457200" y="5379720"/>
            <a:ext cx="11274425" cy="1141095"/>
          </a:xfrm>
          <a:prstGeom prst="rect">
            <a:avLst/>
          </a:prstGeom>
          <a:noFill/>
        </p:spPr>
        <p:txBody>
          <a:bodyPr wrap="square">
            <a:noAutofit/>
          </a:bodyPr>
          <a:lstStyle/>
          <a:p>
            <a:pPr algn="ctr"/>
            <a:r>
              <a:rPr sz="1300" b="0" i="1">
                <a:solidFill>
                  <a:srgbClr val="E8F4F8"/>
                </a:solidFill>
                <a:latin typeface="Calibri" panose="020F0502020204030204"/>
              </a:rPr>
              <a:t>A comprehensive web-based platform that digitizes every hospital workflow
from patient registration to discharge, billing, HR, and real-time communication.</a:t>
            </a:r>
            <a:endParaRPr sz="1300" b="0" i="1">
              <a:solidFill>
                <a:srgbClr val="E8F4F8"/>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583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502920"/>
          </a:xfrm>
          <a:prstGeom prst="rect">
            <a:avLst/>
          </a:prstGeom>
          <a:noFill/>
        </p:spPr>
        <p:txBody>
          <a:bodyPr wrap="square">
            <a:spAutoFit/>
          </a:bodyPr>
          <a:lstStyle/>
          <a:p>
            <a:pPr algn="l"/>
            <a:r>
              <a:rPr sz="2000" b="1" i="0">
                <a:solidFill>
                  <a:srgbClr val="FFFFFF"/>
                </a:solidFill>
                <a:latin typeface="Calibri" panose="020F0502020204030204"/>
              </a:rPr>
              <a:t>Introduction — What Is This System?</a:t>
            </a:r>
            <a:endParaRPr sz="2000" b="1" i="0">
              <a:solidFill>
                <a:srgbClr val="FFFFFF"/>
              </a:solidFill>
              <a:latin typeface="Calibri" panose="020F0502020204030204"/>
            </a:endParaRPr>
          </a:p>
        </p:txBody>
      </p:sp>
      <p:sp>
        <p:nvSpPr>
          <p:cNvPr id="4" name="Rectangle 3"/>
          <p:cNvSpPr/>
          <p:nvPr/>
        </p:nvSpPr>
        <p:spPr>
          <a:xfrm>
            <a:off x="0" y="658368"/>
            <a:ext cx="109728" cy="61996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749808"/>
            <a:ext cx="11795760" cy="59893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822960"/>
            <a:ext cx="11430000" cy="3553460"/>
          </a:xfrm>
          <a:prstGeom prst="rect">
            <a:avLst/>
          </a:prstGeom>
          <a:noFill/>
        </p:spPr>
        <p:txBody>
          <a:bodyPr wrap="square">
            <a:spAutoFit/>
          </a:bodyPr>
          <a:lstStyle/>
          <a:p>
            <a:pPr algn="l">
              <a:spcBef>
                <a:spcPts val="400"/>
              </a:spcBef>
              <a:spcAft>
                <a:spcPts val="200"/>
              </a:spcAft>
            </a:pPr>
            <a:r>
              <a:rPr>
                <a:solidFill>
                  <a:srgbClr val="1E293B"/>
                </a:solidFill>
                <a:latin typeface="Calibri" panose="020F0502020204030204"/>
              </a:rPr>
              <a:t>  •  A web-based Hospital Management System (HMS) built to digitize real hospital operations end-to-end</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Supports 19 distinct user roles: Doctor, Nurse, Receptionist, Pharmacist, Lab Tech, Billing, HR, Admin, IT, Radiologist,</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Anesthetist, Dietitian, Physio, Social Worker, Security Officer, Orderly, Inventory Manager, and Patient Portal</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Manages the complete patient journey: Registration → Appointment → Consultation → Vitals → Prescription</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Lab Tests → Treatment → Discharge → Billing → Follow-up</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Real-time communication: live chat between departments, instant notifications, telemedicine video calls</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Built as a Progressive Web App (PWA) — installable on mobile devices, works offline with service worker caching</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Every single action is logged in a tamper-evident, hash-chain verified audit trail</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Example: A doctor in Ward 3 writes a prescription → the pharmacist on Floor 1 sees it instantly without refreshing</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Example: Admin blocks a suspicious IP address → that IP is rejected on the very next request, system-wide</a:t>
            </a:r>
            <a:endParaRPr>
              <a:solidFill>
                <a:srgbClr val="1E293B"/>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583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502920"/>
          </a:xfrm>
          <a:prstGeom prst="rect">
            <a:avLst/>
          </a:prstGeom>
          <a:noFill/>
        </p:spPr>
        <p:txBody>
          <a:bodyPr wrap="square">
            <a:spAutoFit/>
          </a:bodyPr>
          <a:lstStyle/>
          <a:p>
            <a:pPr algn="l"/>
            <a:r>
              <a:rPr sz="2000" b="1" i="0">
                <a:solidFill>
                  <a:srgbClr val="FFFFFF"/>
                </a:solidFill>
                <a:latin typeface="Calibri" panose="020F0502020204030204"/>
              </a:rPr>
              <a:t>Problem Statement — Why This System Is Needed</a:t>
            </a:r>
            <a:endParaRPr sz="2000" b="1" i="0">
              <a:solidFill>
                <a:srgbClr val="FFFFFF"/>
              </a:solidFill>
              <a:latin typeface="Calibri" panose="020F0502020204030204"/>
            </a:endParaRPr>
          </a:p>
        </p:txBody>
      </p:sp>
      <p:sp>
        <p:nvSpPr>
          <p:cNvPr id="4" name="Rectangle 3"/>
          <p:cNvSpPr/>
          <p:nvPr/>
        </p:nvSpPr>
        <p:spPr>
          <a:xfrm>
            <a:off x="0" y="658368"/>
            <a:ext cx="109728" cy="61996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749808"/>
            <a:ext cx="5760720" cy="598932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749808"/>
            <a:ext cx="5760720" cy="59893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804672"/>
            <a:ext cx="5577840" cy="365760"/>
          </a:xfrm>
          <a:prstGeom prst="rect">
            <a:avLst/>
          </a:prstGeom>
          <a:noFill/>
        </p:spPr>
        <p:txBody>
          <a:bodyPr wrap="square">
            <a:spAutoFit/>
          </a:bodyPr>
          <a:lstStyle/>
          <a:p>
            <a:pPr algn="l"/>
            <a:r>
              <a:rPr sz="1300" b="1" i="0">
                <a:solidFill>
                  <a:srgbClr val="EF4444"/>
                </a:solidFill>
                <a:latin typeface="Calibri" panose="020F0502020204030204"/>
              </a:rPr>
              <a:t>❌  Current Problems</a:t>
            </a:r>
            <a:endParaRPr sz="1300" b="1" i="0">
              <a:solidFill>
                <a:srgbClr val="EF4444"/>
              </a:solidFill>
              <a:latin typeface="Calibri" panose="020F0502020204030204"/>
            </a:endParaRPr>
          </a:p>
        </p:txBody>
      </p:sp>
      <p:sp>
        <p:nvSpPr>
          <p:cNvPr id="8" name="TextBox 7"/>
          <p:cNvSpPr txBox="1"/>
          <p:nvPr/>
        </p:nvSpPr>
        <p:spPr>
          <a:xfrm>
            <a:off x="274320" y="1188720"/>
            <a:ext cx="5577840" cy="3646170"/>
          </a:xfrm>
          <a:prstGeom prst="rect">
            <a:avLst/>
          </a:prstGeom>
          <a:noFill/>
        </p:spPr>
        <p:txBody>
          <a:bodyPr wrap="square">
            <a:spAutoFit/>
          </a:bodyPr>
          <a:lstStyle/>
          <a:p>
            <a:pPr algn="l">
              <a:spcBef>
                <a:spcPts val="500"/>
              </a:spcBef>
              <a:spcAft>
                <a:spcPts val="200"/>
              </a:spcAft>
            </a:pPr>
            <a:r>
              <a:rPr sz="1400">
                <a:solidFill>
                  <a:srgbClr val="1E293B"/>
                </a:solidFill>
                <a:latin typeface="Calibri" panose="020F0502020204030204"/>
              </a:rPr>
              <a:t>  •  Paper-based records: doctors write prescriptions by hand, nurses record vitals in notebooks</a:t>
            </a:r>
            <a:endParaRPr sz="1400">
              <a:solidFill>
                <a:srgbClr val="1E293B"/>
              </a:solidFill>
              <a:latin typeface="Calibri" panose="020F0502020204030204"/>
            </a:endParaRPr>
          </a:p>
          <a:p>
            <a:pPr algn="l">
              <a:spcBef>
                <a:spcPts val="500"/>
              </a:spcBef>
              <a:spcAft>
                <a:spcPts val="200"/>
              </a:spcAft>
            </a:pPr>
            <a:r>
              <a:rPr sz="1400">
                <a:solidFill>
                  <a:srgbClr val="1E293B"/>
                </a:solidFill>
                <a:latin typeface="Calibri" panose="020F0502020204030204"/>
              </a:rPr>
              <a:t>  •  Data silos: patient info exists separately in lab, pharmacy, billing — no unified view</a:t>
            </a:r>
            <a:endParaRPr sz="1400">
              <a:solidFill>
                <a:srgbClr val="1E293B"/>
              </a:solidFill>
              <a:latin typeface="Calibri" panose="020F0502020204030204"/>
            </a:endParaRPr>
          </a:p>
          <a:p>
            <a:pPr algn="l">
              <a:spcBef>
                <a:spcPts val="500"/>
              </a:spcBef>
              <a:spcAft>
                <a:spcPts val="200"/>
              </a:spcAft>
            </a:pPr>
            <a:r>
              <a:rPr sz="1400">
                <a:solidFill>
                  <a:srgbClr val="1E293B"/>
                </a:solidFill>
                <a:latin typeface="Calibri" panose="020F0502020204030204"/>
              </a:rPr>
              <a:t>  •  No real-time coordination: pharmacist doesn't know a prescription was written until physically handed a paper</a:t>
            </a:r>
            <a:endParaRPr sz="1400">
              <a:solidFill>
                <a:srgbClr val="1E293B"/>
              </a:solidFill>
              <a:latin typeface="Calibri" panose="020F0502020204030204"/>
            </a:endParaRPr>
          </a:p>
          <a:p>
            <a:pPr algn="l">
              <a:spcBef>
                <a:spcPts val="500"/>
              </a:spcBef>
              <a:spcAft>
                <a:spcPts val="200"/>
              </a:spcAft>
            </a:pPr>
            <a:r>
              <a:rPr sz="1400">
                <a:solidFill>
                  <a:srgbClr val="1E293B"/>
                </a:solidFill>
                <a:latin typeface="Calibri" panose="020F0502020204030204"/>
              </a:rPr>
              <a:t>  •  Manual billing: staff manually calculate charges, leading to errors and revenue leakage</a:t>
            </a:r>
            <a:endParaRPr sz="1400">
              <a:solidFill>
                <a:srgbClr val="1E293B"/>
              </a:solidFill>
              <a:latin typeface="Calibri" panose="020F0502020204030204"/>
            </a:endParaRPr>
          </a:p>
          <a:p>
            <a:pPr algn="l">
              <a:spcBef>
                <a:spcPts val="500"/>
              </a:spcBef>
              <a:spcAft>
                <a:spcPts val="200"/>
              </a:spcAft>
            </a:pPr>
            <a:r>
              <a:rPr sz="1400">
                <a:solidFill>
                  <a:srgbClr val="1E293B"/>
                </a:solidFill>
                <a:latin typeface="Calibri" panose="020F0502020204030204"/>
              </a:rPr>
              <a:t>  •  Zero audit trail: impossible to know who accessed or changed a patient record</a:t>
            </a:r>
            <a:endParaRPr sz="1400">
              <a:solidFill>
                <a:srgbClr val="1E293B"/>
              </a:solidFill>
              <a:latin typeface="Calibri" panose="020F0502020204030204"/>
            </a:endParaRPr>
          </a:p>
          <a:p>
            <a:pPr algn="l">
              <a:spcBef>
                <a:spcPts val="500"/>
              </a:spcBef>
              <a:spcAft>
                <a:spcPts val="200"/>
              </a:spcAft>
            </a:pPr>
            <a:r>
              <a:rPr sz="1400">
                <a:solidFill>
                  <a:srgbClr val="1E293B"/>
                </a:solidFill>
                <a:latin typeface="Calibri" panose="020F0502020204030204"/>
              </a:rPr>
              <a:t>  •  Security gaps: shared passwords, no session management, no encryption of sensitive data</a:t>
            </a:r>
            <a:endParaRPr sz="1400">
              <a:solidFill>
                <a:srgbClr val="1E293B"/>
              </a:solidFill>
              <a:latin typeface="Calibri" panose="020F0502020204030204"/>
            </a:endParaRPr>
          </a:p>
          <a:p>
            <a:pPr algn="l">
              <a:spcBef>
                <a:spcPts val="500"/>
              </a:spcBef>
              <a:spcAft>
                <a:spcPts val="200"/>
              </a:spcAft>
            </a:pPr>
            <a:r>
              <a:rPr sz="1400">
                <a:solidFill>
                  <a:srgbClr val="1E293B"/>
                </a:solidFill>
                <a:latin typeface="Calibri" panose="020F0502020204030204"/>
              </a:rPr>
              <a:t>  •  Scheduling chaos: shift swaps and leave requests handled via WhatsApp or paper forms</a:t>
            </a:r>
            <a:endParaRPr sz="1400">
              <a:solidFill>
                <a:srgbClr val="1E293B"/>
              </a:solidFill>
              <a:latin typeface="Calibri" panose="020F0502020204030204"/>
            </a:endParaRPr>
          </a:p>
        </p:txBody>
      </p:sp>
      <p:sp>
        <p:nvSpPr>
          <p:cNvPr id="9" name="TextBox 8"/>
          <p:cNvSpPr txBox="1"/>
          <p:nvPr/>
        </p:nvSpPr>
        <p:spPr>
          <a:xfrm>
            <a:off x="6309360" y="804672"/>
            <a:ext cx="5577840" cy="365760"/>
          </a:xfrm>
          <a:prstGeom prst="rect">
            <a:avLst/>
          </a:prstGeom>
          <a:noFill/>
        </p:spPr>
        <p:txBody>
          <a:bodyPr wrap="square">
            <a:spAutoFit/>
          </a:bodyPr>
          <a:lstStyle/>
          <a:p>
            <a:pPr algn="l"/>
            <a:r>
              <a:rPr sz="1300" b="1" i="0">
                <a:solidFill>
                  <a:srgbClr val="22C55E"/>
                </a:solidFill>
                <a:latin typeface="Calibri" panose="020F0502020204030204"/>
              </a:rPr>
              <a:t>✅  How Our System Solves It</a:t>
            </a:r>
            <a:endParaRPr sz="1300" b="1" i="0">
              <a:solidFill>
                <a:srgbClr val="22C55E"/>
              </a:solidFill>
              <a:latin typeface="Calibri" panose="020F0502020204030204"/>
            </a:endParaRPr>
          </a:p>
        </p:txBody>
      </p:sp>
      <p:sp>
        <p:nvSpPr>
          <p:cNvPr id="10" name="TextBox 9"/>
          <p:cNvSpPr txBox="1"/>
          <p:nvPr/>
        </p:nvSpPr>
        <p:spPr>
          <a:xfrm>
            <a:off x="6309360" y="1188720"/>
            <a:ext cx="5577840" cy="3430905"/>
          </a:xfrm>
          <a:prstGeom prst="rect">
            <a:avLst/>
          </a:prstGeom>
          <a:noFill/>
        </p:spPr>
        <p:txBody>
          <a:bodyPr wrap="square">
            <a:spAutoFit/>
          </a:bodyPr>
          <a:lstStyle/>
          <a:p>
            <a:pPr algn="l">
              <a:spcBef>
                <a:spcPts val="500"/>
              </a:spcBef>
              <a:spcAft>
                <a:spcPts val="200"/>
              </a:spcAft>
            </a:pPr>
            <a:r>
              <a:rPr sz="1400">
                <a:solidFill>
                  <a:srgbClr val="1E293B"/>
                </a:solidFill>
                <a:latin typeface="Calibri" panose="020F0502020204030204"/>
              </a:rPr>
              <a:t>  •  Digital records: all data stored in PostgreSQL with field-level encryption for PII</a:t>
            </a:r>
            <a:endParaRPr sz="1400">
              <a:solidFill>
                <a:srgbClr val="1E293B"/>
              </a:solidFill>
              <a:latin typeface="Calibri" panose="020F0502020204030204"/>
            </a:endParaRPr>
          </a:p>
          <a:p>
            <a:pPr algn="l">
              <a:spcBef>
                <a:spcPts val="500"/>
              </a:spcBef>
              <a:spcAft>
                <a:spcPts val="200"/>
              </a:spcAft>
            </a:pPr>
            <a:r>
              <a:rPr sz="1400">
                <a:solidFill>
                  <a:srgbClr val="1E293B"/>
                </a:solidFill>
                <a:latin typeface="Calibri" panose="020F0502020204030204"/>
              </a:rPr>
              <a:t>  •  Unified platform: one system for all 19 roles with role-filtered views</a:t>
            </a:r>
            <a:endParaRPr sz="1400">
              <a:solidFill>
                <a:srgbClr val="1E293B"/>
              </a:solidFill>
              <a:latin typeface="Calibri" panose="020F0502020204030204"/>
            </a:endParaRPr>
          </a:p>
          <a:p>
            <a:pPr algn="l">
              <a:spcBef>
                <a:spcPts val="500"/>
              </a:spcBef>
              <a:spcAft>
                <a:spcPts val="200"/>
              </a:spcAft>
            </a:pPr>
            <a:r>
              <a:rPr sz="1400">
                <a:solidFill>
                  <a:srgbClr val="1E293B"/>
                </a:solidFill>
                <a:latin typeface="Calibri" panose="020F0502020204030204"/>
              </a:rPr>
              <a:t>  •  Socket.io real-time: pharmacist sees new prescription the instant doctor saves it</a:t>
            </a:r>
            <a:endParaRPr sz="1400">
              <a:solidFill>
                <a:srgbClr val="1E293B"/>
              </a:solidFill>
              <a:latin typeface="Calibri" panose="020F0502020204030204"/>
            </a:endParaRPr>
          </a:p>
          <a:p>
            <a:pPr algn="l">
              <a:spcBef>
                <a:spcPts val="500"/>
              </a:spcBef>
              <a:spcAft>
                <a:spcPts val="200"/>
              </a:spcAft>
            </a:pPr>
            <a:r>
              <a:rPr sz="1400">
                <a:solidFill>
                  <a:srgbClr val="1E293B"/>
                </a:solidFill>
                <a:latin typeface="Calibri" panose="020F0502020204030204"/>
              </a:rPr>
              <a:t>  •  Automated billing: bill items auto-generated from prescriptions, labs, and procedures</a:t>
            </a:r>
            <a:endParaRPr sz="1400">
              <a:solidFill>
                <a:srgbClr val="1E293B"/>
              </a:solidFill>
              <a:latin typeface="Calibri" panose="020F0502020204030204"/>
            </a:endParaRPr>
          </a:p>
          <a:p>
            <a:pPr algn="l">
              <a:spcBef>
                <a:spcPts val="500"/>
              </a:spcBef>
              <a:spcAft>
                <a:spcPts val="200"/>
              </a:spcAft>
            </a:pPr>
            <a:r>
              <a:rPr sz="1400">
                <a:solidFill>
                  <a:srgbClr val="1E293B"/>
                </a:solidFill>
                <a:latin typeface="Calibri" panose="020F0502020204030204"/>
              </a:rPr>
              <a:t>  •  Hash-chain audit logs: every change recorded with user, IP, timestamp, and prev/next data</a:t>
            </a:r>
            <a:endParaRPr sz="1400">
              <a:solidFill>
                <a:srgbClr val="1E293B"/>
              </a:solidFill>
              <a:latin typeface="Calibri" panose="020F0502020204030204"/>
            </a:endParaRPr>
          </a:p>
          <a:p>
            <a:pPr algn="l">
              <a:spcBef>
                <a:spcPts val="500"/>
              </a:spcBef>
              <a:spcAft>
                <a:spcPts val="200"/>
              </a:spcAft>
            </a:pPr>
            <a:r>
              <a:rPr sz="1400">
                <a:solidFill>
                  <a:srgbClr val="1E293B"/>
                </a:solidFill>
                <a:latin typeface="Calibri" panose="020F0502020204030204"/>
              </a:rPr>
              <a:t>  •  Argon2id + RS256 JWT + pgcrypto: multi-layer security on every request</a:t>
            </a:r>
            <a:endParaRPr sz="1400">
              <a:solidFill>
                <a:srgbClr val="1E293B"/>
              </a:solidFill>
              <a:latin typeface="Calibri" panose="020F0502020204030204"/>
            </a:endParaRPr>
          </a:p>
          <a:p>
            <a:pPr algn="l">
              <a:spcBef>
                <a:spcPts val="500"/>
              </a:spcBef>
              <a:spcAft>
                <a:spcPts val="200"/>
              </a:spcAft>
            </a:pPr>
            <a:r>
              <a:rPr sz="1400">
                <a:solidFill>
                  <a:srgbClr val="1E293B"/>
                </a:solidFill>
                <a:latin typeface="Calibri" panose="020F0502020204030204"/>
              </a:rPr>
              <a:t>  •  Digital HR: shift scheduling, leave applications, and approvals all in-system</a:t>
            </a:r>
            <a:endParaRPr sz="1400">
              <a:solidFill>
                <a:srgbClr val="1E293B"/>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583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502920"/>
          </a:xfrm>
          <a:prstGeom prst="rect">
            <a:avLst/>
          </a:prstGeom>
          <a:noFill/>
        </p:spPr>
        <p:txBody>
          <a:bodyPr wrap="square">
            <a:spAutoFit/>
          </a:bodyPr>
          <a:lstStyle/>
          <a:p>
            <a:pPr algn="l"/>
            <a:r>
              <a:rPr sz="2000" b="1" i="0">
                <a:solidFill>
                  <a:srgbClr val="FFFFFF"/>
                </a:solidFill>
                <a:latin typeface="Calibri" panose="020F0502020204030204"/>
              </a:rPr>
              <a:t>Project Objectives</a:t>
            </a:r>
            <a:endParaRPr sz="2000" b="1" i="0">
              <a:solidFill>
                <a:srgbClr val="FFFFFF"/>
              </a:solidFill>
              <a:latin typeface="Calibri" panose="020F0502020204030204"/>
            </a:endParaRPr>
          </a:p>
        </p:txBody>
      </p:sp>
      <p:sp>
        <p:nvSpPr>
          <p:cNvPr id="4" name="Rectangle 3"/>
          <p:cNvSpPr/>
          <p:nvPr/>
        </p:nvSpPr>
        <p:spPr>
          <a:xfrm>
            <a:off x="0" y="658368"/>
            <a:ext cx="109728" cy="61996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749808"/>
            <a:ext cx="11795760" cy="59893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822960"/>
            <a:ext cx="11430000" cy="3830955"/>
          </a:xfrm>
          <a:prstGeom prst="rect">
            <a:avLst/>
          </a:prstGeom>
          <a:noFill/>
        </p:spPr>
        <p:txBody>
          <a:bodyPr wrap="square">
            <a:spAutoFit/>
          </a:bodyPr>
          <a:lstStyle/>
          <a:p>
            <a:pPr algn="l">
              <a:spcBef>
                <a:spcPts val="400"/>
              </a:spcBef>
              <a:spcAft>
                <a:spcPts val="200"/>
              </a:spcAft>
            </a:pPr>
            <a:r>
              <a:rPr>
                <a:solidFill>
                  <a:srgbClr val="1E293B"/>
                </a:solidFill>
                <a:latin typeface="Calibri" panose="020F0502020204030204"/>
              </a:rPr>
              <a:t>  🎯  Digitize all hospital workflows — clinical, administrative, and operational — eliminating paper-based processes</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Enforce strict role-based access control (RBAC) so each of the 19 roles sees only authorized data</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Enable real-time collaboration: live messaging, instant notifications, and telemedicine video calls</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Secure patient data with Argon2id hashing, RS256 JWT, pgcrypto field encryption, CSRF protection, and virus scanning</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Maintain a tamper-evident audit trail: every action logged with hash-chain verification (like blockchain)</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Automate routine tasks: PDF generation, email alerts, inventory reorder notifications via BullMQ job queues</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Provide analytics dashboards: bed occupancy, revenue trends, failed login attempts, department statistics</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Build as a PWA: cross-device support, offline capability, installable on mobile without an app store</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Integrate payment gateway (Razorpay) for real online bill payments by patients</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Auto-generate professional PDF documents: prescriptions, discharge summaries, lab reports via Puppeteer</a:t>
            </a:r>
            <a:endParaRPr>
              <a:solidFill>
                <a:srgbClr val="1E293B"/>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583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502920"/>
          </a:xfrm>
          <a:prstGeom prst="rect">
            <a:avLst/>
          </a:prstGeom>
          <a:noFill/>
        </p:spPr>
        <p:txBody>
          <a:bodyPr wrap="square">
            <a:spAutoFit/>
          </a:bodyPr>
          <a:lstStyle/>
          <a:p>
            <a:pPr algn="l"/>
            <a:r>
              <a:rPr sz="2000" b="1" i="0">
                <a:solidFill>
                  <a:srgbClr val="FFFFFF"/>
                </a:solidFill>
                <a:latin typeface="Calibri" panose="020F0502020204030204"/>
              </a:rPr>
              <a:t>System Overview — Three-Tier Architecture</a:t>
            </a:r>
            <a:endParaRPr sz="2000" b="1" i="0">
              <a:solidFill>
                <a:srgbClr val="FFFFFF"/>
              </a:solidFill>
              <a:latin typeface="Calibri" panose="020F0502020204030204"/>
            </a:endParaRPr>
          </a:p>
        </p:txBody>
      </p:sp>
      <p:sp>
        <p:nvSpPr>
          <p:cNvPr id="4" name="Rectangle 3"/>
          <p:cNvSpPr/>
          <p:nvPr/>
        </p:nvSpPr>
        <p:spPr>
          <a:xfrm>
            <a:off x="0" y="658368"/>
            <a:ext cx="109728" cy="61996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 y="777240"/>
            <a:ext cx="11704320" cy="1051560"/>
          </a:xfrm>
          <a:prstGeom prst="rect">
            <a:avLst/>
          </a:prstGeom>
          <a:solidFill>
            <a:srgbClr val="004E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804672"/>
            <a:ext cx="11612880" cy="320040"/>
          </a:xfrm>
          <a:prstGeom prst="rect">
            <a:avLst/>
          </a:prstGeom>
          <a:noFill/>
        </p:spPr>
        <p:txBody>
          <a:bodyPr wrap="square">
            <a:spAutoFit/>
          </a:bodyPr>
          <a:lstStyle/>
          <a:p>
            <a:pPr algn="ctr"/>
            <a:r>
              <a:rPr sz="1200" b="1" i="0">
                <a:solidFill>
                  <a:srgbClr val="00B4D8"/>
                </a:solidFill>
                <a:latin typeface="Calibri" panose="020F0502020204030204"/>
              </a:rPr>
              <a:t>FRONTEND LAYER — React 18 PWA</a:t>
            </a:r>
            <a:endParaRPr sz="1200" b="1" i="0">
              <a:solidFill>
                <a:srgbClr val="00B4D8"/>
              </a:solidFill>
              <a:latin typeface="Calibri" panose="020F0502020204030204"/>
            </a:endParaRPr>
          </a:p>
        </p:txBody>
      </p:sp>
      <p:sp>
        <p:nvSpPr>
          <p:cNvPr id="7" name="TextBox 6"/>
          <p:cNvSpPr txBox="1"/>
          <p:nvPr/>
        </p:nvSpPr>
        <p:spPr>
          <a:xfrm>
            <a:off x="274320" y="1115568"/>
            <a:ext cx="11612880" cy="640080"/>
          </a:xfrm>
          <a:prstGeom prst="rect">
            <a:avLst/>
          </a:prstGeom>
          <a:noFill/>
        </p:spPr>
        <p:txBody>
          <a:bodyPr wrap="square">
            <a:spAutoFit/>
          </a:bodyPr>
          <a:lstStyle/>
          <a:p>
            <a:pPr algn="ctr"/>
            <a:r>
              <a:rPr sz="1000" b="0" i="0">
                <a:solidFill>
                  <a:srgbClr val="FFFFFF"/>
                </a:solidFill>
                <a:latin typeface="Calibri" panose="020F0502020204030204"/>
              </a:rPr>
              <a:t>19 Role-Based Dashboards  |  Zustand State  |  TanStack Query  |  React Router v6  |  Socket.io Client  |  SCSS Modules  |  Recharts  |  QR Scanner  |  react-window  |  Framer Motion</a:t>
            </a:r>
            <a:endParaRPr sz="1000" b="0" i="0">
              <a:solidFill>
                <a:srgbClr val="FFFFFF"/>
              </a:solidFill>
              <a:latin typeface="Calibri" panose="020F0502020204030204"/>
            </a:endParaRPr>
          </a:p>
        </p:txBody>
      </p:sp>
      <p:sp>
        <p:nvSpPr>
          <p:cNvPr id="8" name="Rectangle 7"/>
          <p:cNvSpPr/>
          <p:nvPr/>
        </p:nvSpPr>
        <p:spPr>
          <a:xfrm>
            <a:off x="6035040" y="1874519"/>
            <a:ext cx="109728" cy="3200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2213102"/>
            <a:ext cx="1188720" cy="228600"/>
          </a:xfrm>
          <a:prstGeom prst="rect">
            <a:avLst/>
          </a:prstGeom>
          <a:noFill/>
        </p:spPr>
        <p:txBody>
          <a:bodyPr wrap="square">
            <a:spAutoFit/>
          </a:bodyPr>
          <a:lstStyle/>
          <a:p>
            <a:pPr algn="ctr"/>
            <a:r>
              <a:rPr sz="900" b="0" i="0">
                <a:solidFill>
                  <a:srgbClr val="94A3B8"/>
                </a:solidFill>
                <a:latin typeface="Calibri" panose="020F0502020204030204"/>
              </a:rPr>
              <a:t>HTTPS + WSS</a:t>
            </a:r>
            <a:endParaRPr sz="900" b="0" i="0">
              <a:solidFill>
                <a:srgbClr val="94A3B8"/>
              </a:solidFill>
              <a:latin typeface="Calibri" panose="020F0502020204030204"/>
            </a:endParaRPr>
          </a:p>
        </p:txBody>
      </p:sp>
      <p:sp>
        <p:nvSpPr>
          <p:cNvPr id="10" name="Rectangle 9"/>
          <p:cNvSpPr/>
          <p:nvPr/>
        </p:nvSpPr>
        <p:spPr>
          <a:xfrm>
            <a:off x="228600" y="2508885"/>
            <a:ext cx="11704320" cy="1051560"/>
          </a:xfrm>
          <a:prstGeom prst="rect">
            <a:avLst/>
          </a:prstGeom>
          <a:solidFill>
            <a:srgbClr val="004E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2616327"/>
            <a:ext cx="11612880" cy="320040"/>
          </a:xfrm>
          <a:prstGeom prst="rect">
            <a:avLst/>
          </a:prstGeom>
          <a:noFill/>
        </p:spPr>
        <p:txBody>
          <a:bodyPr wrap="square">
            <a:spAutoFit/>
          </a:bodyPr>
          <a:lstStyle/>
          <a:p>
            <a:pPr algn="ctr"/>
            <a:r>
              <a:rPr sz="1200" b="1" i="0">
                <a:solidFill>
                  <a:srgbClr val="00B4D8"/>
                </a:solidFill>
                <a:latin typeface="Calibri" panose="020F0502020204030204"/>
              </a:rPr>
              <a:t>BACKEND LAYER — Node.js + Express 5</a:t>
            </a:r>
            <a:endParaRPr sz="1200" b="1" i="0">
              <a:solidFill>
                <a:srgbClr val="00B4D8"/>
              </a:solidFill>
              <a:latin typeface="Calibri" panose="020F0502020204030204"/>
            </a:endParaRPr>
          </a:p>
        </p:txBody>
      </p:sp>
      <p:sp>
        <p:nvSpPr>
          <p:cNvPr id="12" name="TextBox 11"/>
          <p:cNvSpPr txBox="1"/>
          <p:nvPr/>
        </p:nvSpPr>
        <p:spPr>
          <a:xfrm>
            <a:off x="274320" y="2927223"/>
            <a:ext cx="11612880" cy="640080"/>
          </a:xfrm>
          <a:prstGeom prst="rect">
            <a:avLst/>
          </a:prstGeom>
          <a:noFill/>
        </p:spPr>
        <p:txBody>
          <a:bodyPr wrap="square">
            <a:spAutoFit/>
          </a:bodyPr>
          <a:lstStyle/>
          <a:p>
            <a:pPr algn="ctr"/>
            <a:r>
              <a:rPr sz="1000" b="0" i="0">
                <a:solidFill>
                  <a:srgbClr val="FFFFFF"/>
                </a:solidFill>
                <a:latin typeface="Calibri" panose="020F0502020204030204"/>
              </a:rPr>
              <a:t>30+ API Modules  |  JWT RS256 Auth  |  Socket.io Server  |  BullMQ Job Queues  |  Multer + ClamScan  |  Puppeteer PDF  |  Nodemailer  |  Zod Validation  |  Winston Logging  |  Helmet + CSRF</a:t>
            </a:r>
            <a:endParaRPr sz="1000" b="0" i="0">
              <a:solidFill>
                <a:srgbClr val="FFFFFF"/>
              </a:solidFill>
              <a:latin typeface="Calibri" panose="020F0502020204030204"/>
            </a:endParaRPr>
          </a:p>
        </p:txBody>
      </p:sp>
      <p:sp>
        <p:nvSpPr>
          <p:cNvPr id="13" name="Rectangle 12"/>
          <p:cNvSpPr/>
          <p:nvPr/>
        </p:nvSpPr>
        <p:spPr>
          <a:xfrm>
            <a:off x="3200400" y="3693160"/>
            <a:ext cx="128270" cy="644525"/>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8605" y="4389120"/>
            <a:ext cx="5394960" cy="1188720"/>
          </a:xfrm>
          <a:prstGeom prst="rect">
            <a:avLst/>
          </a:prstGeom>
          <a:solidFill>
            <a:srgbClr val="004E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4325" y="4416552"/>
            <a:ext cx="5303520" cy="320040"/>
          </a:xfrm>
          <a:prstGeom prst="rect">
            <a:avLst/>
          </a:prstGeom>
          <a:noFill/>
        </p:spPr>
        <p:txBody>
          <a:bodyPr wrap="square">
            <a:spAutoFit/>
          </a:bodyPr>
          <a:lstStyle/>
          <a:p>
            <a:pPr algn="ctr"/>
            <a:r>
              <a:rPr sz="1200" b="1" i="0">
                <a:solidFill>
                  <a:srgbClr val="00B4D8"/>
                </a:solidFill>
                <a:latin typeface="Calibri" panose="020F0502020204030204"/>
              </a:rPr>
              <a:t>DATABASE — PostgreSQL</a:t>
            </a:r>
            <a:endParaRPr sz="1200" b="1" i="0">
              <a:solidFill>
                <a:srgbClr val="00B4D8"/>
              </a:solidFill>
              <a:latin typeface="Calibri" panose="020F0502020204030204"/>
            </a:endParaRPr>
          </a:p>
        </p:txBody>
      </p:sp>
      <p:sp>
        <p:nvSpPr>
          <p:cNvPr id="17" name="TextBox 16"/>
          <p:cNvSpPr txBox="1"/>
          <p:nvPr/>
        </p:nvSpPr>
        <p:spPr>
          <a:xfrm>
            <a:off x="314325" y="4727448"/>
            <a:ext cx="5303520" cy="777240"/>
          </a:xfrm>
          <a:prstGeom prst="rect">
            <a:avLst/>
          </a:prstGeom>
          <a:noFill/>
        </p:spPr>
        <p:txBody>
          <a:bodyPr wrap="square">
            <a:spAutoFit/>
          </a:bodyPr>
          <a:lstStyle/>
          <a:p>
            <a:pPr algn="ctr"/>
            <a:r>
              <a:rPr sz="1000" b="0" i="0">
                <a:solidFill>
                  <a:srgbClr val="FFFFFF"/>
                </a:solidFill>
                <a:latin typeface="Calibri" panose="020F0502020204030204"/>
              </a:rPr>
              <a:t>40+ Tables  |  pgcrypto PII Encryption
Transactions  |  Indexes  |  Migrations</a:t>
            </a:r>
            <a:endParaRPr sz="1000" b="0" i="0">
              <a:solidFill>
                <a:srgbClr val="FFFFFF"/>
              </a:solidFill>
              <a:latin typeface="Calibri" panose="020F0502020204030204"/>
            </a:endParaRPr>
          </a:p>
        </p:txBody>
      </p:sp>
      <p:sp>
        <p:nvSpPr>
          <p:cNvPr id="18" name="Rectangle 17"/>
          <p:cNvSpPr/>
          <p:nvPr/>
        </p:nvSpPr>
        <p:spPr>
          <a:xfrm>
            <a:off x="6537960" y="4343400"/>
            <a:ext cx="5394960" cy="1188720"/>
          </a:xfrm>
          <a:prstGeom prst="rect">
            <a:avLst/>
          </a:prstGeom>
          <a:solidFill>
            <a:srgbClr val="004E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4370832"/>
            <a:ext cx="5303520" cy="320040"/>
          </a:xfrm>
          <a:prstGeom prst="rect">
            <a:avLst/>
          </a:prstGeom>
          <a:noFill/>
        </p:spPr>
        <p:txBody>
          <a:bodyPr wrap="square">
            <a:spAutoFit/>
          </a:bodyPr>
          <a:lstStyle/>
          <a:p>
            <a:pPr algn="ctr"/>
            <a:r>
              <a:rPr sz="1200" b="1" i="0">
                <a:solidFill>
                  <a:srgbClr val="00B4D8"/>
                </a:solidFill>
                <a:latin typeface="Calibri" panose="020F0502020204030204"/>
              </a:rPr>
              <a:t>CACHE &amp; QUEUE — Redis + BullMQ</a:t>
            </a:r>
            <a:endParaRPr sz="1200" b="1" i="0">
              <a:solidFill>
                <a:srgbClr val="00B4D8"/>
              </a:solidFill>
              <a:latin typeface="Calibri" panose="020F0502020204030204"/>
            </a:endParaRPr>
          </a:p>
        </p:txBody>
      </p:sp>
      <p:sp>
        <p:nvSpPr>
          <p:cNvPr id="20" name="TextBox 19"/>
          <p:cNvSpPr txBox="1"/>
          <p:nvPr/>
        </p:nvSpPr>
        <p:spPr>
          <a:xfrm>
            <a:off x="6583680" y="4681728"/>
            <a:ext cx="5303520" cy="777240"/>
          </a:xfrm>
          <a:prstGeom prst="rect">
            <a:avLst/>
          </a:prstGeom>
          <a:noFill/>
        </p:spPr>
        <p:txBody>
          <a:bodyPr wrap="square">
            <a:spAutoFit/>
          </a:bodyPr>
          <a:lstStyle/>
          <a:p>
            <a:pPr algn="ctr"/>
            <a:r>
              <a:rPr sz="1000" b="0" i="0">
                <a:solidFill>
                  <a:srgbClr val="FFFFFF"/>
                </a:solidFill>
                <a:latin typeface="Calibri" panose="020F0502020204030204"/>
              </a:rPr>
              <a:t>Sessions  |  Refresh Tokens  |  Rate Limiting
Job Queues  |  Blocked IPs Cache</a:t>
            </a:r>
            <a:endParaRPr sz="1000" b="0" i="0">
              <a:solidFill>
                <a:srgbClr val="FFFFFF"/>
              </a:solidFill>
              <a:latin typeface="Calibri" panose="020F0502020204030204"/>
            </a:endParaRPr>
          </a:p>
        </p:txBody>
      </p:sp>
      <p:sp>
        <p:nvSpPr>
          <p:cNvPr id="21" name="Rectangle 20"/>
          <p:cNvSpPr/>
          <p:nvPr/>
        </p:nvSpPr>
        <p:spPr>
          <a:xfrm>
            <a:off x="274320" y="6190615"/>
            <a:ext cx="11704320" cy="50292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 y="6276848"/>
            <a:ext cx="11612880" cy="457200"/>
          </a:xfrm>
          <a:prstGeom prst="rect">
            <a:avLst/>
          </a:prstGeom>
          <a:noFill/>
        </p:spPr>
        <p:txBody>
          <a:bodyPr wrap="square">
            <a:spAutoFit/>
          </a:bodyPr>
          <a:lstStyle/>
          <a:p>
            <a:pPr algn="ctr"/>
            <a:r>
              <a:rPr sz="1100" b="0" i="0">
                <a:solidFill>
                  <a:srgbClr val="00B4D8"/>
                </a:solidFill>
                <a:latin typeface="Calibri" panose="020F0502020204030204"/>
              </a:rPr>
              <a:t>All layers communicate over HTTPS/WSS  |  Redis decouples sessions from DB  |  BullMQ handles async tasks non-blocking</a:t>
            </a:r>
            <a:endParaRPr sz="1100" b="0" i="0">
              <a:solidFill>
                <a:srgbClr val="00B4D8"/>
              </a:solidFill>
              <a:latin typeface="Calibri" panose="020F0502020204030204"/>
            </a:endParaRPr>
          </a:p>
        </p:txBody>
      </p:sp>
      <p:sp>
        <p:nvSpPr>
          <p:cNvPr id="24" name="Rectangle 23"/>
          <p:cNvSpPr/>
          <p:nvPr/>
        </p:nvSpPr>
        <p:spPr>
          <a:xfrm>
            <a:off x="8867775" y="3650615"/>
            <a:ext cx="128270" cy="644525"/>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583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502920"/>
          </a:xfrm>
          <a:prstGeom prst="rect">
            <a:avLst/>
          </a:prstGeom>
          <a:noFill/>
        </p:spPr>
        <p:txBody>
          <a:bodyPr wrap="square">
            <a:spAutoFit/>
          </a:bodyPr>
          <a:lstStyle/>
          <a:p>
            <a:pPr algn="l"/>
            <a:r>
              <a:rPr sz="2000" b="1" i="0">
                <a:solidFill>
                  <a:srgbClr val="FFFFFF"/>
                </a:solidFill>
                <a:latin typeface="Calibri" panose="020F0502020204030204"/>
              </a:rPr>
              <a:t>Request Lifecycle — 9-Layer Middleware Pipeline (Flowchart)</a:t>
            </a:r>
            <a:endParaRPr sz="2000" b="1" i="0">
              <a:solidFill>
                <a:srgbClr val="FFFFFF"/>
              </a:solidFill>
              <a:latin typeface="Calibri" panose="020F0502020204030204"/>
            </a:endParaRPr>
          </a:p>
        </p:txBody>
      </p:sp>
      <p:sp>
        <p:nvSpPr>
          <p:cNvPr id="4" name="Rectangle 3"/>
          <p:cNvSpPr/>
          <p:nvPr/>
        </p:nvSpPr>
        <p:spPr>
          <a:xfrm>
            <a:off x="0" y="658368"/>
            <a:ext cx="109728" cy="61996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8378" y="1730502"/>
            <a:ext cx="3291840" cy="475488"/>
          </a:xfrm>
          <a:prstGeom prst="roundRect">
            <a:avLst/>
          </a:prstGeom>
          <a:solidFill>
            <a:srgbClr val="00B4D8"/>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 name="TextBox 5"/>
          <p:cNvSpPr txBox="1"/>
          <p:nvPr/>
        </p:nvSpPr>
        <p:spPr>
          <a:xfrm>
            <a:off x="784098" y="1748790"/>
            <a:ext cx="3200400" cy="460375"/>
          </a:xfrm>
          <a:prstGeom prst="rect">
            <a:avLst/>
          </a:prstGeom>
          <a:noFill/>
        </p:spPr>
        <p:txBody>
          <a:bodyPr wrap="square">
            <a:spAutoFit/>
          </a:bodyPr>
          <a:lstStyle/>
          <a:p>
            <a:pPr algn="ctr"/>
            <a:r>
              <a:rPr sz="1200" b="1">
                <a:solidFill>
                  <a:srgbClr val="FFFFFF"/>
                </a:solidFill>
                <a:latin typeface="Calibri" panose="020F0502020204030204"/>
              </a:rPr>
              <a:t>1. Request ID
Assign UUID to every request</a:t>
            </a:r>
            <a:endParaRPr sz="1200" b="1">
              <a:solidFill>
                <a:srgbClr val="FFFFFF"/>
              </a:solidFill>
              <a:latin typeface="Calibri" panose="020F0502020204030204"/>
            </a:endParaRPr>
          </a:p>
        </p:txBody>
      </p:sp>
      <p:sp>
        <p:nvSpPr>
          <p:cNvPr id="7" name="Rectangle 6"/>
          <p:cNvSpPr/>
          <p:nvPr/>
        </p:nvSpPr>
        <p:spPr>
          <a:xfrm>
            <a:off x="4048506" y="1957273"/>
            <a:ext cx="128015" cy="2286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Rounded Rectangle 7"/>
          <p:cNvSpPr/>
          <p:nvPr/>
        </p:nvSpPr>
        <p:spPr>
          <a:xfrm>
            <a:off x="4194810" y="1730502"/>
            <a:ext cx="3291840" cy="475488"/>
          </a:xfrm>
          <a:prstGeom prst="roundRect">
            <a:avLst/>
          </a:prstGeom>
          <a:solidFill>
            <a:srgbClr val="00B4D8"/>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 name="TextBox 8"/>
          <p:cNvSpPr txBox="1"/>
          <p:nvPr/>
        </p:nvSpPr>
        <p:spPr>
          <a:xfrm>
            <a:off x="4240530" y="1748790"/>
            <a:ext cx="3200400" cy="460375"/>
          </a:xfrm>
          <a:prstGeom prst="rect">
            <a:avLst/>
          </a:prstGeom>
          <a:noFill/>
        </p:spPr>
        <p:txBody>
          <a:bodyPr wrap="square">
            <a:spAutoFit/>
          </a:bodyPr>
          <a:lstStyle/>
          <a:p>
            <a:pPr algn="ctr"/>
            <a:r>
              <a:rPr sz="1200" b="1">
                <a:solidFill>
                  <a:srgbClr val="FFFFFF"/>
                </a:solidFill>
                <a:latin typeface="Calibri" panose="020F0502020204030204"/>
              </a:rPr>
              <a:t>2. Helmet Headers
CSP, X-Frame, X-Content-Type</a:t>
            </a:r>
            <a:endParaRPr sz="1200" b="1">
              <a:solidFill>
                <a:srgbClr val="FFFFFF"/>
              </a:solidFill>
              <a:latin typeface="Calibri" panose="020F0502020204030204"/>
            </a:endParaRPr>
          </a:p>
        </p:txBody>
      </p:sp>
      <p:sp>
        <p:nvSpPr>
          <p:cNvPr id="10" name="Rectangle 9"/>
          <p:cNvSpPr/>
          <p:nvPr/>
        </p:nvSpPr>
        <p:spPr>
          <a:xfrm>
            <a:off x="7504937" y="1957273"/>
            <a:ext cx="128015" cy="2286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Rounded Rectangle 10"/>
          <p:cNvSpPr/>
          <p:nvPr/>
        </p:nvSpPr>
        <p:spPr>
          <a:xfrm>
            <a:off x="7651242" y="1730502"/>
            <a:ext cx="3291840" cy="475488"/>
          </a:xfrm>
          <a:prstGeom prst="roundRect">
            <a:avLst/>
          </a:prstGeom>
          <a:solidFill>
            <a:srgbClr val="00B4D8"/>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TextBox 11"/>
          <p:cNvSpPr txBox="1"/>
          <p:nvPr/>
        </p:nvSpPr>
        <p:spPr>
          <a:xfrm>
            <a:off x="7696962" y="1748790"/>
            <a:ext cx="3200400" cy="460375"/>
          </a:xfrm>
          <a:prstGeom prst="rect">
            <a:avLst/>
          </a:prstGeom>
          <a:noFill/>
        </p:spPr>
        <p:txBody>
          <a:bodyPr wrap="square">
            <a:spAutoFit/>
          </a:bodyPr>
          <a:lstStyle/>
          <a:p>
            <a:pPr algn="ctr"/>
            <a:r>
              <a:rPr sz="1200" b="1">
                <a:solidFill>
                  <a:srgbClr val="FFFFFF"/>
                </a:solidFill>
                <a:latin typeface="Calibri" panose="020F0502020204030204"/>
              </a:rPr>
              <a:t>3. CORS Check
Whitelist origin validation</a:t>
            </a:r>
            <a:endParaRPr sz="1200" b="1">
              <a:solidFill>
                <a:srgbClr val="FFFFFF"/>
              </a:solidFill>
              <a:latin typeface="Calibri" panose="020F0502020204030204"/>
            </a:endParaRPr>
          </a:p>
        </p:txBody>
      </p:sp>
      <p:sp>
        <p:nvSpPr>
          <p:cNvPr id="13" name="Rectangle 12"/>
          <p:cNvSpPr/>
          <p:nvPr/>
        </p:nvSpPr>
        <p:spPr>
          <a:xfrm>
            <a:off x="9286189" y="2205990"/>
            <a:ext cx="22860" cy="5029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 name="Rounded Rectangle 13"/>
          <p:cNvSpPr/>
          <p:nvPr/>
        </p:nvSpPr>
        <p:spPr>
          <a:xfrm>
            <a:off x="738378" y="2708910"/>
            <a:ext cx="3291840" cy="475488"/>
          </a:xfrm>
          <a:prstGeom prst="roundRect">
            <a:avLst/>
          </a:prstGeom>
          <a:solidFill>
            <a:srgbClr val="7C3AED"/>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5" name="TextBox 14"/>
          <p:cNvSpPr txBox="1"/>
          <p:nvPr/>
        </p:nvSpPr>
        <p:spPr>
          <a:xfrm>
            <a:off x="784098" y="2727198"/>
            <a:ext cx="3200400" cy="460375"/>
          </a:xfrm>
          <a:prstGeom prst="rect">
            <a:avLst/>
          </a:prstGeom>
          <a:noFill/>
        </p:spPr>
        <p:txBody>
          <a:bodyPr wrap="square">
            <a:spAutoFit/>
          </a:bodyPr>
          <a:lstStyle/>
          <a:p>
            <a:pPr algn="ctr"/>
            <a:r>
              <a:rPr sz="1200" b="1">
                <a:solidFill>
                  <a:srgbClr val="FFFFFF"/>
                </a:solidFill>
                <a:latin typeface="Calibri" panose="020F0502020204030204"/>
              </a:rPr>
              <a:t>4. Rate Limiter
Redis: 200/min API, 20/15min login</a:t>
            </a:r>
            <a:endParaRPr sz="1200" b="1">
              <a:solidFill>
                <a:srgbClr val="FFFFFF"/>
              </a:solidFill>
              <a:latin typeface="Calibri" panose="020F0502020204030204"/>
            </a:endParaRPr>
          </a:p>
        </p:txBody>
      </p:sp>
      <p:sp>
        <p:nvSpPr>
          <p:cNvPr id="16" name="Rectangle 15"/>
          <p:cNvSpPr/>
          <p:nvPr/>
        </p:nvSpPr>
        <p:spPr>
          <a:xfrm>
            <a:off x="4048506" y="2935681"/>
            <a:ext cx="128015" cy="2286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7" name="Rounded Rectangle 16"/>
          <p:cNvSpPr/>
          <p:nvPr/>
        </p:nvSpPr>
        <p:spPr>
          <a:xfrm>
            <a:off x="4194810" y="2708910"/>
            <a:ext cx="3291840" cy="475488"/>
          </a:xfrm>
          <a:prstGeom prst="roundRect">
            <a:avLst/>
          </a:prstGeom>
          <a:solidFill>
            <a:srgbClr val="7C3AED"/>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8" name="TextBox 17"/>
          <p:cNvSpPr txBox="1"/>
          <p:nvPr/>
        </p:nvSpPr>
        <p:spPr>
          <a:xfrm>
            <a:off x="4240530" y="2727198"/>
            <a:ext cx="3200400" cy="460375"/>
          </a:xfrm>
          <a:prstGeom prst="rect">
            <a:avLst/>
          </a:prstGeom>
          <a:noFill/>
        </p:spPr>
        <p:txBody>
          <a:bodyPr wrap="square">
            <a:spAutoFit/>
          </a:bodyPr>
          <a:lstStyle/>
          <a:p>
            <a:pPr algn="ctr"/>
            <a:r>
              <a:rPr sz="1200" b="1">
                <a:solidFill>
                  <a:srgbClr val="FFFFFF"/>
                </a:solidFill>
                <a:latin typeface="Calibri" panose="020F0502020204030204"/>
              </a:rPr>
              <a:t>5. IP Block Check
Reject admin-blocked IPs instantly</a:t>
            </a:r>
            <a:endParaRPr sz="1200" b="1">
              <a:solidFill>
                <a:srgbClr val="FFFFFF"/>
              </a:solidFill>
              <a:latin typeface="Calibri" panose="020F0502020204030204"/>
            </a:endParaRPr>
          </a:p>
        </p:txBody>
      </p:sp>
      <p:sp>
        <p:nvSpPr>
          <p:cNvPr id="19" name="Rectangle 18"/>
          <p:cNvSpPr/>
          <p:nvPr/>
        </p:nvSpPr>
        <p:spPr>
          <a:xfrm>
            <a:off x="7504937" y="2935681"/>
            <a:ext cx="128015" cy="2286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Rounded Rectangle 19"/>
          <p:cNvSpPr/>
          <p:nvPr/>
        </p:nvSpPr>
        <p:spPr>
          <a:xfrm>
            <a:off x="7651242" y="2708910"/>
            <a:ext cx="3291840" cy="475488"/>
          </a:xfrm>
          <a:prstGeom prst="roundRect">
            <a:avLst/>
          </a:prstGeom>
          <a:solidFill>
            <a:srgbClr val="7C3AED"/>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1" name="TextBox 20"/>
          <p:cNvSpPr txBox="1"/>
          <p:nvPr/>
        </p:nvSpPr>
        <p:spPr>
          <a:xfrm>
            <a:off x="7696962" y="2727198"/>
            <a:ext cx="3200400" cy="460375"/>
          </a:xfrm>
          <a:prstGeom prst="rect">
            <a:avLst/>
          </a:prstGeom>
          <a:noFill/>
        </p:spPr>
        <p:txBody>
          <a:bodyPr wrap="square">
            <a:spAutoFit/>
          </a:bodyPr>
          <a:lstStyle/>
          <a:p>
            <a:pPr algn="ctr"/>
            <a:r>
              <a:rPr sz="1200" b="1">
                <a:solidFill>
                  <a:srgbClr val="FFFFFF"/>
                </a:solidFill>
                <a:latin typeface="Calibri" panose="020F0502020204030204"/>
              </a:rPr>
              <a:t>6. CSRF Validation
Double-submit cookie pattern</a:t>
            </a:r>
            <a:endParaRPr sz="1200" b="1">
              <a:solidFill>
                <a:srgbClr val="FFFFFF"/>
              </a:solidFill>
              <a:latin typeface="Calibri" panose="020F0502020204030204"/>
            </a:endParaRPr>
          </a:p>
        </p:txBody>
      </p:sp>
      <p:sp>
        <p:nvSpPr>
          <p:cNvPr id="22" name="Rectangle 21"/>
          <p:cNvSpPr/>
          <p:nvPr/>
        </p:nvSpPr>
        <p:spPr>
          <a:xfrm>
            <a:off x="9286189" y="3184398"/>
            <a:ext cx="22860" cy="5029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Rounded Rectangle 22"/>
          <p:cNvSpPr/>
          <p:nvPr/>
        </p:nvSpPr>
        <p:spPr>
          <a:xfrm>
            <a:off x="738378" y="3687318"/>
            <a:ext cx="3291840" cy="475488"/>
          </a:xfrm>
          <a:prstGeom prst="roundRect">
            <a:avLst/>
          </a:prstGeom>
          <a:solidFill>
            <a:srgbClr val="D97F06"/>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p:cNvSpPr txBox="1"/>
          <p:nvPr/>
        </p:nvSpPr>
        <p:spPr>
          <a:xfrm>
            <a:off x="784098" y="3705606"/>
            <a:ext cx="3200400" cy="460375"/>
          </a:xfrm>
          <a:prstGeom prst="rect">
            <a:avLst/>
          </a:prstGeom>
          <a:noFill/>
        </p:spPr>
        <p:txBody>
          <a:bodyPr wrap="square">
            <a:spAutoFit/>
          </a:bodyPr>
          <a:lstStyle/>
          <a:p>
            <a:pPr algn="ctr"/>
            <a:r>
              <a:rPr sz="1200" b="1">
                <a:solidFill>
                  <a:srgbClr val="FFFFFF"/>
                </a:solidFill>
                <a:latin typeface="Calibri" panose="020F0502020204030204"/>
              </a:rPr>
              <a:t>7. Input Sanitize
Strip null bytes &amp; control chars</a:t>
            </a:r>
            <a:endParaRPr sz="1200" b="1">
              <a:solidFill>
                <a:srgbClr val="FFFFFF"/>
              </a:solidFill>
              <a:latin typeface="Calibri" panose="020F0502020204030204"/>
            </a:endParaRPr>
          </a:p>
        </p:txBody>
      </p:sp>
      <p:sp>
        <p:nvSpPr>
          <p:cNvPr id="25" name="Rectangle 24"/>
          <p:cNvSpPr/>
          <p:nvPr/>
        </p:nvSpPr>
        <p:spPr>
          <a:xfrm>
            <a:off x="4048506" y="3914089"/>
            <a:ext cx="128015" cy="2286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6" name="Rounded Rectangle 25"/>
          <p:cNvSpPr/>
          <p:nvPr/>
        </p:nvSpPr>
        <p:spPr>
          <a:xfrm>
            <a:off x="4194810" y="3687318"/>
            <a:ext cx="3291840" cy="475488"/>
          </a:xfrm>
          <a:prstGeom prst="roundRect">
            <a:avLst/>
          </a:prstGeom>
          <a:solidFill>
            <a:srgbClr val="D97F06"/>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7" name="TextBox 26"/>
          <p:cNvSpPr txBox="1"/>
          <p:nvPr/>
        </p:nvSpPr>
        <p:spPr>
          <a:xfrm>
            <a:off x="4240530" y="3705606"/>
            <a:ext cx="3200400" cy="460375"/>
          </a:xfrm>
          <a:prstGeom prst="rect">
            <a:avLst/>
          </a:prstGeom>
          <a:noFill/>
        </p:spPr>
        <p:txBody>
          <a:bodyPr wrap="square">
            <a:spAutoFit/>
          </a:bodyPr>
          <a:lstStyle/>
          <a:p>
            <a:pPr algn="ctr"/>
            <a:r>
              <a:rPr sz="1200" b="1">
                <a:solidFill>
                  <a:srgbClr val="FFFFFF"/>
                </a:solidFill>
                <a:latin typeface="Calibri" panose="020F0502020204030204"/>
              </a:rPr>
              <a:t>8. JWT Auth (RS256)
Verify asymmetric token, 15-min TTL</a:t>
            </a:r>
            <a:endParaRPr sz="1200" b="1">
              <a:solidFill>
                <a:srgbClr val="FFFFFF"/>
              </a:solidFill>
              <a:latin typeface="Calibri" panose="020F0502020204030204"/>
            </a:endParaRPr>
          </a:p>
        </p:txBody>
      </p:sp>
      <p:sp>
        <p:nvSpPr>
          <p:cNvPr id="28" name="Rectangle 27"/>
          <p:cNvSpPr/>
          <p:nvPr/>
        </p:nvSpPr>
        <p:spPr>
          <a:xfrm>
            <a:off x="7504937" y="3914089"/>
            <a:ext cx="128015" cy="2286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9" name="Rounded Rectangle 28"/>
          <p:cNvSpPr/>
          <p:nvPr/>
        </p:nvSpPr>
        <p:spPr>
          <a:xfrm>
            <a:off x="7651242" y="3687318"/>
            <a:ext cx="3291840" cy="475488"/>
          </a:xfrm>
          <a:prstGeom prst="roundRect">
            <a:avLst/>
          </a:prstGeom>
          <a:solidFill>
            <a:srgbClr val="D97F06"/>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0" name="TextBox 29"/>
          <p:cNvSpPr txBox="1"/>
          <p:nvPr/>
        </p:nvSpPr>
        <p:spPr>
          <a:xfrm>
            <a:off x="7696962" y="3705606"/>
            <a:ext cx="3200400" cy="460375"/>
          </a:xfrm>
          <a:prstGeom prst="rect">
            <a:avLst/>
          </a:prstGeom>
          <a:noFill/>
        </p:spPr>
        <p:txBody>
          <a:bodyPr wrap="square">
            <a:spAutoFit/>
          </a:bodyPr>
          <a:lstStyle/>
          <a:p>
            <a:pPr algn="ctr"/>
            <a:r>
              <a:rPr sz="1200" b="1">
                <a:solidFill>
                  <a:srgbClr val="FFFFFF"/>
                </a:solidFill>
                <a:latin typeface="Calibri" panose="020F0502020204030204"/>
              </a:rPr>
              <a:t>9. RBAC Check
19 roles, route-level enforcement</a:t>
            </a:r>
            <a:endParaRPr sz="1200" b="1">
              <a:solidFill>
                <a:srgbClr val="FFFFFF"/>
              </a:solidFill>
              <a:latin typeface="Calibri" panose="020F0502020204030204"/>
            </a:endParaRPr>
          </a:p>
        </p:txBody>
      </p:sp>
      <p:sp>
        <p:nvSpPr>
          <p:cNvPr id="31" name="Rectangle 30"/>
          <p:cNvSpPr/>
          <p:nvPr/>
        </p:nvSpPr>
        <p:spPr>
          <a:xfrm>
            <a:off x="201168" y="5577840"/>
            <a:ext cx="11750040" cy="566928"/>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8600" y="5596128"/>
            <a:ext cx="11704320" cy="530352"/>
          </a:xfrm>
          <a:prstGeom prst="rect">
            <a:avLst/>
          </a:prstGeom>
          <a:noFill/>
        </p:spPr>
        <p:txBody>
          <a:bodyPr wrap="square">
            <a:spAutoFit/>
          </a:bodyPr>
          <a:lstStyle/>
          <a:p>
            <a:pPr algn="ctr"/>
            <a:r>
              <a:rPr sz="1300" b="1" i="0">
                <a:solidFill>
                  <a:srgbClr val="FFFFFF"/>
                </a:solidFill>
                <a:latin typeface="Calibri" panose="020F0502020204030204"/>
              </a:rPr>
              <a:t>✅  ROUTE HANDLER — Business Logic Executes  |  Response returned  |  Audit log written</a:t>
            </a:r>
            <a:endParaRPr sz="1300" b="1" i="0">
              <a:solidFill>
                <a:srgbClr val="FFFFFF"/>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583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502920"/>
          </a:xfrm>
          <a:prstGeom prst="rect">
            <a:avLst/>
          </a:prstGeom>
          <a:noFill/>
        </p:spPr>
        <p:txBody>
          <a:bodyPr wrap="square">
            <a:spAutoFit/>
          </a:bodyPr>
          <a:lstStyle/>
          <a:p>
            <a:pPr algn="l"/>
            <a:r>
              <a:rPr sz="2000" b="1" i="0">
                <a:solidFill>
                  <a:srgbClr val="FFFFFF"/>
                </a:solidFill>
                <a:latin typeface="Calibri" panose="020F0502020204030204"/>
              </a:rPr>
              <a:t>System Modules — 30+ Backend, 15+ Frontend Role Dashboards</a:t>
            </a:r>
            <a:endParaRPr sz="2000" b="1" i="0">
              <a:solidFill>
                <a:srgbClr val="FFFFFF"/>
              </a:solidFill>
              <a:latin typeface="Calibri" panose="020F0502020204030204"/>
            </a:endParaRPr>
          </a:p>
        </p:txBody>
      </p:sp>
      <p:sp>
        <p:nvSpPr>
          <p:cNvPr id="4" name="Rectangle 3"/>
          <p:cNvSpPr/>
          <p:nvPr/>
        </p:nvSpPr>
        <p:spPr>
          <a:xfrm>
            <a:off x="0" y="658368"/>
            <a:ext cx="109728" cy="61996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15468" y="1960245"/>
            <a:ext cx="2743200" cy="14173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388620" y="2015108"/>
            <a:ext cx="2596896" cy="306705"/>
          </a:xfrm>
          <a:prstGeom prst="rect">
            <a:avLst/>
          </a:prstGeom>
          <a:noFill/>
        </p:spPr>
        <p:txBody>
          <a:bodyPr wrap="square">
            <a:spAutoFit/>
          </a:bodyPr>
          <a:lstStyle/>
          <a:p>
            <a:pPr algn="l"/>
            <a:r>
              <a:rPr sz="1400" b="1" i="0">
                <a:solidFill>
                  <a:srgbClr val="FFFFFF"/>
                </a:solidFill>
                <a:latin typeface="Calibri" panose="020F0502020204030204"/>
              </a:rPr>
              <a:t>🏥 CLINICAL</a:t>
            </a:r>
            <a:endParaRPr sz="1400" b="1" i="0">
              <a:solidFill>
                <a:srgbClr val="FFFFFF"/>
              </a:solidFill>
              <a:latin typeface="Calibri" panose="020F0502020204030204"/>
            </a:endParaRPr>
          </a:p>
        </p:txBody>
      </p:sp>
      <p:sp>
        <p:nvSpPr>
          <p:cNvPr id="7" name="Rectangle 6"/>
          <p:cNvSpPr/>
          <p:nvPr/>
        </p:nvSpPr>
        <p:spPr>
          <a:xfrm>
            <a:off x="388620" y="2362581"/>
            <a:ext cx="2596896"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388620" y="2417445"/>
            <a:ext cx="2596896" cy="645160"/>
          </a:xfrm>
          <a:prstGeom prst="rect">
            <a:avLst/>
          </a:prstGeom>
          <a:noFill/>
        </p:spPr>
        <p:txBody>
          <a:bodyPr wrap="square">
            <a:spAutoFit/>
          </a:bodyPr>
          <a:lstStyle/>
          <a:p>
            <a:pPr algn="l"/>
            <a:r>
              <a:rPr sz="1200" b="0" i="0">
                <a:solidFill>
                  <a:srgbClr val="FFFFFF"/>
                </a:solidFill>
                <a:latin typeface="Calibri" panose="020F0502020204030204"/>
              </a:rPr>
              <a:t>Patients, Appointments, Vitals,
Prescriptions, Lab Orders,
Discharge, Telemedicine, OT</a:t>
            </a:r>
            <a:endParaRPr sz="1200" b="0" i="0">
              <a:solidFill>
                <a:srgbClr val="FFFFFF"/>
              </a:solidFill>
              <a:latin typeface="Calibri" panose="020F0502020204030204"/>
            </a:endParaRPr>
          </a:p>
        </p:txBody>
      </p:sp>
      <p:sp>
        <p:nvSpPr>
          <p:cNvPr id="9" name="Rectangle 8"/>
          <p:cNvSpPr/>
          <p:nvPr/>
        </p:nvSpPr>
        <p:spPr>
          <a:xfrm>
            <a:off x="3223260" y="1960245"/>
            <a:ext cx="2743200" cy="1417320"/>
          </a:xfrm>
          <a:prstGeom prst="rect">
            <a:avLst/>
          </a:prstGeom>
          <a:solidFill>
            <a:srgbClr val="009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3296412" y="2015108"/>
            <a:ext cx="2596896" cy="306705"/>
          </a:xfrm>
          <a:prstGeom prst="rect">
            <a:avLst/>
          </a:prstGeom>
          <a:noFill/>
        </p:spPr>
        <p:txBody>
          <a:bodyPr wrap="square">
            <a:spAutoFit/>
          </a:bodyPr>
          <a:lstStyle/>
          <a:p>
            <a:pPr algn="l"/>
            <a:r>
              <a:rPr sz="1400" b="1" i="0">
                <a:solidFill>
                  <a:srgbClr val="FFFFFF"/>
                </a:solidFill>
                <a:latin typeface="Calibri" panose="020F0502020204030204"/>
              </a:rPr>
              <a:t>💊 PHARMACY &amp; LAB</a:t>
            </a:r>
            <a:endParaRPr sz="1400" b="1" i="0">
              <a:solidFill>
                <a:srgbClr val="FFFFFF"/>
              </a:solidFill>
              <a:latin typeface="Calibri" panose="020F0502020204030204"/>
            </a:endParaRPr>
          </a:p>
        </p:txBody>
      </p:sp>
      <p:sp>
        <p:nvSpPr>
          <p:cNvPr id="11" name="Rectangle 10"/>
          <p:cNvSpPr/>
          <p:nvPr/>
        </p:nvSpPr>
        <p:spPr>
          <a:xfrm>
            <a:off x="3296412" y="2362581"/>
            <a:ext cx="2596896"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1"/>
          <p:cNvSpPr txBox="1"/>
          <p:nvPr/>
        </p:nvSpPr>
        <p:spPr>
          <a:xfrm>
            <a:off x="3296412" y="2417445"/>
            <a:ext cx="2596896" cy="645160"/>
          </a:xfrm>
          <a:prstGeom prst="rect">
            <a:avLst/>
          </a:prstGeom>
          <a:noFill/>
        </p:spPr>
        <p:txBody>
          <a:bodyPr wrap="square">
            <a:spAutoFit/>
          </a:bodyPr>
          <a:lstStyle/>
          <a:p>
            <a:pPr algn="l"/>
            <a:r>
              <a:rPr sz="1200" b="0" i="0">
                <a:solidFill>
                  <a:srgbClr val="FFFFFF"/>
                </a:solidFill>
                <a:latin typeface="Calibri" panose="020F0502020204030204"/>
              </a:rPr>
              <a:t>Medicine DB, Dispensing Queue,
Lab Orders, Lab Results,
Blood Bank Management</a:t>
            </a:r>
            <a:endParaRPr sz="1200" b="0" i="0">
              <a:solidFill>
                <a:srgbClr val="FFFFFF"/>
              </a:solidFill>
              <a:latin typeface="Calibri" panose="020F0502020204030204"/>
            </a:endParaRPr>
          </a:p>
        </p:txBody>
      </p:sp>
      <p:sp>
        <p:nvSpPr>
          <p:cNvPr id="13" name="Rectangle 12"/>
          <p:cNvSpPr/>
          <p:nvPr/>
        </p:nvSpPr>
        <p:spPr>
          <a:xfrm>
            <a:off x="6131052" y="1960245"/>
            <a:ext cx="2743200" cy="14173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6204204" y="2015108"/>
            <a:ext cx="2596896" cy="306705"/>
          </a:xfrm>
          <a:prstGeom prst="rect">
            <a:avLst/>
          </a:prstGeom>
          <a:noFill/>
        </p:spPr>
        <p:txBody>
          <a:bodyPr wrap="square">
            <a:spAutoFit/>
          </a:bodyPr>
          <a:lstStyle/>
          <a:p>
            <a:pPr algn="l"/>
            <a:r>
              <a:rPr sz="1400" b="1" i="0">
                <a:solidFill>
                  <a:srgbClr val="FFFFFF"/>
                </a:solidFill>
                <a:latin typeface="Calibri" panose="020F0502020204030204"/>
              </a:rPr>
              <a:t>💰 FINANCE</a:t>
            </a:r>
            <a:endParaRPr sz="1400" b="1" i="0">
              <a:solidFill>
                <a:srgbClr val="FFFFFF"/>
              </a:solidFill>
              <a:latin typeface="Calibri" panose="020F0502020204030204"/>
            </a:endParaRPr>
          </a:p>
        </p:txBody>
      </p:sp>
      <p:sp>
        <p:nvSpPr>
          <p:cNvPr id="15" name="Rectangle 14"/>
          <p:cNvSpPr/>
          <p:nvPr/>
        </p:nvSpPr>
        <p:spPr>
          <a:xfrm>
            <a:off x="6204204" y="2362581"/>
            <a:ext cx="2596896"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6204204" y="2417445"/>
            <a:ext cx="2596896" cy="645160"/>
          </a:xfrm>
          <a:prstGeom prst="rect">
            <a:avLst/>
          </a:prstGeom>
          <a:noFill/>
        </p:spPr>
        <p:txBody>
          <a:bodyPr wrap="square">
            <a:spAutoFit/>
          </a:bodyPr>
          <a:lstStyle/>
          <a:p>
            <a:pPr algn="l"/>
            <a:r>
              <a:rPr sz="1200" b="0" i="0">
                <a:solidFill>
                  <a:srgbClr val="FFFFFF"/>
                </a:solidFill>
                <a:latin typeface="Calibri" panose="020F0502020204030204"/>
              </a:rPr>
              <a:t>Billing, Payments, Insurance,
Financial Summary,
Razorpay Integration</a:t>
            </a:r>
            <a:endParaRPr sz="1200" b="0" i="0">
              <a:solidFill>
                <a:srgbClr val="FFFFFF"/>
              </a:solidFill>
              <a:latin typeface="Calibri" panose="020F0502020204030204"/>
            </a:endParaRPr>
          </a:p>
        </p:txBody>
      </p:sp>
      <p:sp>
        <p:nvSpPr>
          <p:cNvPr id="17" name="Rectangle 16"/>
          <p:cNvSpPr/>
          <p:nvPr/>
        </p:nvSpPr>
        <p:spPr>
          <a:xfrm>
            <a:off x="9038844" y="1960245"/>
            <a:ext cx="2743200"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7"/>
          <p:cNvSpPr txBox="1"/>
          <p:nvPr/>
        </p:nvSpPr>
        <p:spPr>
          <a:xfrm>
            <a:off x="9111996" y="2015108"/>
            <a:ext cx="2596896" cy="306705"/>
          </a:xfrm>
          <a:prstGeom prst="rect">
            <a:avLst/>
          </a:prstGeom>
          <a:noFill/>
        </p:spPr>
        <p:txBody>
          <a:bodyPr wrap="square">
            <a:spAutoFit/>
          </a:bodyPr>
          <a:lstStyle/>
          <a:p>
            <a:pPr algn="l"/>
            <a:r>
              <a:rPr sz="1400" b="1" i="0">
                <a:solidFill>
                  <a:srgbClr val="FFFFFF"/>
                </a:solidFill>
                <a:latin typeface="Calibri" panose="020F0502020204030204"/>
              </a:rPr>
              <a:t>👥 HR &amp; ADMIN</a:t>
            </a:r>
            <a:endParaRPr sz="1400" b="1" i="0">
              <a:solidFill>
                <a:srgbClr val="FFFFFF"/>
              </a:solidFill>
              <a:latin typeface="Calibri" panose="020F0502020204030204"/>
            </a:endParaRPr>
          </a:p>
        </p:txBody>
      </p:sp>
      <p:sp>
        <p:nvSpPr>
          <p:cNvPr id="19" name="Rectangle 18"/>
          <p:cNvSpPr/>
          <p:nvPr/>
        </p:nvSpPr>
        <p:spPr>
          <a:xfrm>
            <a:off x="9111996" y="2362581"/>
            <a:ext cx="2596896"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9111996" y="2417445"/>
            <a:ext cx="2596896" cy="645160"/>
          </a:xfrm>
          <a:prstGeom prst="rect">
            <a:avLst/>
          </a:prstGeom>
          <a:noFill/>
        </p:spPr>
        <p:txBody>
          <a:bodyPr wrap="square">
            <a:spAutoFit/>
          </a:bodyPr>
          <a:lstStyle/>
          <a:p>
            <a:pPr algn="l"/>
            <a:r>
              <a:rPr sz="1200" b="0" i="0">
                <a:solidFill>
                  <a:srgbClr val="FFFFFF"/>
                </a:solidFill>
                <a:latin typeface="Calibri" panose="020F0502020204030204"/>
              </a:rPr>
              <a:t>User Mgmt, Shifts, Leaves,
Departments, Payroll,
Analytics Dashboard</a:t>
            </a:r>
            <a:endParaRPr sz="1200" b="0" i="0">
              <a:solidFill>
                <a:srgbClr val="FFFFFF"/>
              </a:solidFill>
              <a:latin typeface="Calibri" panose="020F0502020204030204"/>
            </a:endParaRPr>
          </a:p>
        </p:txBody>
      </p:sp>
      <p:sp>
        <p:nvSpPr>
          <p:cNvPr id="21" name="Rectangle 20"/>
          <p:cNvSpPr/>
          <p:nvPr/>
        </p:nvSpPr>
        <p:spPr>
          <a:xfrm>
            <a:off x="315468" y="3542157"/>
            <a:ext cx="2743200" cy="14173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388620" y="3597021"/>
            <a:ext cx="2596896" cy="306705"/>
          </a:xfrm>
          <a:prstGeom prst="rect">
            <a:avLst/>
          </a:prstGeom>
          <a:noFill/>
        </p:spPr>
        <p:txBody>
          <a:bodyPr wrap="square">
            <a:spAutoFit/>
          </a:bodyPr>
          <a:lstStyle/>
          <a:p>
            <a:pPr algn="l"/>
            <a:r>
              <a:rPr sz="1400" b="1" i="0">
                <a:solidFill>
                  <a:srgbClr val="FFFFFF"/>
                </a:solidFill>
                <a:latin typeface="Calibri" panose="020F0502020204030204"/>
              </a:rPr>
              <a:t>🔒 SECURITY &amp; AUDIT</a:t>
            </a:r>
            <a:endParaRPr sz="1400" b="1" i="0">
              <a:solidFill>
                <a:srgbClr val="FFFFFF"/>
              </a:solidFill>
              <a:latin typeface="Calibri" panose="020F0502020204030204"/>
            </a:endParaRPr>
          </a:p>
        </p:txBody>
      </p:sp>
      <p:sp>
        <p:nvSpPr>
          <p:cNvPr id="23" name="Rectangle 22"/>
          <p:cNvSpPr/>
          <p:nvPr/>
        </p:nvSpPr>
        <p:spPr>
          <a:xfrm>
            <a:off x="388620" y="3944493"/>
            <a:ext cx="2596896"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388620" y="3999357"/>
            <a:ext cx="2596896" cy="645160"/>
          </a:xfrm>
          <a:prstGeom prst="rect">
            <a:avLst/>
          </a:prstGeom>
          <a:noFill/>
        </p:spPr>
        <p:txBody>
          <a:bodyPr wrap="square">
            <a:spAutoFit/>
          </a:bodyPr>
          <a:lstStyle/>
          <a:p>
            <a:pPr algn="l"/>
            <a:r>
              <a:rPr sz="1200" b="0" i="0">
                <a:solidFill>
                  <a:srgbClr val="FFFFFF"/>
                </a:solidFill>
                <a:latin typeface="Calibri" panose="020F0502020204030204"/>
              </a:rPr>
              <a:t>Audit Logs (Hash-Chain),
IP Blocking, Session Mgmt,
Incident Reports</a:t>
            </a:r>
            <a:endParaRPr sz="1200" b="0" i="0">
              <a:solidFill>
                <a:srgbClr val="FFFFFF"/>
              </a:solidFill>
              <a:latin typeface="Calibri" panose="020F0502020204030204"/>
            </a:endParaRPr>
          </a:p>
        </p:txBody>
      </p:sp>
      <p:sp>
        <p:nvSpPr>
          <p:cNvPr id="25" name="Rectangle 24"/>
          <p:cNvSpPr/>
          <p:nvPr/>
        </p:nvSpPr>
        <p:spPr>
          <a:xfrm>
            <a:off x="3223260" y="3542157"/>
            <a:ext cx="2743200" cy="1417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TextBox 25"/>
          <p:cNvSpPr txBox="1"/>
          <p:nvPr/>
        </p:nvSpPr>
        <p:spPr>
          <a:xfrm>
            <a:off x="3296412" y="3597021"/>
            <a:ext cx="2596896" cy="306705"/>
          </a:xfrm>
          <a:prstGeom prst="rect">
            <a:avLst/>
          </a:prstGeom>
          <a:noFill/>
        </p:spPr>
        <p:txBody>
          <a:bodyPr wrap="square">
            <a:spAutoFit/>
          </a:bodyPr>
          <a:lstStyle/>
          <a:p>
            <a:pPr algn="l"/>
            <a:r>
              <a:rPr sz="1400" b="1" i="0">
                <a:solidFill>
                  <a:srgbClr val="FFFFFF"/>
                </a:solidFill>
                <a:latin typeface="Calibri" panose="020F0502020204030204"/>
              </a:rPr>
              <a:t>📦 OPERATIONS</a:t>
            </a:r>
            <a:endParaRPr sz="1400" b="1" i="0">
              <a:solidFill>
                <a:srgbClr val="FFFFFF"/>
              </a:solidFill>
              <a:latin typeface="Calibri" panose="020F0502020204030204"/>
            </a:endParaRPr>
          </a:p>
        </p:txBody>
      </p:sp>
      <p:sp>
        <p:nvSpPr>
          <p:cNvPr id="27" name="Rectangle 26"/>
          <p:cNvSpPr/>
          <p:nvPr/>
        </p:nvSpPr>
        <p:spPr>
          <a:xfrm>
            <a:off x="3296412" y="3944493"/>
            <a:ext cx="2596896"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TextBox 27"/>
          <p:cNvSpPr txBox="1"/>
          <p:nvPr/>
        </p:nvSpPr>
        <p:spPr>
          <a:xfrm>
            <a:off x="3296412" y="3999357"/>
            <a:ext cx="2596896" cy="645160"/>
          </a:xfrm>
          <a:prstGeom prst="rect">
            <a:avLst/>
          </a:prstGeom>
          <a:noFill/>
        </p:spPr>
        <p:txBody>
          <a:bodyPr wrap="square">
            <a:spAutoFit/>
          </a:bodyPr>
          <a:lstStyle/>
          <a:p>
            <a:pPr algn="l"/>
            <a:r>
              <a:rPr sz="1200" b="0" i="0">
                <a:solidFill>
                  <a:srgbClr val="FFFFFF"/>
                </a:solidFill>
                <a:latin typeface="Calibri" panose="020F0502020204030204"/>
              </a:rPr>
              <a:t>Inventory, Bed Matrix,
QR Codes, Visitor Logs,
Handover Notes</a:t>
            </a:r>
            <a:endParaRPr sz="1200" b="0" i="0">
              <a:solidFill>
                <a:srgbClr val="FFFFFF"/>
              </a:solidFill>
              <a:latin typeface="Calibri" panose="020F0502020204030204"/>
            </a:endParaRPr>
          </a:p>
        </p:txBody>
      </p:sp>
      <p:sp>
        <p:nvSpPr>
          <p:cNvPr id="29" name="Rectangle 28"/>
          <p:cNvSpPr/>
          <p:nvPr/>
        </p:nvSpPr>
        <p:spPr>
          <a:xfrm>
            <a:off x="6131052" y="3542157"/>
            <a:ext cx="2743200" cy="14173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TextBox 29"/>
          <p:cNvSpPr txBox="1"/>
          <p:nvPr/>
        </p:nvSpPr>
        <p:spPr>
          <a:xfrm>
            <a:off x="6204204" y="3597021"/>
            <a:ext cx="2596896" cy="306705"/>
          </a:xfrm>
          <a:prstGeom prst="rect">
            <a:avLst/>
          </a:prstGeom>
          <a:noFill/>
        </p:spPr>
        <p:txBody>
          <a:bodyPr wrap="square">
            <a:spAutoFit/>
          </a:bodyPr>
          <a:lstStyle/>
          <a:p>
            <a:pPr algn="l"/>
            <a:r>
              <a:rPr sz="1400" b="1" i="0">
                <a:solidFill>
                  <a:srgbClr val="FFFFFF"/>
                </a:solidFill>
                <a:latin typeface="Calibri" panose="020F0502020204030204"/>
              </a:rPr>
              <a:t>💬 COMMUNICATION</a:t>
            </a:r>
            <a:endParaRPr sz="1400" b="1" i="0">
              <a:solidFill>
                <a:srgbClr val="FFFFFF"/>
              </a:solidFill>
              <a:latin typeface="Calibri" panose="020F0502020204030204"/>
            </a:endParaRPr>
          </a:p>
        </p:txBody>
      </p:sp>
      <p:sp>
        <p:nvSpPr>
          <p:cNvPr id="31" name="Rectangle 30"/>
          <p:cNvSpPr/>
          <p:nvPr/>
        </p:nvSpPr>
        <p:spPr>
          <a:xfrm>
            <a:off x="6204204" y="3944493"/>
            <a:ext cx="2596896"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TextBox 31"/>
          <p:cNvSpPr txBox="1"/>
          <p:nvPr/>
        </p:nvSpPr>
        <p:spPr>
          <a:xfrm>
            <a:off x="6204204" y="3999357"/>
            <a:ext cx="2596896" cy="645160"/>
          </a:xfrm>
          <a:prstGeom prst="rect">
            <a:avLst/>
          </a:prstGeom>
          <a:noFill/>
        </p:spPr>
        <p:txBody>
          <a:bodyPr wrap="square">
            <a:spAutoFit/>
          </a:bodyPr>
          <a:lstStyle/>
          <a:p>
            <a:pPr algn="l"/>
            <a:r>
              <a:rPr sz="1200" b="0" i="0">
                <a:solidFill>
                  <a:srgbClr val="FFFFFF"/>
                </a:solidFill>
                <a:latin typeface="Calibri" panose="020F0502020204030204"/>
              </a:rPr>
              <a:t>Real-time Messaging,
Notifications, Broadcasts,
Telemedicine Signaling</a:t>
            </a:r>
            <a:endParaRPr sz="1200" b="0" i="0">
              <a:solidFill>
                <a:srgbClr val="FFFFFF"/>
              </a:solidFill>
              <a:latin typeface="Calibri" panose="020F0502020204030204"/>
            </a:endParaRPr>
          </a:p>
        </p:txBody>
      </p:sp>
      <p:sp>
        <p:nvSpPr>
          <p:cNvPr id="33" name="Rectangle 32"/>
          <p:cNvSpPr/>
          <p:nvPr/>
        </p:nvSpPr>
        <p:spPr>
          <a:xfrm>
            <a:off x="9038844" y="3542157"/>
            <a:ext cx="2743200" cy="141732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4" name="TextBox 33"/>
          <p:cNvSpPr txBox="1"/>
          <p:nvPr/>
        </p:nvSpPr>
        <p:spPr>
          <a:xfrm>
            <a:off x="9111996" y="3597021"/>
            <a:ext cx="2596896" cy="306705"/>
          </a:xfrm>
          <a:prstGeom prst="rect">
            <a:avLst/>
          </a:prstGeom>
          <a:noFill/>
        </p:spPr>
        <p:txBody>
          <a:bodyPr wrap="square">
            <a:spAutoFit/>
          </a:bodyPr>
          <a:lstStyle/>
          <a:p>
            <a:pPr algn="l"/>
            <a:r>
              <a:rPr sz="1400" b="1" i="0">
                <a:solidFill>
                  <a:srgbClr val="FFFFFF"/>
                </a:solidFill>
                <a:latin typeface="Calibri" panose="020F0502020204030204"/>
              </a:rPr>
              <a:t>🌐 PATIENT PORTAL</a:t>
            </a:r>
            <a:endParaRPr sz="1400" b="1" i="0">
              <a:solidFill>
                <a:srgbClr val="FFFFFF"/>
              </a:solidFill>
              <a:latin typeface="Calibri" panose="020F0502020204030204"/>
            </a:endParaRPr>
          </a:p>
        </p:txBody>
      </p:sp>
      <p:sp>
        <p:nvSpPr>
          <p:cNvPr id="35" name="Rectangle 34"/>
          <p:cNvSpPr/>
          <p:nvPr/>
        </p:nvSpPr>
        <p:spPr>
          <a:xfrm>
            <a:off x="9111996" y="3944493"/>
            <a:ext cx="2596896"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TextBox 35"/>
          <p:cNvSpPr txBox="1"/>
          <p:nvPr/>
        </p:nvSpPr>
        <p:spPr>
          <a:xfrm>
            <a:off x="9111996" y="3999357"/>
            <a:ext cx="2596896" cy="645160"/>
          </a:xfrm>
          <a:prstGeom prst="rect">
            <a:avLst/>
          </a:prstGeom>
          <a:noFill/>
        </p:spPr>
        <p:txBody>
          <a:bodyPr wrap="square">
            <a:spAutoFit/>
          </a:bodyPr>
          <a:lstStyle/>
          <a:p>
            <a:pPr algn="l"/>
            <a:r>
              <a:rPr sz="1200" b="0" i="0">
                <a:solidFill>
                  <a:srgbClr val="FFFFFF"/>
                </a:solidFill>
                <a:latin typeface="Calibri" panose="020F0502020204030204"/>
              </a:rPr>
              <a:t>Medical Timeline, Prescriptions,
Lab Results, Bills,
Appointments, File Downloads</a:t>
            </a:r>
            <a:endParaRPr sz="1200" b="0" i="0">
              <a:solidFill>
                <a:srgbClr val="FFFFFF"/>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583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502920"/>
          </a:xfrm>
          <a:prstGeom prst="rect">
            <a:avLst/>
          </a:prstGeom>
          <a:noFill/>
        </p:spPr>
        <p:txBody>
          <a:bodyPr wrap="square">
            <a:spAutoFit/>
          </a:bodyPr>
          <a:lstStyle/>
          <a:p>
            <a:pPr algn="l"/>
            <a:r>
              <a:rPr sz="2000" b="1" i="0">
                <a:solidFill>
                  <a:srgbClr val="FFFFFF"/>
                </a:solidFill>
                <a:latin typeface="Calibri" panose="020F0502020204030204"/>
              </a:rPr>
              <a:t>Patient Journey — End-to-End Clinical Workflow (Flowchart)</a:t>
            </a:r>
            <a:endParaRPr sz="2000" b="1" i="0">
              <a:solidFill>
                <a:srgbClr val="FFFFFF"/>
              </a:solidFill>
              <a:latin typeface="Calibri" panose="020F0502020204030204"/>
            </a:endParaRPr>
          </a:p>
        </p:txBody>
      </p:sp>
      <p:sp>
        <p:nvSpPr>
          <p:cNvPr id="4" name="Rectangle 3"/>
          <p:cNvSpPr/>
          <p:nvPr/>
        </p:nvSpPr>
        <p:spPr>
          <a:xfrm>
            <a:off x="0" y="658368"/>
            <a:ext cx="109728" cy="61996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01168" y="960120"/>
            <a:ext cx="1170432" cy="1005840"/>
          </a:xfrm>
          <a:prstGeom prst="roundRect">
            <a:avLst/>
          </a:prstGeom>
          <a:solidFill>
            <a:srgbClr val="00B4D8"/>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6888" y="978408"/>
            <a:ext cx="1078992" cy="706755"/>
          </a:xfrm>
          <a:prstGeom prst="rect">
            <a:avLst/>
          </a:prstGeom>
          <a:noFill/>
        </p:spPr>
        <p:txBody>
          <a:bodyPr wrap="square">
            <a:spAutoFit/>
          </a:bodyPr>
          <a:lstStyle/>
          <a:p>
            <a:pPr algn="ctr"/>
            <a:r>
              <a:rPr sz="1000" b="1">
                <a:solidFill>
                  <a:srgbClr val="FFFFFF"/>
                </a:solidFill>
                <a:latin typeface="Calibri" panose="020F0502020204030204"/>
              </a:rPr>
              <a:t>REGISTRATION
Receptionist creates
patient + MRN</a:t>
            </a:r>
            <a:endParaRPr sz="1000" b="1">
              <a:solidFill>
                <a:srgbClr val="FFFFFF"/>
              </a:solidFill>
              <a:latin typeface="Calibri" panose="020F0502020204030204"/>
            </a:endParaRPr>
          </a:p>
        </p:txBody>
      </p:sp>
      <p:sp>
        <p:nvSpPr>
          <p:cNvPr id="7" name="Rectangle 6"/>
          <p:cNvSpPr/>
          <p:nvPr/>
        </p:nvSpPr>
        <p:spPr>
          <a:xfrm>
            <a:off x="1380744" y="1452067"/>
            <a:ext cx="73152" cy="2286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 name="Rounded Rectangle 7"/>
          <p:cNvSpPr/>
          <p:nvPr/>
        </p:nvSpPr>
        <p:spPr>
          <a:xfrm>
            <a:off x="1463040" y="960120"/>
            <a:ext cx="1170432" cy="1005840"/>
          </a:xfrm>
          <a:prstGeom prst="roundRect">
            <a:avLst/>
          </a:prstGeom>
          <a:solidFill>
            <a:srgbClr val="0096B7"/>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978408"/>
            <a:ext cx="1078992" cy="706755"/>
          </a:xfrm>
          <a:prstGeom prst="rect">
            <a:avLst/>
          </a:prstGeom>
          <a:noFill/>
        </p:spPr>
        <p:txBody>
          <a:bodyPr wrap="square">
            <a:spAutoFit/>
          </a:bodyPr>
          <a:lstStyle/>
          <a:p>
            <a:pPr algn="ctr"/>
            <a:r>
              <a:rPr sz="1000" b="1">
                <a:solidFill>
                  <a:srgbClr val="FFFFFF"/>
                </a:solidFill>
                <a:latin typeface="Calibri" panose="020F0502020204030204"/>
              </a:rPr>
              <a:t>APPOINTMENT
Scheduled by
Receptionist/Patient</a:t>
            </a:r>
            <a:endParaRPr sz="1000" b="1">
              <a:solidFill>
                <a:srgbClr val="FFFFFF"/>
              </a:solidFill>
              <a:latin typeface="Calibri" panose="020F0502020204030204"/>
            </a:endParaRPr>
          </a:p>
        </p:txBody>
      </p:sp>
      <p:sp>
        <p:nvSpPr>
          <p:cNvPr id="10" name="Rectangle 9"/>
          <p:cNvSpPr/>
          <p:nvPr/>
        </p:nvSpPr>
        <p:spPr>
          <a:xfrm>
            <a:off x="2642615" y="1452067"/>
            <a:ext cx="73152" cy="2286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Rounded Rectangle 10"/>
          <p:cNvSpPr/>
          <p:nvPr/>
        </p:nvSpPr>
        <p:spPr>
          <a:xfrm>
            <a:off x="2724912" y="960120"/>
            <a:ext cx="1170432" cy="1005840"/>
          </a:xfrm>
          <a:prstGeom prst="roundRect">
            <a:avLst/>
          </a:prstGeom>
          <a:solidFill>
            <a:srgbClr val="7C3AED"/>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70632" y="978408"/>
            <a:ext cx="1078992" cy="553085"/>
          </a:xfrm>
          <a:prstGeom prst="rect">
            <a:avLst/>
          </a:prstGeom>
          <a:noFill/>
        </p:spPr>
        <p:txBody>
          <a:bodyPr wrap="square">
            <a:spAutoFit/>
          </a:bodyPr>
          <a:lstStyle/>
          <a:p>
            <a:pPr algn="ctr"/>
            <a:r>
              <a:rPr sz="1000" b="1">
                <a:solidFill>
                  <a:srgbClr val="FFFFFF"/>
                </a:solidFill>
                <a:latin typeface="Calibri" panose="020F0502020204030204"/>
              </a:rPr>
              <a:t>CONSULTATION
Doctor reviews
history &amp; vitals</a:t>
            </a:r>
            <a:endParaRPr sz="1000" b="1">
              <a:solidFill>
                <a:srgbClr val="FFFFFF"/>
              </a:solidFill>
              <a:latin typeface="Calibri" panose="020F0502020204030204"/>
            </a:endParaRPr>
          </a:p>
        </p:txBody>
      </p:sp>
      <p:sp>
        <p:nvSpPr>
          <p:cNvPr id="13" name="Rectangle 12"/>
          <p:cNvSpPr/>
          <p:nvPr/>
        </p:nvSpPr>
        <p:spPr>
          <a:xfrm>
            <a:off x="3904488" y="1452067"/>
            <a:ext cx="73152" cy="2286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Rounded Rectangle 13"/>
          <p:cNvSpPr/>
          <p:nvPr/>
        </p:nvSpPr>
        <p:spPr>
          <a:xfrm>
            <a:off x="3986784" y="960120"/>
            <a:ext cx="1170432" cy="1005840"/>
          </a:xfrm>
          <a:prstGeom prst="roundRect">
            <a:avLst/>
          </a:prstGeom>
          <a:solidFill>
            <a:srgbClr val="06B6D4"/>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32504" y="978408"/>
            <a:ext cx="1078992" cy="553085"/>
          </a:xfrm>
          <a:prstGeom prst="rect">
            <a:avLst/>
          </a:prstGeom>
          <a:noFill/>
        </p:spPr>
        <p:txBody>
          <a:bodyPr wrap="square">
            <a:spAutoFit/>
          </a:bodyPr>
          <a:lstStyle/>
          <a:p>
            <a:pPr algn="ctr"/>
            <a:r>
              <a:rPr sz="1000" b="1">
                <a:solidFill>
                  <a:srgbClr val="FFFFFF"/>
                </a:solidFill>
                <a:latin typeface="Calibri" panose="020F0502020204030204"/>
              </a:rPr>
              <a:t>VITALS
Nurse records
BP, Temp, SpO2</a:t>
            </a:r>
            <a:endParaRPr sz="1000" b="1">
              <a:solidFill>
                <a:srgbClr val="FFFFFF"/>
              </a:solidFill>
              <a:latin typeface="Calibri" panose="020F0502020204030204"/>
            </a:endParaRPr>
          </a:p>
        </p:txBody>
      </p:sp>
      <p:sp>
        <p:nvSpPr>
          <p:cNvPr id="16" name="Rectangle 15"/>
          <p:cNvSpPr/>
          <p:nvPr/>
        </p:nvSpPr>
        <p:spPr>
          <a:xfrm>
            <a:off x="5166360" y="1452067"/>
            <a:ext cx="73152" cy="2286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Rounded Rectangle 16"/>
          <p:cNvSpPr/>
          <p:nvPr/>
        </p:nvSpPr>
        <p:spPr>
          <a:xfrm>
            <a:off x="5248656" y="960120"/>
            <a:ext cx="1170432" cy="1005840"/>
          </a:xfrm>
          <a:prstGeom prst="roundRect">
            <a:avLst/>
          </a:prstGeom>
          <a:solidFill>
            <a:srgbClr val="D97F06"/>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94376" y="978408"/>
            <a:ext cx="1078992" cy="1014730"/>
          </a:xfrm>
          <a:prstGeom prst="rect">
            <a:avLst/>
          </a:prstGeom>
          <a:noFill/>
        </p:spPr>
        <p:txBody>
          <a:bodyPr wrap="square">
            <a:spAutoFit/>
          </a:bodyPr>
          <a:lstStyle/>
          <a:p>
            <a:pPr algn="ctr"/>
            <a:r>
              <a:rPr sz="1200" b="1">
                <a:solidFill>
                  <a:srgbClr val="FFFFFF"/>
                </a:solidFill>
                <a:latin typeface="Calibri" panose="020F0502020204030204"/>
              </a:rPr>
              <a:t>PRESCRIPTION
Doctor writes
from medicine DB</a:t>
            </a:r>
            <a:endParaRPr sz="1200" b="1">
              <a:solidFill>
                <a:srgbClr val="FFFFFF"/>
              </a:solidFill>
              <a:latin typeface="Calibri" panose="020F0502020204030204"/>
            </a:endParaRPr>
          </a:p>
        </p:txBody>
      </p:sp>
      <p:sp>
        <p:nvSpPr>
          <p:cNvPr id="19" name="Rectangle 18"/>
          <p:cNvSpPr/>
          <p:nvPr/>
        </p:nvSpPr>
        <p:spPr>
          <a:xfrm>
            <a:off x="6428232" y="1452067"/>
            <a:ext cx="73152" cy="2286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Rounded Rectangle 19"/>
          <p:cNvSpPr/>
          <p:nvPr/>
        </p:nvSpPr>
        <p:spPr>
          <a:xfrm>
            <a:off x="6510528" y="960120"/>
            <a:ext cx="1170432" cy="1005840"/>
          </a:xfrm>
          <a:prstGeom prst="roundRect">
            <a:avLst/>
          </a:prstGeom>
          <a:solidFill>
            <a:srgbClr val="F97316"/>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56248" y="978408"/>
            <a:ext cx="1078992" cy="860425"/>
          </a:xfrm>
          <a:prstGeom prst="rect">
            <a:avLst/>
          </a:prstGeom>
          <a:noFill/>
        </p:spPr>
        <p:txBody>
          <a:bodyPr wrap="square">
            <a:spAutoFit/>
          </a:bodyPr>
          <a:lstStyle/>
          <a:p>
            <a:pPr algn="ctr"/>
            <a:r>
              <a:rPr sz="1000" b="1">
                <a:solidFill>
                  <a:srgbClr val="FFFFFF"/>
                </a:solidFill>
                <a:latin typeface="Calibri" panose="020F0502020204030204"/>
              </a:rPr>
              <a:t>LAB TESTS
Ordered by Doctor
Results by Lab Tech</a:t>
            </a:r>
            <a:endParaRPr sz="1000" b="1">
              <a:solidFill>
                <a:srgbClr val="FFFFFF"/>
              </a:solidFill>
              <a:latin typeface="Calibri" panose="020F0502020204030204"/>
            </a:endParaRPr>
          </a:p>
        </p:txBody>
      </p:sp>
      <p:sp>
        <p:nvSpPr>
          <p:cNvPr id="22" name="Rectangle 21"/>
          <p:cNvSpPr/>
          <p:nvPr/>
        </p:nvSpPr>
        <p:spPr>
          <a:xfrm>
            <a:off x="7690104" y="1452067"/>
            <a:ext cx="73152" cy="2286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Rounded Rectangle 22"/>
          <p:cNvSpPr/>
          <p:nvPr/>
        </p:nvSpPr>
        <p:spPr>
          <a:xfrm>
            <a:off x="7772400" y="960120"/>
            <a:ext cx="1170432" cy="1005840"/>
          </a:xfrm>
          <a:prstGeom prst="roundRect">
            <a:avLst/>
          </a:prstGeom>
          <a:solidFill>
            <a:srgbClr val="22C55E"/>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18120" y="978408"/>
            <a:ext cx="1078992" cy="706755"/>
          </a:xfrm>
          <a:prstGeom prst="rect">
            <a:avLst/>
          </a:prstGeom>
          <a:noFill/>
        </p:spPr>
        <p:txBody>
          <a:bodyPr wrap="square">
            <a:spAutoFit/>
          </a:bodyPr>
          <a:lstStyle/>
          <a:p>
            <a:pPr algn="ctr"/>
            <a:r>
              <a:rPr sz="1000" b="1">
                <a:solidFill>
                  <a:srgbClr val="FFFFFF"/>
                </a:solidFill>
                <a:latin typeface="Calibri" panose="020F0502020204030204"/>
              </a:rPr>
              <a:t>DISPENSING
Pharmacist dispenses
medication</a:t>
            </a:r>
            <a:endParaRPr sz="1000" b="1">
              <a:solidFill>
                <a:srgbClr val="FFFFFF"/>
              </a:solidFill>
              <a:latin typeface="Calibri" panose="020F0502020204030204"/>
            </a:endParaRPr>
          </a:p>
        </p:txBody>
      </p:sp>
      <p:sp>
        <p:nvSpPr>
          <p:cNvPr id="25" name="Rectangle 24"/>
          <p:cNvSpPr/>
          <p:nvPr/>
        </p:nvSpPr>
        <p:spPr>
          <a:xfrm>
            <a:off x="8951976" y="1452067"/>
            <a:ext cx="73152" cy="2286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6" name="Rounded Rectangle 25"/>
          <p:cNvSpPr/>
          <p:nvPr/>
        </p:nvSpPr>
        <p:spPr>
          <a:xfrm>
            <a:off x="9034272" y="960120"/>
            <a:ext cx="1170432" cy="1005840"/>
          </a:xfrm>
          <a:prstGeom prst="roundRect">
            <a:avLst/>
          </a:prstGeom>
          <a:solidFill>
            <a:srgbClr val="EF4444"/>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79992" y="978408"/>
            <a:ext cx="1078992" cy="553085"/>
          </a:xfrm>
          <a:prstGeom prst="rect">
            <a:avLst/>
          </a:prstGeom>
          <a:noFill/>
        </p:spPr>
        <p:txBody>
          <a:bodyPr wrap="square">
            <a:spAutoFit/>
          </a:bodyPr>
          <a:lstStyle/>
          <a:p>
            <a:pPr algn="ctr"/>
            <a:r>
              <a:rPr sz="1000" b="1">
                <a:solidFill>
                  <a:srgbClr val="FFFFFF"/>
                </a:solidFill>
                <a:latin typeface="Calibri" panose="020F0502020204030204"/>
              </a:rPr>
              <a:t>DISCHARGE
Summary PDF
auto-generated</a:t>
            </a:r>
            <a:endParaRPr sz="1000" b="1">
              <a:solidFill>
                <a:srgbClr val="FFFFFF"/>
              </a:solidFill>
              <a:latin typeface="Calibri" panose="020F0502020204030204"/>
            </a:endParaRPr>
          </a:p>
        </p:txBody>
      </p:sp>
      <p:sp>
        <p:nvSpPr>
          <p:cNvPr id="28" name="Rectangle 27"/>
          <p:cNvSpPr/>
          <p:nvPr/>
        </p:nvSpPr>
        <p:spPr>
          <a:xfrm>
            <a:off x="10213848" y="1452067"/>
            <a:ext cx="73152" cy="2286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Rounded Rectangle 28"/>
          <p:cNvSpPr/>
          <p:nvPr/>
        </p:nvSpPr>
        <p:spPr>
          <a:xfrm>
            <a:off x="10296144" y="960120"/>
            <a:ext cx="1170432" cy="1005840"/>
          </a:xfrm>
          <a:prstGeom prst="roundRect">
            <a:avLst/>
          </a:prstGeom>
          <a:solidFill>
            <a:srgbClr val="22C55E"/>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41864" y="978408"/>
            <a:ext cx="1078992" cy="860425"/>
          </a:xfrm>
          <a:prstGeom prst="rect">
            <a:avLst/>
          </a:prstGeom>
          <a:noFill/>
        </p:spPr>
        <p:txBody>
          <a:bodyPr wrap="square">
            <a:spAutoFit/>
          </a:bodyPr>
          <a:lstStyle/>
          <a:p>
            <a:pPr algn="ctr"/>
            <a:r>
              <a:rPr sz="1000" b="1">
                <a:solidFill>
                  <a:srgbClr val="FFFFFF"/>
                </a:solidFill>
                <a:latin typeface="Calibri" panose="020F0502020204030204"/>
              </a:rPr>
              <a:t>BILLING
Auto-itemized bill
Razorpay payment</a:t>
            </a:r>
            <a:endParaRPr sz="1000" b="1">
              <a:solidFill>
                <a:srgbClr val="FFFFFF"/>
              </a:solidFill>
              <a:latin typeface="Calibri" panose="020F0502020204030204"/>
            </a:endParaRPr>
          </a:p>
        </p:txBody>
      </p:sp>
      <p:sp>
        <p:nvSpPr>
          <p:cNvPr id="31" name="Rounded Rectangle 30"/>
          <p:cNvSpPr/>
          <p:nvPr/>
        </p:nvSpPr>
        <p:spPr>
          <a:xfrm>
            <a:off x="621792" y="612648"/>
            <a:ext cx="329184" cy="292608"/>
          </a:xfrm>
          <a:prstGeom prst="round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1</a:t>
            </a:r>
            <a:endParaRPr sz="1000" b="1">
              <a:solidFill>
                <a:srgbClr val="FFFFFF"/>
              </a:solidFill>
              <a:latin typeface="Calibri" panose="020F0502020204030204"/>
            </a:endParaRPr>
          </a:p>
        </p:txBody>
      </p:sp>
      <p:sp>
        <p:nvSpPr>
          <p:cNvPr id="32" name="Rounded Rectangle 31"/>
          <p:cNvSpPr/>
          <p:nvPr/>
        </p:nvSpPr>
        <p:spPr>
          <a:xfrm>
            <a:off x="1883664" y="612648"/>
            <a:ext cx="329184" cy="292608"/>
          </a:xfrm>
          <a:prstGeom prst="round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2</a:t>
            </a:r>
            <a:endParaRPr sz="1000" b="1">
              <a:solidFill>
                <a:srgbClr val="FFFFFF"/>
              </a:solidFill>
              <a:latin typeface="Calibri" panose="020F0502020204030204"/>
            </a:endParaRPr>
          </a:p>
        </p:txBody>
      </p:sp>
      <p:sp>
        <p:nvSpPr>
          <p:cNvPr id="33" name="Rounded Rectangle 32"/>
          <p:cNvSpPr/>
          <p:nvPr/>
        </p:nvSpPr>
        <p:spPr>
          <a:xfrm>
            <a:off x="3145536" y="612648"/>
            <a:ext cx="329184" cy="292608"/>
          </a:xfrm>
          <a:prstGeom prst="round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3</a:t>
            </a:r>
            <a:endParaRPr sz="1000" b="1">
              <a:solidFill>
                <a:srgbClr val="FFFFFF"/>
              </a:solidFill>
              <a:latin typeface="Calibri" panose="020F0502020204030204"/>
            </a:endParaRPr>
          </a:p>
        </p:txBody>
      </p:sp>
      <p:sp>
        <p:nvSpPr>
          <p:cNvPr id="34" name="Rounded Rectangle 33"/>
          <p:cNvSpPr/>
          <p:nvPr/>
        </p:nvSpPr>
        <p:spPr>
          <a:xfrm>
            <a:off x="4407408" y="612648"/>
            <a:ext cx="329184" cy="292608"/>
          </a:xfrm>
          <a:prstGeom prst="round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4</a:t>
            </a:r>
            <a:endParaRPr sz="1000" b="1">
              <a:solidFill>
                <a:srgbClr val="FFFFFF"/>
              </a:solidFill>
              <a:latin typeface="Calibri" panose="020F0502020204030204"/>
            </a:endParaRPr>
          </a:p>
        </p:txBody>
      </p:sp>
      <p:sp>
        <p:nvSpPr>
          <p:cNvPr id="35" name="Rounded Rectangle 34"/>
          <p:cNvSpPr/>
          <p:nvPr/>
        </p:nvSpPr>
        <p:spPr>
          <a:xfrm>
            <a:off x="5669280" y="612648"/>
            <a:ext cx="329184" cy="292608"/>
          </a:xfrm>
          <a:prstGeom prst="round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5</a:t>
            </a:r>
            <a:endParaRPr sz="1000" b="1">
              <a:solidFill>
                <a:srgbClr val="FFFFFF"/>
              </a:solidFill>
              <a:latin typeface="Calibri" panose="020F0502020204030204"/>
            </a:endParaRPr>
          </a:p>
        </p:txBody>
      </p:sp>
      <p:sp>
        <p:nvSpPr>
          <p:cNvPr id="36" name="Rounded Rectangle 35"/>
          <p:cNvSpPr/>
          <p:nvPr/>
        </p:nvSpPr>
        <p:spPr>
          <a:xfrm>
            <a:off x="6931152" y="612648"/>
            <a:ext cx="329184" cy="292608"/>
          </a:xfrm>
          <a:prstGeom prst="round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6</a:t>
            </a:r>
            <a:endParaRPr sz="1000" b="1">
              <a:solidFill>
                <a:srgbClr val="FFFFFF"/>
              </a:solidFill>
              <a:latin typeface="Calibri" panose="020F0502020204030204"/>
            </a:endParaRPr>
          </a:p>
        </p:txBody>
      </p:sp>
      <p:sp>
        <p:nvSpPr>
          <p:cNvPr id="37" name="Rounded Rectangle 36"/>
          <p:cNvSpPr/>
          <p:nvPr/>
        </p:nvSpPr>
        <p:spPr>
          <a:xfrm>
            <a:off x="8193024" y="612648"/>
            <a:ext cx="329184" cy="292608"/>
          </a:xfrm>
          <a:prstGeom prst="round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7</a:t>
            </a:r>
            <a:endParaRPr sz="1000" b="1">
              <a:solidFill>
                <a:srgbClr val="FFFFFF"/>
              </a:solidFill>
              <a:latin typeface="Calibri" panose="020F0502020204030204"/>
            </a:endParaRPr>
          </a:p>
        </p:txBody>
      </p:sp>
      <p:sp>
        <p:nvSpPr>
          <p:cNvPr id="38" name="Rounded Rectangle 37"/>
          <p:cNvSpPr/>
          <p:nvPr/>
        </p:nvSpPr>
        <p:spPr>
          <a:xfrm>
            <a:off x="9454896" y="612648"/>
            <a:ext cx="329184" cy="292608"/>
          </a:xfrm>
          <a:prstGeom prst="round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8</a:t>
            </a:r>
            <a:endParaRPr sz="1000" b="1">
              <a:solidFill>
                <a:srgbClr val="FFFFFF"/>
              </a:solidFill>
              <a:latin typeface="Calibri" panose="020F0502020204030204"/>
            </a:endParaRPr>
          </a:p>
        </p:txBody>
      </p:sp>
      <p:sp>
        <p:nvSpPr>
          <p:cNvPr id="39" name="Rounded Rectangle 38"/>
          <p:cNvSpPr/>
          <p:nvPr/>
        </p:nvSpPr>
        <p:spPr>
          <a:xfrm>
            <a:off x="10716768" y="612648"/>
            <a:ext cx="329184" cy="292608"/>
          </a:xfrm>
          <a:prstGeom prst="round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9</a:t>
            </a:r>
            <a:endParaRPr sz="1000" b="1">
              <a:solidFill>
                <a:srgbClr val="FFFFFF"/>
              </a:solidFill>
              <a:latin typeface="Calibri" panose="020F0502020204030204"/>
            </a:endParaRPr>
          </a:p>
        </p:txBody>
      </p:sp>
      <p:sp>
        <p:nvSpPr>
          <p:cNvPr id="40" name="TextBox 39"/>
          <p:cNvSpPr txBox="1"/>
          <p:nvPr/>
        </p:nvSpPr>
        <p:spPr>
          <a:xfrm>
            <a:off x="201168" y="2057400"/>
            <a:ext cx="11795760" cy="274320"/>
          </a:xfrm>
          <a:prstGeom prst="rect">
            <a:avLst/>
          </a:prstGeom>
          <a:noFill/>
        </p:spPr>
        <p:txBody>
          <a:bodyPr wrap="square">
            <a:spAutoFit/>
          </a:bodyPr>
          <a:lstStyle/>
          <a:p>
            <a:pPr algn="ctr"/>
            <a:r>
              <a:rPr sz="1100" b="0" i="1">
                <a:solidFill>
                  <a:srgbClr val="94A3B8"/>
                </a:solidFill>
                <a:latin typeface="Calibri" panose="020F0502020204030204"/>
              </a:rPr>
              <a:t>Each step triggers real-time Socket.io notifications to the relevant role</a:t>
            </a:r>
            <a:endParaRPr sz="1100" b="0" i="1">
              <a:solidFill>
                <a:srgbClr val="94A3B8"/>
              </a:solidFill>
              <a:latin typeface="Calibri" panose="020F0502020204030204"/>
            </a:endParaRPr>
          </a:p>
        </p:txBody>
      </p:sp>
      <p:sp>
        <p:nvSpPr>
          <p:cNvPr id="41" name="Rectangle 40"/>
          <p:cNvSpPr/>
          <p:nvPr/>
        </p:nvSpPr>
        <p:spPr>
          <a:xfrm>
            <a:off x="201168" y="2395728"/>
            <a:ext cx="11795760" cy="96012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 y="2423160"/>
            <a:ext cx="11612880" cy="320040"/>
          </a:xfrm>
          <a:prstGeom prst="rect">
            <a:avLst/>
          </a:prstGeom>
          <a:noFill/>
        </p:spPr>
        <p:txBody>
          <a:bodyPr wrap="square">
            <a:spAutoFit/>
          </a:bodyPr>
          <a:lstStyle/>
          <a:p>
            <a:pPr algn="l"/>
            <a:r>
              <a:rPr sz="1200" b="1" i="0">
                <a:solidFill>
                  <a:srgbClr val="00B4D8"/>
                </a:solidFill>
                <a:latin typeface="Calibri" panose="020F0502020204030204"/>
              </a:rPr>
              <a:t>📋  Real Example Flow:</a:t>
            </a:r>
            <a:endParaRPr sz="1200" b="1" i="0">
              <a:solidFill>
                <a:srgbClr val="00B4D8"/>
              </a:solidFill>
              <a:latin typeface="Calibri" panose="020F0502020204030204"/>
            </a:endParaRPr>
          </a:p>
        </p:txBody>
      </p:sp>
      <p:sp>
        <p:nvSpPr>
          <p:cNvPr id="43" name="TextBox 42"/>
          <p:cNvSpPr txBox="1"/>
          <p:nvPr/>
        </p:nvSpPr>
        <p:spPr>
          <a:xfrm>
            <a:off x="274320" y="2743200"/>
            <a:ext cx="11612880" cy="566928"/>
          </a:xfrm>
          <a:prstGeom prst="rect">
            <a:avLst/>
          </a:prstGeom>
          <a:noFill/>
        </p:spPr>
        <p:txBody>
          <a:bodyPr wrap="square">
            <a:spAutoFit/>
          </a:bodyPr>
          <a:lstStyle/>
          <a:p>
            <a:pPr algn="l"/>
            <a:r>
              <a:rPr sz="1000" b="0" i="0">
                <a:solidFill>
                  <a:srgbClr val="FFFFFF"/>
                </a:solidFill>
                <a:latin typeface="Calibri" panose="020F0502020204030204"/>
              </a:rPr>
              <a:t>Patient 'John Doe' (MRN: HMS-2024-001) arrives → Receptionist registers him → Dr. Smith is notified → Nurse records BP=140/90 (flagged HIGH) → Dr. Smith prescribes Amlodipine 5mg → Pharmacist sees it instantly → Lab orders CBC → Results uploaded → Discharge PDF generated → Bill of ₹2,450 sent to patient portal → Patient pays via Razorpay</a:t>
            </a:r>
            <a:endParaRPr sz="1000" b="0" i="0">
              <a:solidFill>
                <a:srgbClr val="FFFFFF"/>
              </a:solidFill>
              <a:latin typeface="Calibri" panose="020F0502020204030204"/>
            </a:endParaRPr>
          </a:p>
        </p:txBody>
      </p:sp>
      <p:sp>
        <p:nvSpPr>
          <p:cNvPr id="44" name="Rectangle 43"/>
          <p:cNvSpPr/>
          <p:nvPr/>
        </p:nvSpPr>
        <p:spPr>
          <a:xfrm>
            <a:off x="201168" y="3429000"/>
            <a:ext cx="11795760" cy="32918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4320" y="3474720"/>
            <a:ext cx="11612880" cy="320040"/>
          </a:xfrm>
          <a:prstGeom prst="rect">
            <a:avLst/>
          </a:prstGeom>
          <a:noFill/>
        </p:spPr>
        <p:txBody>
          <a:bodyPr wrap="square">
            <a:spAutoFit/>
          </a:bodyPr>
          <a:lstStyle/>
          <a:p>
            <a:pPr algn="l"/>
            <a:r>
              <a:rPr sz="1300" b="1" i="0">
                <a:solidFill>
                  <a:srgbClr val="0D2137"/>
                </a:solidFill>
                <a:latin typeface="Calibri" panose="020F0502020204030204"/>
              </a:rPr>
              <a:t>Key Clinical Features:</a:t>
            </a:r>
            <a:endParaRPr sz="1300" b="1" i="0">
              <a:solidFill>
                <a:srgbClr val="0D2137"/>
              </a:solidFill>
              <a:latin typeface="Calibri" panose="020F0502020204030204"/>
            </a:endParaRPr>
          </a:p>
        </p:txBody>
      </p:sp>
      <p:sp>
        <p:nvSpPr>
          <p:cNvPr id="46" name="TextBox 45"/>
          <p:cNvSpPr txBox="1"/>
          <p:nvPr/>
        </p:nvSpPr>
        <p:spPr>
          <a:xfrm>
            <a:off x="274320" y="3794760"/>
            <a:ext cx="5669280" cy="2122805"/>
          </a:xfrm>
          <a:prstGeom prst="rect">
            <a:avLst/>
          </a:prstGeom>
          <a:noFill/>
        </p:spPr>
        <p:txBody>
          <a:bodyPr wrap="square">
            <a:spAutoFit/>
          </a:bodyPr>
          <a:lstStyle/>
          <a:p>
            <a:pPr algn="l">
              <a:spcBef>
                <a:spcPts val="400"/>
              </a:spcBef>
              <a:spcAft>
                <a:spcPts val="200"/>
              </a:spcAft>
            </a:pPr>
            <a:r>
              <a:rPr sz="1400">
                <a:solidFill>
                  <a:srgbClr val="1E293B"/>
                </a:solidFill>
                <a:latin typeface="Calibri" panose="020F0502020204030204"/>
              </a:rPr>
              <a:t>  •  MRN auto-generated: HMS-YYYY-NNNN format, unique per patient</a:t>
            </a:r>
            <a:endParaRPr sz="1400">
              <a:solidFill>
                <a:srgbClr val="1E293B"/>
              </a:solidFill>
              <a:latin typeface="Calibri" panose="020F0502020204030204"/>
            </a:endParaRPr>
          </a:p>
          <a:p>
            <a:pPr algn="l">
              <a:spcBef>
                <a:spcPts val="400"/>
              </a:spcBef>
              <a:spcAft>
                <a:spcPts val="200"/>
              </a:spcAft>
            </a:pPr>
            <a:r>
              <a:rPr sz="1400">
                <a:solidFill>
                  <a:srgbClr val="1E293B"/>
                </a:solidFill>
                <a:latin typeface="Calibri" panose="020F0502020204030204"/>
              </a:rPr>
              <a:t>  •  Appointment types: In-Person, Telemedicine, Follow-up, Emergency</a:t>
            </a:r>
            <a:endParaRPr sz="1400">
              <a:solidFill>
                <a:srgbClr val="1E293B"/>
              </a:solidFill>
              <a:latin typeface="Calibri" panose="020F0502020204030204"/>
            </a:endParaRPr>
          </a:p>
          <a:p>
            <a:pPr algn="l">
              <a:spcBef>
                <a:spcPts val="400"/>
              </a:spcBef>
              <a:spcAft>
                <a:spcPts val="200"/>
              </a:spcAft>
            </a:pPr>
            <a:r>
              <a:rPr sz="1400">
                <a:solidFill>
                  <a:srgbClr val="1E293B"/>
                </a:solidFill>
                <a:latin typeface="Calibri" panose="020F0502020204030204"/>
              </a:rPr>
              <a:t>  •  Vitals alerts: SpO2 &lt; 95%, BP &gt; 140/90, Temp &gt; 38.5°C flagged automatically</a:t>
            </a:r>
            <a:endParaRPr sz="1400">
              <a:solidFill>
                <a:srgbClr val="1E293B"/>
              </a:solidFill>
              <a:latin typeface="Calibri" panose="020F0502020204030204"/>
            </a:endParaRPr>
          </a:p>
          <a:p>
            <a:pPr algn="l">
              <a:spcBef>
                <a:spcPts val="400"/>
              </a:spcBef>
              <a:spcAft>
                <a:spcPts val="200"/>
              </a:spcAft>
            </a:pPr>
            <a:r>
              <a:rPr sz="1400">
                <a:solidFill>
                  <a:srgbClr val="1E293B"/>
                </a:solidFill>
                <a:latin typeface="Calibri" panose="020F0502020204030204"/>
              </a:rPr>
              <a:t>  •  Medicine database: searchable, with dosage, frequency, and interaction notes</a:t>
            </a:r>
            <a:endParaRPr sz="1400">
              <a:solidFill>
                <a:srgbClr val="1E293B"/>
              </a:solidFill>
              <a:latin typeface="Calibri" panose="020F0502020204030204"/>
            </a:endParaRPr>
          </a:p>
          <a:p>
            <a:pPr algn="l">
              <a:spcBef>
                <a:spcPts val="400"/>
              </a:spcBef>
              <a:spcAft>
                <a:spcPts val="200"/>
              </a:spcAft>
            </a:pPr>
            <a:r>
              <a:rPr sz="1400">
                <a:solidFill>
                  <a:srgbClr val="1E293B"/>
                </a:solidFill>
                <a:latin typeface="Calibri" panose="020F0502020204030204"/>
              </a:rPr>
              <a:t>  •  Lab workflow: 15+ test types, result interpretation, abnormal value flagging</a:t>
            </a:r>
            <a:endParaRPr sz="1400">
              <a:solidFill>
                <a:srgbClr val="1E293B"/>
              </a:solidFill>
              <a:latin typeface="Calibri" panose="020F0502020204030204"/>
            </a:endParaRPr>
          </a:p>
        </p:txBody>
      </p:sp>
      <p:sp>
        <p:nvSpPr>
          <p:cNvPr id="47" name="TextBox 46"/>
          <p:cNvSpPr txBox="1"/>
          <p:nvPr/>
        </p:nvSpPr>
        <p:spPr>
          <a:xfrm>
            <a:off x="6040755" y="3794760"/>
            <a:ext cx="5669280" cy="2122805"/>
          </a:xfrm>
          <a:prstGeom prst="rect">
            <a:avLst/>
          </a:prstGeom>
          <a:noFill/>
        </p:spPr>
        <p:txBody>
          <a:bodyPr wrap="square">
            <a:spAutoFit/>
          </a:bodyPr>
          <a:lstStyle/>
          <a:p>
            <a:pPr algn="l">
              <a:spcBef>
                <a:spcPts val="400"/>
              </a:spcBef>
              <a:spcAft>
                <a:spcPts val="200"/>
              </a:spcAft>
            </a:pPr>
            <a:r>
              <a:rPr sz="1400">
                <a:solidFill>
                  <a:srgbClr val="1E293B"/>
                </a:solidFill>
                <a:latin typeface="Calibri" panose="020F0502020204030204"/>
              </a:rPr>
              <a:t>  •  Prescription PDF: auto-generated with doctor signature block via Puppeteer</a:t>
            </a:r>
            <a:endParaRPr sz="1400">
              <a:solidFill>
                <a:srgbClr val="1E293B"/>
              </a:solidFill>
              <a:latin typeface="Calibri" panose="020F0502020204030204"/>
            </a:endParaRPr>
          </a:p>
          <a:p>
            <a:pPr algn="l">
              <a:spcBef>
                <a:spcPts val="400"/>
              </a:spcBef>
              <a:spcAft>
                <a:spcPts val="200"/>
              </a:spcAft>
            </a:pPr>
            <a:r>
              <a:rPr sz="1400">
                <a:solidFill>
                  <a:srgbClr val="1E293B"/>
                </a:solidFill>
                <a:latin typeface="Calibri" panose="020F0502020204030204"/>
              </a:rPr>
              <a:t>  •  Discharge summary: includes diagnosis, medications, follow-up date, doctor notes</a:t>
            </a:r>
            <a:endParaRPr sz="1400">
              <a:solidFill>
                <a:srgbClr val="1E293B"/>
              </a:solidFill>
              <a:latin typeface="Calibri" panose="020F0502020204030204"/>
            </a:endParaRPr>
          </a:p>
          <a:p>
            <a:pPr algn="l">
              <a:spcBef>
                <a:spcPts val="400"/>
              </a:spcBef>
              <a:spcAft>
                <a:spcPts val="200"/>
              </a:spcAft>
            </a:pPr>
            <a:r>
              <a:rPr sz="1400">
                <a:solidFill>
                  <a:srgbClr val="1E293B"/>
                </a:solidFill>
                <a:latin typeface="Calibri" panose="020F0502020204030204"/>
              </a:rPr>
              <a:t>  •  Telemedicine: Socket.io WebRTC signaling for video consultations</a:t>
            </a:r>
            <a:endParaRPr sz="1400">
              <a:solidFill>
                <a:srgbClr val="1E293B"/>
              </a:solidFill>
              <a:latin typeface="Calibri" panose="020F0502020204030204"/>
            </a:endParaRPr>
          </a:p>
          <a:p>
            <a:pPr algn="l">
              <a:spcBef>
                <a:spcPts val="400"/>
              </a:spcBef>
              <a:spcAft>
                <a:spcPts val="200"/>
              </a:spcAft>
            </a:pPr>
            <a:r>
              <a:rPr sz="1400">
                <a:solidFill>
                  <a:srgbClr val="1E293B"/>
                </a:solidFill>
                <a:latin typeface="Calibri" panose="020F0502020204030204"/>
              </a:rPr>
              <a:t>  •  OT Scheduling: surgeon + anesthetist assignment, procedure tracking</a:t>
            </a:r>
            <a:endParaRPr sz="1400">
              <a:solidFill>
                <a:srgbClr val="1E293B"/>
              </a:solidFill>
              <a:latin typeface="Calibri" panose="020F0502020204030204"/>
            </a:endParaRPr>
          </a:p>
          <a:p>
            <a:pPr algn="l">
              <a:spcBef>
                <a:spcPts val="400"/>
              </a:spcBef>
              <a:spcAft>
                <a:spcPts val="200"/>
              </a:spcAft>
            </a:pPr>
            <a:r>
              <a:rPr sz="1400">
                <a:solidFill>
                  <a:srgbClr val="1E293B"/>
                </a:solidFill>
                <a:latin typeface="Calibri" panose="020F0502020204030204"/>
              </a:rPr>
              <a:t>  •  Handover notes: shift-to-shift clinical handover documentation for nurses</a:t>
            </a:r>
            <a:endParaRPr sz="1400">
              <a:solidFill>
                <a:srgbClr val="1E293B"/>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583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502920"/>
          </a:xfrm>
          <a:prstGeom prst="rect">
            <a:avLst/>
          </a:prstGeom>
          <a:noFill/>
        </p:spPr>
        <p:txBody>
          <a:bodyPr wrap="square">
            <a:spAutoFit/>
          </a:bodyPr>
          <a:lstStyle/>
          <a:p>
            <a:pPr algn="l"/>
            <a:r>
              <a:rPr sz="2000" b="1" i="0">
                <a:solidFill>
                  <a:srgbClr val="FFFFFF"/>
                </a:solidFill>
                <a:latin typeface="Calibri" panose="020F0502020204030204"/>
              </a:rPr>
              <a:t>Core Clinical Features — With Examples</a:t>
            </a:r>
            <a:endParaRPr sz="2000" b="1" i="0">
              <a:solidFill>
                <a:srgbClr val="FFFFFF"/>
              </a:solidFill>
              <a:latin typeface="Calibri" panose="020F0502020204030204"/>
            </a:endParaRPr>
          </a:p>
        </p:txBody>
      </p:sp>
      <p:sp>
        <p:nvSpPr>
          <p:cNvPr id="4" name="Rectangle 3"/>
          <p:cNvSpPr/>
          <p:nvPr/>
        </p:nvSpPr>
        <p:spPr>
          <a:xfrm>
            <a:off x="0" y="658368"/>
            <a:ext cx="109728" cy="61996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749808"/>
            <a:ext cx="11795760" cy="59893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822960"/>
            <a:ext cx="11430000" cy="4397375"/>
          </a:xfrm>
          <a:prstGeom prst="rect">
            <a:avLst/>
          </a:prstGeom>
          <a:noFill/>
        </p:spPr>
        <p:txBody>
          <a:bodyPr wrap="square">
            <a:spAutoFit/>
          </a:bodyPr>
          <a:lstStyle/>
          <a:p>
            <a:pPr algn="l">
              <a:spcBef>
                <a:spcPts val="300"/>
              </a:spcBef>
              <a:spcAft>
                <a:spcPts val="200"/>
              </a:spcAft>
            </a:pPr>
            <a:r>
              <a:rPr>
                <a:solidFill>
                  <a:srgbClr val="1E293B"/>
                </a:solidFill>
                <a:latin typeface="Calibri" panose="020F0502020204030204"/>
              </a:rPr>
              <a:t>  🏥  Patient Registration &amp; MRN: Receptionist fills form → system creates user account + patient record in one DB transaction</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Patient 'Sara Ali' gets MRN HMS-2024-042, temp password emailed, can log into patient portal immediately</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Appointment Scheduling: 3 types — In-Person, Telemedicine, Follow-up — with doctor availability calendar</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Patient books telemedicine with Dr. Ahmed for 3pm → both receive Socket.io notification + email reminder</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Vital Signs: Nurse records Temp, BP (systolic/diastolic), Pulse, SpO2, Respiratory Rate, BMI with timestamp</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SpO2 = 91% recorded → system flags as CRITICAL → doctor notified instantly via real-time alert</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Prescription Management: Doctor selects from medicine DB, sets dosage/frequency/duration, adds notes</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'Metformin 500mg twice daily for 30 days' → pharmacist queue updated → patient PDF ready in 2 seconds</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Lab Orders: Doctor orders CBC, LFT, RFT, etc. → Lab tech uploads results → doctor reviews → patient notified</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HbA1c result = 8.2% (HIGH) → auto-flagged → doctor sees red badge on lab results panel</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Discharge Summary: Auto-PDF with final diagnosis, all medications, follow-up date, doctor signature block</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Patient discharged → PDF generated in 3 seconds via Puppeteer → downloadable from patient portal</a:t>
            </a:r>
            <a:endParaRPr>
              <a:solidFill>
                <a:srgbClr val="1E293B"/>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583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502920"/>
          </a:xfrm>
          <a:prstGeom prst="rect">
            <a:avLst/>
          </a:prstGeom>
          <a:noFill/>
        </p:spPr>
        <p:txBody>
          <a:bodyPr wrap="square">
            <a:spAutoFit/>
          </a:bodyPr>
          <a:lstStyle/>
          <a:p>
            <a:pPr algn="l"/>
            <a:r>
              <a:rPr sz="2000" b="1" i="0">
                <a:solidFill>
                  <a:srgbClr val="FFFFFF"/>
                </a:solidFill>
                <a:latin typeface="Calibri" panose="020F0502020204030204"/>
              </a:rPr>
              <a:t>Operational Features — With Examples</a:t>
            </a:r>
            <a:endParaRPr sz="2000" b="1" i="0">
              <a:solidFill>
                <a:srgbClr val="FFFFFF"/>
              </a:solidFill>
              <a:latin typeface="Calibri" panose="020F0502020204030204"/>
            </a:endParaRPr>
          </a:p>
        </p:txBody>
      </p:sp>
      <p:sp>
        <p:nvSpPr>
          <p:cNvPr id="4" name="Rectangle 3"/>
          <p:cNvSpPr/>
          <p:nvPr/>
        </p:nvSpPr>
        <p:spPr>
          <a:xfrm>
            <a:off x="0" y="658368"/>
            <a:ext cx="109728" cy="61996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749808"/>
            <a:ext cx="11795760" cy="59893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822960"/>
            <a:ext cx="11430000" cy="5782310"/>
          </a:xfrm>
          <a:prstGeom prst="rect">
            <a:avLst/>
          </a:prstGeom>
          <a:noFill/>
        </p:spPr>
        <p:txBody>
          <a:bodyPr wrap="square">
            <a:spAutoFit/>
          </a:bodyPr>
          <a:lstStyle/>
          <a:p>
            <a:pPr algn="l">
              <a:spcBef>
                <a:spcPts val="300"/>
              </a:spcBef>
              <a:spcAft>
                <a:spcPts val="200"/>
              </a:spcAft>
            </a:pPr>
            <a:r>
              <a:rPr>
                <a:solidFill>
                  <a:srgbClr val="1E293B"/>
                </a:solidFill>
                <a:latin typeface="Calibri" panose="020F0502020204030204"/>
              </a:rPr>
              <a:t>  🛏️  Bed Matrix: Real-time grid of all beds — Available (green), Occupied (red), Maintenance (yellow) — with patient name</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Ward 2 has 3 available beds — receptionist assigns 'John Doe' to Bed 2B with one click</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Blood Bank: Tracks units by type (A+, O-, etc.), component (whole/plasma/platelets), expiry, and transfusion history</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Nurse searches O-negative → sees 4 units available, 1 expiring in 2 days — requests unit → logged with patient ID</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Inventory + QR Codes: Stock items with reorder levels; QR code printed on physical items for instant scan-to-update</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Nurse scans QR on IV bag → system deducts 1 unit from stock → if stock &lt; 10, email alert sent to inventory manager</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OT Scheduling: Theater bookings with surgeon, anesthetist, procedure type, duration, and pre-op checklist</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Dr. Khan schedules appendectomy in OT-1 at 9am → anesthetist Dr. Raza auto-notified → OT calendar updated</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Shift &amp; Leave Management: Staff scheduling with swap requests; leave applications with balance tracking and approval</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Nurse applies for 3 days leave → HR manager approves → leave balance deducted → shift auto-reassigned</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Visitor Management: Check-in/out with visitor name, relationship, badge number, and security officer log</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Visitor 'Ahmed (son of patient)' checked in at 2pm, badge #V-045 issued, checked out at 4pm — full log maintained</a:t>
            </a:r>
            <a:endParaRPr>
              <a:solidFill>
                <a:srgbClr val="1E293B"/>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583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502920"/>
          </a:xfrm>
          <a:prstGeom prst="rect">
            <a:avLst/>
          </a:prstGeom>
          <a:noFill/>
        </p:spPr>
        <p:txBody>
          <a:bodyPr wrap="square">
            <a:spAutoFit/>
          </a:bodyPr>
          <a:lstStyle/>
          <a:p>
            <a:pPr algn="l"/>
            <a:r>
              <a:rPr sz="2000" b="1" i="0">
                <a:solidFill>
                  <a:srgbClr val="FFFFFF"/>
                </a:solidFill>
                <a:latin typeface="Calibri" panose="020F0502020204030204"/>
              </a:rPr>
              <a:t>Security Architecture — Login Flow &amp; Token Lifecycle (Flowchart)</a:t>
            </a:r>
            <a:endParaRPr sz="2000" b="1" i="0">
              <a:solidFill>
                <a:srgbClr val="FFFFFF"/>
              </a:solidFill>
              <a:latin typeface="Calibri" panose="020F0502020204030204"/>
            </a:endParaRPr>
          </a:p>
        </p:txBody>
      </p:sp>
      <p:sp>
        <p:nvSpPr>
          <p:cNvPr id="4" name="Rectangle 3"/>
          <p:cNvSpPr/>
          <p:nvPr/>
        </p:nvSpPr>
        <p:spPr>
          <a:xfrm>
            <a:off x="0" y="658368"/>
            <a:ext cx="109728" cy="61996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1344168"/>
            <a:ext cx="5486400" cy="337185"/>
          </a:xfrm>
          <a:prstGeom prst="rect">
            <a:avLst/>
          </a:prstGeom>
          <a:noFill/>
        </p:spPr>
        <p:txBody>
          <a:bodyPr wrap="square">
            <a:spAutoFit/>
          </a:bodyPr>
          <a:lstStyle/>
          <a:p>
            <a:pPr algn="ctr"/>
            <a:r>
              <a:rPr sz="1600" b="1" i="0">
                <a:solidFill>
                  <a:srgbClr val="0D2137"/>
                </a:solidFill>
                <a:latin typeface="Calibri" panose="020F0502020204030204"/>
              </a:rPr>
              <a:t>LOGIN FLOW</a:t>
            </a:r>
            <a:endParaRPr sz="1600" b="1" i="0">
              <a:solidFill>
                <a:srgbClr val="0D2137"/>
              </a:solidFill>
              <a:latin typeface="Calibri" panose="020F0502020204030204"/>
            </a:endParaRPr>
          </a:p>
        </p:txBody>
      </p:sp>
      <p:sp>
        <p:nvSpPr>
          <p:cNvPr id="6" name="Rectangle 5"/>
          <p:cNvSpPr/>
          <p:nvPr/>
        </p:nvSpPr>
        <p:spPr>
          <a:xfrm>
            <a:off x="201168" y="829818"/>
            <a:ext cx="5486400" cy="3200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 y="829818"/>
            <a:ext cx="5486400" cy="320040"/>
          </a:xfrm>
          <a:prstGeom prst="rect">
            <a:avLst/>
          </a:prstGeom>
          <a:noFill/>
        </p:spPr>
        <p:txBody>
          <a:bodyPr wrap="square">
            <a:spAutoFit/>
          </a:bodyPr>
          <a:lstStyle/>
          <a:p>
            <a:pPr algn="ctr"/>
            <a:r>
              <a:rPr sz="1200" b="1" i="0">
                <a:solidFill>
                  <a:srgbClr val="FFFFFF"/>
                </a:solidFill>
                <a:latin typeface="Calibri" panose="020F0502020204030204"/>
              </a:rPr>
              <a:t>LOGIN FLOW</a:t>
            </a:r>
            <a:endParaRPr sz="1200" b="1" i="0">
              <a:solidFill>
                <a:srgbClr val="FFFFFF"/>
              </a:solidFill>
              <a:latin typeface="Calibri" panose="020F0502020204030204"/>
            </a:endParaRPr>
          </a:p>
        </p:txBody>
      </p:sp>
      <p:sp>
        <p:nvSpPr>
          <p:cNvPr id="8" name="Rounded Rectangle 7"/>
          <p:cNvSpPr/>
          <p:nvPr/>
        </p:nvSpPr>
        <p:spPr>
          <a:xfrm>
            <a:off x="320040" y="1399032"/>
            <a:ext cx="5212080" cy="566928"/>
          </a:xfrm>
          <a:prstGeom prst="roundRect">
            <a:avLst/>
          </a:prstGeom>
          <a:solidFill>
            <a:srgbClr val="00B4D8"/>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365759" y="1417320"/>
            <a:ext cx="5120640" cy="460375"/>
          </a:xfrm>
          <a:prstGeom prst="rect">
            <a:avLst/>
          </a:prstGeom>
          <a:noFill/>
        </p:spPr>
        <p:txBody>
          <a:bodyPr wrap="square">
            <a:spAutoFit/>
          </a:bodyPr>
          <a:lstStyle/>
          <a:p>
            <a:pPr algn="ctr"/>
            <a:r>
              <a:rPr sz="1200" b="1">
                <a:solidFill>
                  <a:srgbClr val="FFFFFF"/>
                </a:solidFill>
                <a:latin typeface="Calibri" panose="020F0502020204030204"/>
              </a:rPr>
              <a:t>User submits
username + password</a:t>
            </a:r>
            <a:endParaRPr sz="1200" b="1">
              <a:solidFill>
                <a:srgbClr val="FFFFFF"/>
              </a:solidFill>
              <a:latin typeface="Calibri" panose="020F0502020204030204"/>
            </a:endParaRPr>
          </a:p>
        </p:txBody>
      </p:sp>
      <p:sp>
        <p:nvSpPr>
          <p:cNvPr id="10" name="Rectangle 9"/>
          <p:cNvSpPr/>
          <p:nvPr/>
        </p:nvSpPr>
        <p:spPr>
          <a:xfrm>
            <a:off x="1984248" y="1965960"/>
            <a:ext cx="22860" cy="16459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Diamond 10"/>
          <p:cNvSpPr/>
          <p:nvPr/>
        </p:nvSpPr>
        <p:spPr>
          <a:xfrm>
            <a:off x="320040" y="2075688"/>
            <a:ext cx="5212080" cy="566928"/>
          </a:xfrm>
          <a:prstGeom prst="diamond">
            <a:avLst/>
          </a:prstGeom>
          <a:solidFill>
            <a:srgbClr val="F59E0B"/>
          </a:solidFill>
          <a:ln>
            <a:solidFill>
              <a:srgbClr val="D97F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1"/>
          <p:cNvSpPr txBox="1"/>
          <p:nvPr/>
        </p:nvSpPr>
        <p:spPr>
          <a:xfrm>
            <a:off x="365759" y="2121408"/>
            <a:ext cx="5120640" cy="275590"/>
          </a:xfrm>
          <a:prstGeom prst="rect">
            <a:avLst/>
          </a:prstGeom>
          <a:noFill/>
        </p:spPr>
        <p:txBody>
          <a:bodyPr wrap="square">
            <a:spAutoFit/>
          </a:bodyPr>
          <a:lstStyle/>
          <a:p>
            <a:pPr algn="ctr"/>
            <a:r>
              <a:rPr sz="1200" b="1">
                <a:solidFill>
                  <a:srgbClr val="1E293B"/>
                </a:solidFill>
                <a:latin typeface="Calibri" panose="020F0502020204030204"/>
              </a:rPr>
              <a:t>IP Blocked?</a:t>
            </a:r>
            <a:endParaRPr sz="1200" b="1">
              <a:solidFill>
                <a:srgbClr val="1E293B"/>
              </a:solidFill>
              <a:latin typeface="Calibri" panose="020F0502020204030204"/>
            </a:endParaRPr>
          </a:p>
        </p:txBody>
      </p:sp>
      <p:sp>
        <p:nvSpPr>
          <p:cNvPr id="13" name="Rectangle 12"/>
          <p:cNvSpPr/>
          <p:nvPr/>
        </p:nvSpPr>
        <p:spPr>
          <a:xfrm>
            <a:off x="1984248" y="2642616"/>
            <a:ext cx="22860" cy="16459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Diamond 13"/>
          <p:cNvSpPr/>
          <p:nvPr/>
        </p:nvSpPr>
        <p:spPr>
          <a:xfrm>
            <a:off x="320040" y="2807208"/>
            <a:ext cx="5212080" cy="566928"/>
          </a:xfrm>
          <a:prstGeom prst="diamond">
            <a:avLst/>
          </a:prstGeom>
          <a:solidFill>
            <a:srgbClr val="F59E0B"/>
          </a:solidFill>
          <a:ln>
            <a:solidFill>
              <a:srgbClr val="D97F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365759" y="2852928"/>
            <a:ext cx="5120640" cy="460375"/>
          </a:xfrm>
          <a:prstGeom prst="rect">
            <a:avLst/>
          </a:prstGeom>
          <a:noFill/>
        </p:spPr>
        <p:txBody>
          <a:bodyPr wrap="square">
            <a:spAutoFit/>
          </a:bodyPr>
          <a:lstStyle/>
          <a:p>
            <a:pPr algn="ctr"/>
            <a:r>
              <a:rPr sz="1200" b="1">
                <a:solidFill>
                  <a:srgbClr val="1E293B"/>
                </a:solidFill>
                <a:latin typeface="Calibri" panose="020F0502020204030204"/>
              </a:rPr>
              <a:t>Rate Limited?
(20 attempts/15min)</a:t>
            </a:r>
            <a:endParaRPr sz="1200" b="1">
              <a:solidFill>
                <a:srgbClr val="1E293B"/>
              </a:solidFill>
              <a:latin typeface="Calibri" panose="020F0502020204030204"/>
            </a:endParaRPr>
          </a:p>
        </p:txBody>
      </p:sp>
      <p:sp>
        <p:nvSpPr>
          <p:cNvPr id="16" name="Rectangle 15"/>
          <p:cNvSpPr/>
          <p:nvPr/>
        </p:nvSpPr>
        <p:spPr>
          <a:xfrm>
            <a:off x="1984248" y="3374136"/>
            <a:ext cx="22860" cy="16459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Diamond 16"/>
          <p:cNvSpPr/>
          <p:nvPr/>
        </p:nvSpPr>
        <p:spPr>
          <a:xfrm>
            <a:off x="320040" y="3538728"/>
            <a:ext cx="5212080" cy="566928"/>
          </a:xfrm>
          <a:prstGeom prst="diamond">
            <a:avLst/>
          </a:prstGeom>
          <a:solidFill>
            <a:srgbClr val="F59E0B"/>
          </a:solidFill>
          <a:ln>
            <a:solidFill>
              <a:srgbClr val="D97F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7"/>
          <p:cNvSpPr txBox="1"/>
          <p:nvPr/>
        </p:nvSpPr>
        <p:spPr>
          <a:xfrm>
            <a:off x="365759" y="3584448"/>
            <a:ext cx="5120640" cy="460375"/>
          </a:xfrm>
          <a:prstGeom prst="rect">
            <a:avLst/>
          </a:prstGeom>
          <a:noFill/>
        </p:spPr>
        <p:txBody>
          <a:bodyPr wrap="square">
            <a:spAutoFit/>
          </a:bodyPr>
          <a:lstStyle/>
          <a:p>
            <a:pPr algn="ctr"/>
            <a:r>
              <a:rPr sz="1200" b="1">
                <a:solidFill>
                  <a:srgbClr val="1E293B"/>
                </a:solidFill>
                <a:latin typeface="Calibri" panose="020F0502020204030204"/>
              </a:rPr>
              <a:t>Account Locked?
(5 fails = 15min lock)</a:t>
            </a:r>
            <a:endParaRPr sz="1200" b="1">
              <a:solidFill>
                <a:srgbClr val="1E293B"/>
              </a:solidFill>
              <a:latin typeface="Calibri" panose="020F0502020204030204"/>
            </a:endParaRPr>
          </a:p>
        </p:txBody>
      </p:sp>
      <p:sp>
        <p:nvSpPr>
          <p:cNvPr id="19" name="Rectangle 18"/>
          <p:cNvSpPr/>
          <p:nvPr/>
        </p:nvSpPr>
        <p:spPr>
          <a:xfrm>
            <a:off x="1984248" y="4105656"/>
            <a:ext cx="22860" cy="16459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Rounded Rectangle 19"/>
          <p:cNvSpPr/>
          <p:nvPr/>
        </p:nvSpPr>
        <p:spPr>
          <a:xfrm>
            <a:off x="320040" y="4270247"/>
            <a:ext cx="5212080" cy="566928"/>
          </a:xfrm>
          <a:prstGeom prst="roundRect">
            <a:avLst/>
          </a:prstGeom>
          <a:solidFill>
            <a:srgbClr val="00B4D8"/>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TextBox 20"/>
          <p:cNvSpPr txBox="1"/>
          <p:nvPr/>
        </p:nvSpPr>
        <p:spPr>
          <a:xfrm>
            <a:off x="365759" y="4288535"/>
            <a:ext cx="5120640" cy="460375"/>
          </a:xfrm>
          <a:prstGeom prst="rect">
            <a:avLst/>
          </a:prstGeom>
          <a:noFill/>
        </p:spPr>
        <p:txBody>
          <a:bodyPr wrap="square">
            <a:spAutoFit/>
          </a:bodyPr>
          <a:lstStyle/>
          <a:p>
            <a:pPr algn="ctr"/>
            <a:r>
              <a:rPr sz="1200" b="1">
                <a:solidFill>
                  <a:srgbClr val="FFFFFF"/>
                </a:solidFill>
                <a:latin typeface="Calibri" panose="020F0502020204030204"/>
              </a:rPr>
              <a:t>Argon2id verify
password hash</a:t>
            </a:r>
            <a:endParaRPr sz="1200" b="1">
              <a:solidFill>
                <a:srgbClr val="FFFFFF"/>
              </a:solidFill>
              <a:latin typeface="Calibri" panose="020F0502020204030204"/>
            </a:endParaRPr>
          </a:p>
        </p:txBody>
      </p:sp>
      <p:sp>
        <p:nvSpPr>
          <p:cNvPr id="22" name="Rectangle 21"/>
          <p:cNvSpPr/>
          <p:nvPr/>
        </p:nvSpPr>
        <p:spPr>
          <a:xfrm>
            <a:off x="1984248" y="4837176"/>
            <a:ext cx="22860" cy="16459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Rounded Rectangle 22"/>
          <p:cNvSpPr/>
          <p:nvPr/>
        </p:nvSpPr>
        <p:spPr>
          <a:xfrm>
            <a:off x="320040" y="5001768"/>
            <a:ext cx="5212080" cy="566928"/>
          </a:xfrm>
          <a:prstGeom prst="roundRect">
            <a:avLst/>
          </a:prstGeom>
          <a:solidFill>
            <a:srgbClr val="22C55E"/>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365759" y="5020056"/>
            <a:ext cx="5120640" cy="645160"/>
          </a:xfrm>
          <a:prstGeom prst="rect">
            <a:avLst/>
          </a:prstGeom>
          <a:noFill/>
        </p:spPr>
        <p:txBody>
          <a:bodyPr wrap="square">
            <a:spAutoFit/>
          </a:bodyPr>
          <a:lstStyle/>
          <a:p>
            <a:pPr algn="ctr"/>
            <a:r>
              <a:rPr sz="1200" b="1">
                <a:solidFill>
                  <a:srgbClr val="FFFFFF"/>
                </a:solidFill>
                <a:latin typeface="Calibri" panose="020F0502020204030204"/>
              </a:rPr>
              <a:t>Issue RS256 JWT
(15min) + Refresh Token
(7 days, Redis)</a:t>
            </a:r>
            <a:endParaRPr sz="1200" b="1">
              <a:solidFill>
                <a:srgbClr val="FFFFFF"/>
              </a:solidFill>
              <a:latin typeface="Calibri" panose="020F0502020204030204"/>
            </a:endParaRPr>
          </a:p>
        </p:txBody>
      </p:sp>
      <p:sp>
        <p:nvSpPr>
          <p:cNvPr id="31" name="Rectangle 30"/>
          <p:cNvSpPr/>
          <p:nvPr/>
        </p:nvSpPr>
        <p:spPr>
          <a:xfrm>
            <a:off x="5989320" y="829818"/>
            <a:ext cx="5989320" cy="3200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89320" y="829818"/>
            <a:ext cx="5989320" cy="320040"/>
          </a:xfrm>
          <a:prstGeom prst="rect">
            <a:avLst/>
          </a:prstGeom>
          <a:noFill/>
        </p:spPr>
        <p:txBody>
          <a:bodyPr wrap="square">
            <a:spAutoFit/>
          </a:bodyPr>
          <a:lstStyle/>
          <a:p>
            <a:pPr algn="ctr"/>
            <a:r>
              <a:rPr sz="1200" b="1" i="0">
                <a:solidFill>
                  <a:srgbClr val="FFFFFF"/>
                </a:solidFill>
                <a:latin typeface="Calibri" panose="020F0502020204030204"/>
              </a:rPr>
              <a:t>TOKEN LIFECYCLE</a:t>
            </a:r>
            <a:endParaRPr sz="1200" b="1" i="0">
              <a:solidFill>
                <a:srgbClr val="FFFFFF"/>
              </a:solidFill>
              <a:latin typeface="Calibri" panose="020F0502020204030204"/>
            </a:endParaRPr>
          </a:p>
        </p:txBody>
      </p:sp>
      <p:sp>
        <p:nvSpPr>
          <p:cNvPr id="33" name="Rounded Rectangle 32"/>
          <p:cNvSpPr/>
          <p:nvPr/>
        </p:nvSpPr>
        <p:spPr>
          <a:xfrm>
            <a:off x="6126480" y="1399032"/>
            <a:ext cx="5669280" cy="566928"/>
          </a:xfrm>
          <a:prstGeom prst="roundRect">
            <a:avLst/>
          </a:prstGeom>
          <a:solidFill>
            <a:srgbClr val="00B4D8"/>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4" name="TextBox 33"/>
          <p:cNvSpPr txBox="1"/>
          <p:nvPr/>
        </p:nvSpPr>
        <p:spPr>
          <a:xfrm>
            <a:off x="6172200" y="1417320"/>
            <a:ext cx="5577840" cy="645160"/>
          </a:xfrm>
          <a:prstGeom prst="rect">
            <a:avLst/>
          </a:prstGeom>
          <a:noFill/>
        </p:spPr>
        <p:txBody>
          <a:bodyPr wrap="square">
            <a:spAutoFit/>
          </a:bodyPr>
          <a:lstStyle/>
          <a:p>
            <a:pPr algn="ctr"/>
            <a:r>
              <a:rPr sz="1200" b="1">
                <a:solidFill>
                  <a:srgbClr val="FFFFFF"/>
                </a:solidFill>
                <a:latin typeface="Calibri" panose="020F0502020204030204"/>
              </a:rPr>
              <a:t>Access Token (JWT RS256)
15-minute expiry
Contains: userId, role, sessionId</a:t>
            </a:r>
            <a:endParaRPr sz="1200" b="1">
              <a:solidFill>
                <a:srgbClr val="FFFFFF"/>
              </a:solidFill>
              <a:latin typeface="Calibri" panose="020F0502020204030204"/>
            </a:endParaRPr>
          </a:p>
        </p:txBody>
      </p:sp>
      <p:sp>
        <p:nvSpPr>
          <p:cNvPr id="35" name="Rectangle 34"/>
          <p:cNvSpPr/>
          <p:nvPr/>
        </p:nvSpPr>
        <p:spPr>
          <a:xfrm>
            <a:off x="8933688" y="1965960"/>
            <a:ext cx="22860" cy="16459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Diamond 35"/>
          <p:cNvSpPr/>
          <p:nvPr/>
        </p:nvSpPr>
        <p:spPr>
          <a:xfrm>
            <a:off x="6126480" y="2167128"/>
            <a:ext cx="5669280" cy="566928"/>
          </a:xfrm>
          <a:prstGeom prst="diamond">
            <a:avLst/>
          </a:prstGeom>
          <a:solidFill>
            <a:srgbClr val="F59E0B"/>
          </a:solidFill>
          <a:ln>
            <a:solidFill>
              <a:srgbClr val="D97F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TextBox 36"/>
          <p:cNvSpPr txBox="1"/>
          <p:nvPr/>
        </p:nvSpPr>
        <p:spPr>
          <a:xfrm>
            <a:off x="6172200" y="2212848"/>
            <a:ext cx="5577840" cy="275590"/>
          </a:xfrm>
          <a:prstGeom prst="rect">
            <a:avLst/>
          </a:prstGeom>
          <a:noFill/>
        </p:spPr>
        <p:txBody>
          <a:bodyPr wrap="square">
            <a:spAutoFit/>
          </a:bodyPr>
          <a:lstStyle/>
          <a:p>
            <a:pPr algn="ctr"/>
            <a:r>
              <a:rPr sz="1200" b="1">
                <a:solidFill>
                  <a:srgbClr val="1E293B"/>
                </a:solidFill>
                <a:latin typeface="Calibri" panose="020F0502020204030204"/>
              </a:rPr>
              <a:t>Token Expires?</a:t>
            </a:r>
            <a:endParaRPr sz="1200" b="1">
              <a:solidFill>
                <a:srgbClr val="1E293B"/>
              </a:solidFill>
              <a:latin typeface="Calibri" panose="020F0502020204030204"/>
            </a:endParaRPr>
          </a:p>
        </p:txBody>
      </p:sp>
      <p:sp>
        <p:nvSpPr>
          <p:cNvPr id="38" name="Rectangle 37"/>
          <p:cNvSpPr/>
          <p:nvPr/>
        </p:nvSpPr>
        <p:spPr>
          <a:xfrm>
            <a:off x="8933688" y="2734056"/>
            <a:ext cx="22860" cy="16459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9" name="Rounded Rectangle 38"/>
          <p:cNvSpPr/>
          <p:nvPr/>
        </p:nvSpPr>
        <p:spPr>
          <a:xfrm>
            <a:off x="6126480" y="2898648"/>
            <a:ext cx="5669280" cy="566928"/>
          </a:xfrm>
          <a:prstGeom prst="roundRect">
            <a:avLst/>
          </a:prstGeom>
          <a:solidFill>
            <a:srgbClr val="0096B7"/>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TextBox 39"/>
          <p:cNvSpPr txBox="1"/>
          <p:nvPr/>
        </p:nvSpPr>
        <p:spPr>
          <a:xfrm>
            <a:off x="6172200" y="2916936"/>
            <a:ext cx="5577840" cy="460375"/>
          </a:xfrm>
          <a:prstGeom prst="rect">
            <a:avLst/>
          </a:prstGeom>
          <a:noFill/>
        </p:spPr>
        <p:txBody>
          <a:bodyPr wrap="square">
            <a:spAutoFit/>
          </a:bodyPr>
          <a:lstStyle/>
          <a:p>
            <a:pPr algn="ctr"/>
            <a:r>
              <a:rPr sz="1200" b="1">
                <a:solidFill>
                  <a:srgbClr val="FFFFFF"/>
                </a:solidFill>
                <a:latin typeface="Calibri" panose="020F0502020204030204"/>
              </a:rPr>
              <a:t>Send Refresh Token
(opaque, stored in Redis)</a:t>
            </a:r>
            <a:endParaRPr sz="1200" b="1">
              <a:solidFill>
                <a:srgbClr val="FFFFFF"/>
              </a:solidFill>
              <a:latin typeface="Calibri" panose="020F0502020204030204"/>
            </a:endParaRPr>
          </a:p>
        </p:txBody>
      </p:sp>
      <p:sp>
        <p:nvSpPr>
          <p:cNvPr id="41" name="Rectangle 40"/>
          <p:cNvSpPr/>
          <p:nvPr/>
        </p:nvSpPr>
        <p:spPr>
          <a:xfrm>
            <a:off x="8933688" y="3465576"/>
            <a:ext cx="22860" cy="16459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2" name="Rounded Rectangle 41"/>
          <p:cNvSpPr/>
          <p:nvPr/>
        </p:nvSpPr>
        <p:spPr>
          <a:xfrm>
            <a:off x="6126480" y="3630168"/>
            <a:ext cx="5669280" cy="566928"/>
          </a:xfrm>
          <a:prstGeom prst="roundRect">
            <a:avLst/>
          </a:prstGeom>
          <a:solidFill>
            <a:srgbClr val="00B4D8"/>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3" name="TextBox 42"/>
          <p:cNvSpPr txBox="1"/>
          <p:nvPr/>
        </p:nvSpPr>
        <p:spPr>
          <a:xfrm>
            <a:off x="6172200" y="3648456"/>
            <a:ext cx="5577840" cy="460375"/>
          </a:xfrm>
          <a:prstGeom prst="rect">
            <a:avLst/>
          </a:prstGeom>
          <a:noFill/>
        </p:spPr>
        <p:txBody>
          <a:bodyPr wrap="square">
            <a:spAutoFit/>
          </a:bodyPr>
          <a:lstStyle/>
          <a:p>
            <a:pPr algn="ctr"/>
            <a:r>
              <a:rPr sz="1200" b="1">
                <a:solidFill>
                  <a:srgbClr val="FFFFFF"/>
                </a:solidFill>
                <a:latin typeface="Calibri" panose="020F0502020204030204"/>
              </a:rPr>
              <a:t>Redis validates
Refresh Token</a:t>
            </a:r>
            <a:endParaRPr sz="1200" b="1">
              <a:solidFill>
                <a:srgbClr val="FFFFFF"/>
              </a:solidFill>
              <a:latin typeface="Calibri" panose="020F0502020204030204"/>
            </a:endParaRPr>
          </a:p>
        </p:txBody>
      </p:sp>
      <p:sp>
        <p:nvSpPr>
          <p:cNvPr id="44" name="Rectangle 43"/>
          <p:cNvSpPr/>
          <p:nvPr/>
        </p:nvSpPr>
        <p:spPr>
          <a:xfrm>
            <a:off x="8933688" y="4197096"/>
            <a:ext cx="22860" cy="16459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5" name="Rounded Rectangle 44"/>
          <p:cNvSpPr/>
          <p:nvPr/>
        </p:nvSpPr>
        <p:spPr>
          <a:xfrm>
            <a:off x="6126480" y="4361688"/>
            <a:ext cx="5669280" cy="566928"/>
          </a:xfrm>
          <a:prstGeom prst="roundRect">
            <a:avLst/>
          </a:prstGeom>
          <a:solidFill>
            <a:srgbClr val="22C55E"/>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6172200" y="4379975"/>
            <a:ext cx="5577840" cy="645160"/>
          </a:xfrm>
          <a:prstGeom prst="rect">
            <a:avLst/>
          </a:prstGeom>
          <a:noFill/>
        </p:spPr>
        <p:txBody>
          <a:bodyPr wrap="square">
            <a:spAutoFit/>
          </a:bodyPr>
          <a:lstStyle/>
          <a:p>
            <a:pPr algn="ctr"/>
            <a:r>
              <a:rPr sz="1200" b="1">
                <a:solidFill>
                  <a:srgbClr val="FFFFFF"/>
                </a:solidFill>
                <a:latin typeface="Calibri" panose="020F0502020204030204"/>
              </a:rPr>
              <a:t>Issue NEW Access Token
+ Rotate Refresh Token
(old one invalidated)</a:t>
            </a:r>
            <a:endParaRPr sz="1200" b="1">
              <a:solidFill>
                <a:srgbClr val="FFFFFF"/>
              </a:solidFill>
              <a:latin typeface="Calibri" panose="020F0502020204030204"/>
            </a:endParaRPr>
          </a:p>
        </p:txBody>
      </p:sp>
      <p:sp>
        <p:nvSpPr>
          <p:cNvPr id="47" name="Rectangle 46"/>
          <p:cNvSpPr/>
          <p:nvPr/>
        </p:nvSpPr>
        <p:spPr>
          <a:xfrm>
            <a:off x="8933688" y="4928616"/>
            <a:ext cx="22860" cy="16459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8" name="Rounded Rectangle 47"/>
          <p:cNvSpPr/>
          <p:nvPr/>
        </p:nvSpPr>
        <p:spPr>
          <a:xfrm>
            <a:off x="6126480" y="5093208"/>
            <a:ext cx="5669280" cy="566928"/>
          </a:xfrm>
          <a:prstGeom prst="roundRect">
            <a:avLst/>
          </a:prstGeom>
          <a:solidFill>
            <a:srgbClr val="EF4444"/>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TextBox 48"/>
          <p:cNvSpPr txBox="1"/>
          <p:nvPr/>
        </p:nvSpPr>
        <p:spPr>
          <a:xfrm>
            <a:off x="6172200" y="5111496"/>
            <a:ext cx="5577840" cy="645160"/>
          </a:xfrm>
          <a:prstGeom prst="rect">
            <a:avLst/>
          </a:prstGeom>
          <a:noFill/>
        </p:spPr>
        <p:txBody>
          <a:bodyPr wrap="square">
            <a:spAutoFit/>
          </a:bodyPr>
          <a:lstStyle/>
          <a:p>
            <a:pPr algn="ctr"/>
            <a:r>
              <a:rPr sz="1200" b="1">
                <a:solidFill>
                  <a:srgbClr val="FFFFFF"/>
                </a:solidFill>
                <a:latin typeface="Calibri" panose="020F0502020204030204"/>
              </a:rPr>
              <a:t>Force Logout:
Admin can delete session
from Redis instantly</a:t>
            </a:r>
            <a:endParaRPr sz="1200" b="1">
              <a:solidFill>
                <a:srgbClr val="FFFFFF"/>
              </a:solidFill>
              <a:latin typeface="Calibri" panose="020F0502020204030204"/>
            </a:endParaRPr>
          </a:p>
        </p:txBody>
      </p:sp>
      <p:sp>
        <p:nvSpPr>
          <p:cNvPr id="50" name="Rectangle 49"/>
          <p:cNvSpPr/>
          <p:nvPr/>
        </p:nvSpPr>
        <p:spPr>
          <a:xfrm>
            <a:off x="201168" y="6217158"/>
            <a:ext cx="11777472" cy="56692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4320" y="6217031"/>
            <a:ext cx="11612880" cy="530352"/>
          </a:xfrm>
          <a:prstGeom prst="rect">
            <a:avLst/>
          </a:prstGeom>
          <a:noFill/>
        </p:spPr>
        <p:txBody>
          <a:bodyPr wrap="square">
            <a:spAutoFit/>
          </a:bodyPr>
          <a:lstStyle/>
          <a:p>
            <a:pPr algn="ctr"/>
            <a:r>
              <a:rPr sz="1000" b="0" i="1">
                <a:solidFill>
                  <a:srgbClr val="00B4D8"/>
                </a:solidFill>
                <a:latin typeface="Calibri" panose="020F0502020204030204"/>
              </a:rPr>
              <a:t>Example: Dr. Ahmed logs in at 9:00am → gets JWT (expires 9:15am) + Refresh Token → at 9:15am browser auto-refreshes → new JWT issued, old refresh token destroyed → if admin force-logouts Dr. Ahmed, Redis session deleted → next request rejected</a:t>
            </a:r>
            <a:endParaRPr sz="1000" b="0" i="1">
              <a:solidFill>
                <a:srgbClr val="00B4D8"/>
              </a:solidFill>
              <a:latin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583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502920"/>
          </a:xfrm>
          <a:prstGeom prst="rect">
            <a:avLst/>
          </a:prstGeom>
          <a:noFill/>
        </p:spPr>
        <p:txBody>
          <a:bodyPr wrap="square">
            <a:spAutoFit/>
          </a:bodyPr>
          <a:lstStyle/>
          <a:p>
            <a:pPr algn="l"/>
            <a:r>
              <a:rPr sz="2000" b="1" i="0">
                <a:solidFill>
                  <a:srgbClr val="FFFFFF"/>
                </a:solidFill>
                <a:latin typeface="Calibri" panose="020F0502020204030204"/>
              </a:rPr>
              <a:t>Security Features — Multi-Layer Defense</a:t>
            </a:r>
            <a:endParaRPr sz="2000" b="1" i="0">
              <a:solidFill>
                <a:srgbClr val="FFFFFF"/>
              </a:solidFill>
              <a:latin typeface="Calibri" panose="020F0502020204030204"/>
            </a:endParaRPr>
          </a:p>
        </p:txBody>
      </p:sp>
      <p:sp>
        <p:nvSpPr>
          <p:cNvPr id="4" name="Rectangle 3"/>
          <p:cNvSpPr/>
          <p:nvPr/>
        </p:nvSpPr>
        <p:spPr>
          <a:xfrm>
            <a:off x="0" y="658368"/>
            <a:ext cx="109728" cy="61996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749808"/>
            <a:ext cx="11795760" cy="59893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822960"/>
            <a:ext cx="11430000" cy="4674870"/>
          </a:xfrm>
          <a:prstGeom prst="rect">
            <a:avLst/>
          </a:prstGeom>
          <a:noFill/>
        </p:spPr>
        <p:txBody>
          <a:bodyPr wrap="square">
            <a:spAutoFit/>
          </a:bodyPr>
          <a:lstStyle/>
          <a:p>
            <a:pPr algn="l">
              <a:spcBef>
                <a:spcPts val="300"/>
              </a:spcBef>
              <a:spcAft>
                <a:spcPts val="200"/>
              </a:spcAft>
            </a:pPr>
            <a:r>
              <a:rPr>
                <a:solidFill>
                  <a:srgbClr val="1E293B"/>
                </a:solidFill>
                <a:latin typeface="Calibri" panose="020F0502020204030204"/>
              </a:rPr>
              <a:t>  🔐  Argon2id Password Hashing: PHC winner, memory-hard, GPU-resistant. 1000x slower than MD5 for attackers</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Password 'abc123' stored as '$argon2id$v=19$m=65536,t=3,p=4$...' — uncrackable even with GPU farm</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RS256 JWT (Asymmetric): Private key signs tokens on server; public key verifies. Compromise of public key = useless</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Token payload: {userId:'u-123', role:'DOCTOR', exp:1713200000} — signed, not encrypted, but tamper-proof</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Field-Level Encryption (pgcrypto): email, phone, address, emergency contact encrypted in DB with AES</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DB column shows 'x0a3f...' not 'john@email.com' — even a DB admin cannot read PII without the key</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ClamScan Virus Scanning: Every uploaded file (PDF, image, doc) scanned before storage. Infected files rejected</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Nurse uploads patient file → ClamScan checks → if EICAR test signature found → file deleted, error returned</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Hash-Chain Audit Logs: Each log row stores SHA-256 hash of previous row. Deletion breaks the chain</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Admin verifies chain → GET /api/admin/audit-logs/verify → returns {valid:true, entries:4821}</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AES-256-GCM Payload Encryption: Sensitive form data encrypted client-side before HTTP transmission</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Patient's address field encrypted in browser → even if HTTPS intercepted, payload is still ciphertext</a:t>
            </a:r>
            <a:endParaRPr>
              <a:solidFill>
                <a:srgbClr val="1E293B"/>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583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 name="TextBox 2"/>
          <p:cNvSpPr txBox="1"/>
          <p:nvPr/>
        </p:nvSpPr>
        <p:spPr>
          <a:xfrm>
            <a:off x="274320" y="91440"/>
            <a:ext cx="11612880" cy="645160"/>
          </a:xfrm>
          <a:prstGeom prst="rect">
            <a:avLst/>
          </a:prstGeom>
          <a:noFill/>
        </p:spPr>
        <p:txBody>
          <a:bodyPr wrap="square">
            <a:spAutoFit/>
          </a:bodyPr>
          <a:lstStyle/>
          <a:p>
            <a:pPr algn="l"/>
            <a:r>
              <a:rPr sz="3600" b="1" i="0">
                <a:solidFill>
                  <a:srgbClr val="FFFFFF"/>
                </a:solidFill>
                <a:latin typeface="Calibri" panose="020F0502020204030204"/>
              </a:rPr>
              <a:t>Database Design — PostgreSQL (40+ Tables, ERD Overview)</a:t>
            </a:r>
            <a:endParaRPr sz="3600" b="1" i="0">
              <a:solidFill>
                <a:srgbClr val="FFFFFF"/>
              </a:solidFill>
              <a:latin typeface="Calibri" panose="020F0502020204030204"/>
            </a:endParaRPr>
          </a:p>
        </p:txBody>
      </p:sp>
      <p:sp>
        <p:nvSpPr>
          <p:cNvPr id="4" name="Rectangle 3"/>
          <p:cNvSpPr/>
          <p:nvPr/>
        </p:nvSpPr>
        <p:spPr>
          <a:xfrm>
            <a:off x="0" y="658368"/>
            <a:ext cx="109728" cy="61996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 name="Rectangle 4"/>
          <p:cNvSpPr/>
          <p:nvPr/>
        </p:nvSpPr>
        <p:spPr>
          <a:xfrm>
            <a:off x="201168" y="777240"/>
            <a:ext cx="2194560" cy="12344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 name="TextBox 5"/>
          <p:cNvSpPr txBox="1"/>
          <p:nvPr/>
        </p:nvSpPr>
        <p:spPr>
          <a:xfrm>
            <a:off x="246888" y="813816"/>
            <a:ext cx="2103120" cy="337185"/>
          </a:xfrm>
          <a:prstGeom prst="rect">
            <a:avLst/>
          </a:prstGeom>
          <a:noFill/>
        </p:spPr>
        <p:txBody>
          <a:bodyPr wrap="square">
            <a:spAutoFit/>
          </a:bodyPr>
          <a:lstStyle/>
          <a:p>
            <a:pPr algn="l"/>
            <a:r>
              <a:rPr sz="1600" b="1" i="0">
                <a:solidFill>
                  <a:srgbClr val="00B4D8"/>
                </a:solidFill>
                <a:latin typeface="Calibri" panose="020F0502020204030204"/>
              </a:rPr>
              <a:t>users</a:t>
            </a:r>
            <a:endParaRPr sz="1600" b="1" i="0">
              <a:solidFill>
                <a:srgbClr val="00B4D8"/>
              </a:solidFill>
              <a:latin typeface="Calibri" panose="020F0502020204030204"/>
            </a:endParaRPr>
          </a:p>
        </p:txBody>
      </p:sp>
      <p:sp>
        <p:nvSpPr>
          <p:cNvPr id="7" name="Rectangle 6"/>
          <p:cNvSpPr/>
          <p:nvPr/>
        </p:nvSpPr>
        <p:spPr>
          <a:xfrm>
            <a:off x="246888" y="1069848"/>
            <a:ext cx="2103120"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8" name="TextBox 7"/>
          <p:cNvSpPr txBox="1"/>
          <p:nvPr/>
        </p:nvSpPr>
        <p:spPr>
          <a:xfrm>
            <a:off x="246888" y="1106424"/>
            <a:ext cx="2103120" cy="737235"/>
          </a:xfrm>
          <a:prstGeom prst="rect">
            <a:avLst/>
          </a:prstGeom>
          <a:noFill/>
        </p:spPr>
        <p:txBody>
          <a:bodyPr wrap="square">
            <a:spAutoFit/>
          </a:bodyPr>
          <a:lstStyle/>
          <a:p>
            <a:pPr algn="l"/>
            <a:r>
              <a:rPr sz="1400" b="0" i="0">
                <a:solidFill>
                  <a:srgbClr val="FFFFFF"/>
                </a:solidFill>
                <a:latin typeface="Calibri" panose="020F0502020204030204"/>
              </a:rPr>
              <a:t>id, employee_id
role, dept_id
status, created_at</a:t>
            </a:r>
            <a:endParaRPr sz="1400" b="0" i="0">
              <a:solidFill>
                <a:srgbClr val="FFFFFF"/>
              </a:solidFill>
              <a:latin typeface="Calibri" panose="020F0502020204030204"/>
            </a:endParaRPr>
          </a:p>
        </p:txBody>
      </p:sp>
      <p:sp>
        <p:nvSpPr>
          <p:cNvPr id="9" name="Rectangle 8"/>
          <p:cNvSpPr/>
          <p:nvPr/>
        </p:nvSpPr>
        <p:spPr>
          <a:xfrm>
            <a:off x="2578608" y="777240"/>
            <a:ext cx="2194560" cy="12344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0" name="TextBox 9"/>
          <p:cNvSpPr txBox="1"/>
          <p:nvPr/>
        </p:nvSpPr>
        <p:spPr>
          <a:xfrm>
            <a:off x="2624327" y="813816"/>
            <a:ext cx="2103120" cy="337185"/>
          </a:xfrm>
          <a:prstGeom prst="rect">
            <a:avLst/>
          </a:prstGeom>
          <a:noFill/>
        </p:spPr>
        <p:txBody>
          <a:bodyPr wrap="square">
            <a:spAutoFit/>
          </a:bodyPr>
          <a:lstStyle/>
          <a:p>
            <a:pPr algn="l"/>
            <a:r>
              <a:rPr sz="1600" b="1" i="0">
                <a:solidFill>
                  <a:srgbClr val="00B4D8"/>
                </a:solidFill>
                <a:latin typeface="Calibri" panose="020F0502020204030204"/>
              </a:rPr>
              <a:t>patients</a:t>
            </a:r>
            <a:endParaRPr sz="1600" b="1" i="0">
              <a:solidFill>
                <a:srgbClr val="00B4D8"/>
              </a:solidFill>
              <a:latin typeface="Calibri" panose="020F0502020204030204"/>
            </a:endParaRPr>
          </a:p>
        </p:txBody>
      </p:sp>
      <p:sp>
        <p:nvSpPr>
          <p:cNvPr id="11" name="Rectangle 10"/>
          <p:cNvSpPr/>
          <p:nvPr/>
        </p:nvSpPr>
        <p:spPr>
          <a:xfrm>
            <a:off x="2624327" y="1069848"/>
            <a:ext cx="2103120"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2" name="TextBox 11"/>
          <p:cNvSpPr txBox="1"/>
          <p:nvPr/>
        </p:nvSpPr>
        <p:spPr>
          <a:xfrm>
            <a:off x="2624327" y="1106424"/>
            <a:ext cx="2103120" cy="737235"/>
          </a:xfrm>
          <a:prstGeom prst="rect">
            <a:avLst/>
          </a:prstGeom>
          <a:noFill/>
        </p:spPr>
        <p:txBody>
          <a:bodyPr wrap="square">
            <a:spAutoFit/>
          </a:bodyPr>
          <a:lstStyle/>
          <a:p>
            <a:pPr algn="l"/>
            <a:r>
              <a:rPr sz="1400" b="0" i="0">
                <a:solidFill>
                  <a:srgbClr val="FFFFFF"/>
                </a:solidFill>
                <a:latin typeface="Calibri" panose="020F0502020204030204"/>
              </a:rPr>
              <a:t>id, mrn, user_id
bed_id, blood_group
admission_date</a:t>
            </a:r>
            <a:endParaRPr sz="1400" b="0" i="0">
              <a:solidFill>
                <a:srgbClr val="FFFFFF"/>
              </a:solidFill>
              <a:latin typeface="Calibri" panose="020F0502020204030204"/>
            </a:endParaRPr>
          </a:p>
        </p:txBody>
      </p:sp>
      <p:sp>
        <p:nvSpPr>
          <p:cNvPr id="13" name="Rectangle 12"/>
          <p:cNvSpPr/>
          <p:nvPr/>
        </p:nvSpPr>
        <p:spPr>
          <a:xfrm>
            <a:off x="4956048" y="777240"/>
            <a:ext cx="2194560" cy="12344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4" name="TextBox 13"/>
          <p:cNvSpPr txBox="1"/>
          <p:nvPr/>
        </p:nvSpPr>
        <p:spPr>
          <a:xfrm>
            <a:off x="5001768" y="813816"/>
            <a:ext cx="2103120" cy="337185"/>
          </a:xfrm>
          <a:prstGeom prst="rect">
            <a:avLst/>
          </a:prstGeom>
          <a:noFill/>
        </p:spPr>
        <p:txBody>
          <a:bodyPr wrap="square">
            <a:spAutoFit/>
          </a:bodyPr>
          <a:lstStyle/>
          <a:p>
            <a:pPr algn="l"/>
            <a:r>
              <a:rPr sz="1600" b="1" i="0">
                <a:solidFill>
                  <a:srgbClr val="00B4D8"/>
                </a:solidFill>
                <a:latin typeface="Calibri" panose="020F0502020204030204"/>
              </a:rPr>
              <a:t>appointments</a:t>
            </a:r>
            <a:endParaRPr sz="1600" b="1" i="0">
              <a:solidFill>
                <a:srgbClr val="00B4D8"/>
              </a:solidFill>
              <a:latin typeface="Calibri" panose="020F0502020204030204"/>
            </a:endParaRPr>
          </a:p>
        </p:txBody>
      </p:sp>
      <p:sp>
        <p:nvSpPr>
          <p:cNvPr id="15" name="Rectangle 14"/>
          <p:cNvSpPr/>
          <p:nvPr/>
        </p:nvSpPr>
        <p:spPr>
          <a:xfrm>
            <a:off x="5001768" y="1069848"/>
            <a:ext cx="2103120"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6" name="TextBox 15"/>
          <p:cNvSpPr txBox="1"/>
          <p:nvPr/>
        </p:nvSpPr>
        <p:spPr>
          <a:xfrm>
            <a:off x="5001768" y="1106424"/>
            <a:ext cx="2103120" cy="737235"/>
          </a:xfrm>
          <a:prstGeom prst="rect">
            <a:avLst/>
          </a:prstGeom>
          <a:noFill/>
        </p:spPr>
        <p:txBody>
          <a:bodyPr wrap="square">
            <a:spAutoFit/>
          </a:bodyPr>
          <a:lstStyle/>
          <a:p>
            <a:pPr algn="l"/>
            <a:r>
              <a:rPr sz="1400" b="0" i="0">
                <a:solidFill>
                  <a:srgbClr val="FFFFFF"/>
                </a:solidFill>
                <a:latin typeface="Calibri" panose="020F0502020204030204"/>
              </a:rPr>
              <a:t>id, patient_id
doctor_id, type
status, datetime</a:t>
            </a:r>
            <a:endParaRPr sz="1400" b="0" i="0">
              <a:solidFill>
                <a:srgbClr val="FFFFFF"/>
              </a:solidFill>
              <a:latin typeface="Calibri" panose="020F0502020204030204"/>
            </a:endParaRPr>
          </a:p>
        </p:txBody>
      </p:sp>
      <p:sp>
        <p:nvSpPr>
          <p:cNvPr id="17" name="Rectangle 16"/>
          <p:cNvSpPr/>
          <p:nvPr/>
        </p:nvSpPr>
        <p:spPr>
          <a:xfrm>
            <a:off x="7333488" y="777240"/>
            <a:ext cx="2194560" cy="12344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8" name="TextBox 17"/>
          <p:cNvSpPr txBox="1"/>
          <p:nvPr/>
        </p:nvSpPr>
        <p:spPr>
          <a:xfrm>
            <a:off x="7379208" y="813816"/>
            <a:ext cx="2103120" cy="337185"/>
          </a:xfrm>
          <a:prstGeom prst="rect">
            <a:avLst/>
          </a:prstGeom>
          <a:noFill/>
        </p:spPr>
        <p:txBody>
          <a:bodyPr wrap="square">
            <a:spAutoFit/>
          </a:bodyPr>
          <a:lstStyle/>
          <a:p>
            <a:pPr algn="l"/>
            <a:r>
              <a:rPr sz="1600" b="1" i="0">
                <a:solidFill>
                  <a:srgbClr val="00B4D8"/>
                </a:solidFill>
                <a:latin typeface="Calibri" panose="020F0502020204030204"/>
              </a:rPr>
              <a:t>vitals</a:t>
            </a:r>
            <a:endParaRPr sz="1600" b="1" i="0">
              <a:solidFill>
                <a:srgbClr val="00B4D8"/>
              </a:solidFill>
              <a:latin typeface="Calibri" panose="020F0502020204030204"/>
            </a:endParaRPr>
          </a:p>
        </p:txBody>
      </p:sp>
      <p:sp>
        <p:nvSpPr>
          <p:cNvPr id="19" name="Rectangle 18"/>
          <p:cNvSpPr/>
          <p:nvPr/>
        </p:nvSpPr>
        <p:spPr>
          <a:xfrm>
            <a:off x="7379208" y="1069848"/>
            <a:ext cx="2103120"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0" name="TextBox 19"/>
          <p:cNvSpPr txBox="1"/>
          <p:nvPr/>
        </p:nvSpPr>
        <p:spPr>
          <a:xfrm>
            <a:off x="7379208" y="1106424"/>
            <a:ext cx="2103120" cy="737235"/>
          </a:xfrm>
          <a:prstGeom prst="rect">
            <a:avLst/>
          </a:prstGeom>
          <a:noFill/>
        </p:spPr>
        <p:txBody>
          <a:bodyPr wrap="square">
            <a:spAutoFit/>
          </a:bodyPr>
          <a:lstStyle/>
          <a:p>
            <a:pPr algn="l"/>
            <a:r>
              <a:rPr sz="1400" b="0" i="0">
                <a:solidFill>
                  <a:srgbClr val="FFFFFF"/>
                </a:solidFill>
                <a:latin typeface="Calibri" panose="020F0502020204030204"/>
              </a:rPr>
              <a:t>id, patient_id
temp, bp_sys, bp_dia
pulse, spo2, bmi</a:t>
            </a:r>
            <a:endParaRPr sz="1400" b="0" i="0">
              <a:solidFill>
                <a:srgbClr val="FFFFFF"/>
              </a:solidFill>
              <a:latin typeface="Calibri" panose="020F0502020204030204"/>
            </a:endParaRPr>
          </a:p>
        </p:txBody>
      </p:sp>
      <p:sp>
        <p:nvSpPr>
          <p:cNvPr id="21" name="Rectangle 20"/>
          <p:cNvSpPr/>
          <p:nvPr/>
        </p:nvSpPr>
        <p:spPr>
          <a:xfrm>
            <a:off x="9710928" y="777240"/>
            <a:ext cx="2286000" cy="12344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2" name="TextBox 21"/>
          <p:cNvSpPr txBox="1"/>
          <p:nvPr/>
        </p:nvSpPr>
        <p:spPr>
          <a:xfrm>
            <a:off x="9756648" y="813816"/>
            <a:ext cx="2194560" cy="337185"/>
          </a:xfrm>
          <a:prstGeom prst="rect">
            <a:avLst/>
          </a:prstGeom>
          <a:noFill/>
        </p:spPr>
        <p:txBody>
          <a:bodyPr wrap="square">
            <a:spAutoFit/>
          </a:bodyPr>
          <a:lstStyle/>
          <a:p>
            <a:pPr algn="l"/>
            <a:r>
              <a:rPr sz="1600" b="1" i="0">
                <a:solidFill>
                  <a:srgbClr val="00B4D8"/>
                </a:solidFill>
                <a:latin typeface="Calibri" panose="020F0502020204030204"/>
              </a:rPr>
              <a:t>medical_records</a:t>
            </a:r>
            <a:endParaRPr sz="1600" b="1" i="0">
              <a:solidFill>
                <a:srgbClr val="00B4D8"/>
              </a:solidFill>
              <a:latin typeface="Calibri" panose="020F0502020204030204"/>
            </a:endParaRPr>
          </a:p>
        </p:txBody>
      </p:sp>
      <p:sp>
        <p:nvSpPr>
          <p:cNvPr id="23" name="Rectangle 22"/>
          <p:cNvSpPr/>
          <p:nvPr/>
        </p:nvSpPr>
        <p:spPr>
          <a:xfrm>
            <a:off x="9756648" y="1069848"/>
            <a:ext cx="2194560"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4" name="TextBox 23"/>
          <p:cNvSpPr txBox="1"/>
          <p:nvPr/>
        </p:nvSpPr>
        <p:spPr>
          <a:xfrm>
            <a:off x="9756648" y="1106424"/>
            <a:ext cx="2194560" cy="737235"/>
          </a:xfrm>
          <a:prstGeom prst="rect">
            <a:avLst/>
          </a:prstGeom>
          <a:noFill/>
        </p:spPr>
        <p:txBody>
          <a:bodyPr wrap="square">
            <a:spAutoFit/>
          </a:bodyPr>
          <a:lstStyle/>
          <a:p>
            <a:pPr algn="l"/>
            <a:r>
              <a:rPr sz="1400" b="0" i="0">
                <a:solidFill>
                  <a:srgbClr val="FFFFFF"/>
                </a:solidFill>
                <a:latin typeface="Calibri" panose="020F0502020204030204"/>
              </a:rPr>
              <a:t>id, patient_id
doctor_id, diagnosis
treatment_plan</a:t>
            </a:r>
            <a:endParaRPr sz="1400" b="0" i="0">
              <a:solidFill>
                <a:srgbClr val="FFFFFF"/>
              </a:solidFill>
              <a:latin typeface="Calibri" panose="020F0502020204030204"/>
            </a:endParaRPr>
          </a:p>
        </p:txBody>
      </p:sp>
      <p:sp>
        <p:nvSpPr>
          <p:cNvPr id="25" name="Rectangle 24"/>
          <p:cNvSpPr/>
          <p:nvPr/>
        </p:nvSpPr>
        <p:spPr>
          <a:xfrm>
            <a:off x="201168" y="2212848"/>
            <a:ext cx="2194560" cy="12344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6" name="TextBox 25"/>
          <p:cNvSpPr txBox="1"/>
          <p:nvPr/>
        </p:nvSpPr>
        <p:spPr>
          <a:xfrm>
            <a:off x="246888" y="2249424"/>
            <a:ext cx="2103120" cy="337185"/>
          </a:xfrm>
          <a:prstGeom prst="rect">
            <a:avLst/>
          </a:prstGeom>
          <a:noFill/>
        </p:spPr>
        <p:txBody>
          <a:bodyPr wrap="square">
            <a:spAutoFit/>
          </a:bodyPr>
          <a:lstStyle/>
          <a:p>
            <a:pPr algn="l"/>
            <a:r>
              <a:rPr sz="1600" b="1" i="0">
                <a:solidFill>
                  <a:srgbClr val="00B4D8"/>
                </a:solidFill>
                <a:latin typeface="Calibri" panose="020F0502020204030204"/>
              </a:rPr>
              <a:t>prescriptions</a:t>
            </a:r>
            <a:endParaRPr sz="1600" b="1" i="0">
              <a:solidFill>
                <a:srgbClr val="00B4D8"/>
              </a:solidFill>
              <a:latin typeface="Calibri" panose="020F0502020204030204"/>
            </a:endParaRPr>
          </a:p>
        </p:txBody>
      </p:sp>
      <p:sp>
        <p:nvSpPr>
          <p:cNvPr id="27" name="Rectangle 26"/>
          <p:cNvSpPr/>
          <p:nvPr/>
        </p:nvSpPr>
        <p:spPr>
          <a:xfrm>
            <a:off x="246888" y="2505456"/>
            <a:ext cx="2103120"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8" name="TextBox 27"/>
          <p:cNvSpPr txBox="1"/>
          <p:nvPr/>
        </p:nvSpPr>
        <p:spPr>
          <a:xfrm>
            <a:off x="246888" y="2542032"/>
            <a:ext cx="2103120" cy="737235"/>
          </a:xfrm>
          <a:prstGeom prst="rect">
            <a:avLst/>
          </a:prstGeom>
          <a:noFill/>
        </p:spPr>
        <p:txBody>
          <a:bodyPr wrap="square">
            <a:spAutoFit/>
          </a:bodyPr>
          <a:lstStyle/>
          <a:p>
            <a:pPr algn="l"/>
            <a:r>
              <a:rPr sz="1400" b="0" i="0">
                <a:solidFill>
                  <a:srgbClr val="FFFFFF"/>
                </a:solidFill>
                <a:latin typeface="Calibri" panose="020F0502020204030204"/>
              </a:rPr>
              <a:t>id, patient_id
doctor_id, status
dispensed_at</a:t>
            </a:r>
            <a:endParaRPr sz="1400" b="0" i="0">
              <a:solidFill>
                <a:srgbClr val="FFFFFF"/>
              </a:solidFill>
              <a:latin typeface="Calibri" panose="020F0502020204030204"/>
            </a:endParaRPr>
          </a:p>
        </p:txBody>
      </p:sp>
      <p:sp>
        <p:nvSpPr>
          <p:cNvPr id="29" name="Rectangle 28"/>
          <p:cNvSpPr/>
          <p:nvPr/>
        </p:nvSpPr>
        <p:spPr>
          <a:xfrm>
            <a:off x="2578608" y="2212848"/>
            <a:ext cx="2194560" cy="12344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0" name="TextBox 29"/>
          <p:cNvSpPr txBox="1"/>
          <p:nvPr/>
        </p:nvSpPr>
        <p:spPr>
          <a:xfrm>
            <a:off x="2624327" y="2249424"/>
            <a:ext cx="2103120" cy="337185"/>
          </a:xfrm>
          <a:prstGeom prst="rect">
            <a:avLst/>
          </a:prstGeom>
          <a:noFill/>
        </p:spPr>
        <p:txBody>
          <a:bodyPr wrap="square">
            <a:spAutoFit/>
          </a:bodyPr>
          <a:lstStyle/>
          <a:p>
            <a:pPr algn="l"/>
            <a:r>
              <a:rPr sz="1600" b="1" i="0">
                <a:solidFill>
                  <a:srgbClr val="00B4D8"/>
                </a:solidFill>
                <a:latin typeface="Calibri" panose="020F0502020204030204"/>
              </a:rPr>
              <a:t>prescription_items</a:t>
            </a:r>
            <a:endParaRPr sz="1600" b="1" i="0">
              <a:solidFill>
                <a:srgbClr val="00B4D8"/>
              </a:solidFill>
              <a:latin typeface="Calibri" panose="020F0502020204030204"/>
            </a:endParaRPr>
          </a:p>
        </p:txBody>
      </p:sp>
      <p:sp>
        <p:nvSpPr>
          <p:cNvPr id="31" name="Rectangle 30"/>
          <p:cNvSpPr/>
          <p:nvPr/>
        </p:nvSpPr>
        <p:spPr>
          <a:xfrm>
            <a:off x="2624327" y="2505456"/>
            <a:ext cx="2103120"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2" name="TextBox 31"/>
          <p:cNvSpPr txBox="1"/>
          <p:nvPr/>
        </p:nvSpPr>
        <p:spPr>
          <a:xfrm>
            <a:off x="2624327" y="2542032"/>
            <a:ext cx="2103120" cy="737235"/>
          </a:xfrm>
          <a:prstGeom prst="rect">
            <a:avLst/>
          </a:prstGeom>
          <a:noFill/>
        </p:spPr>
        <p:txBody>
          <a:bodyPr wrap="square">
            <a:spAutoFit/>
          </a:bodyPr>
          <a:lstStyle/>
          <a:p>
            <a:pPr algn="l"/>
            <a:r>
              <a:rPr sz="1400" b="0" i="0">
                <a:solidFill>
                  <a:srgbClr val="FFFFFF"/>
                </a:solidFill>
                <a:latin typeface="Calibri" panose="020F0502020204030204"/>
              </a:rPr>
              <a:t>id, prescription_id
medicine_id, dosage
frequency, duration</a:t>
            </a:r>
            <a:endParaRPr sz="1400" b="0" i="0">
              <a:solidFill>
                <a:srgbClr val="FFFFFF"/>
              </a:solidFill>
              <a:latin typeface="Calibri" panose="020F0502020204030204"/>
            </a:endParaRPr>
          </a:p>
        </p:txBody>
      </p:sp>
      <p:sp>
        <p:nvSpPr>
          <p:cNvPr id="33" name="Rectangle 32"/>
          <p:cNvSpPr/>
          <p:nvPr/>
        </p:nvSpPr>
        <p:spPr>
          <a:xfrm>
            <a:off x="4956048" y="2212848"/>
            <a:ext cx="2194560" cy="12344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4" name="TextBox 33"/>
          <p:cNvSpPr txBox="1"/>
          <p:nvPr/>
        </p:nvSpPr>
        <p:spPr>
          <a:xfrm>
            <a:off x="5001768" y="2249424"/>
            <a:ext cx="2103120" cy="337185"/>
          </a:xfrm>
          <a:prstGeom prst="rect">
            <a:avLst/>
          </a:prstGeom>
          <a:noFill/>
        </p:spPr>
        <p:txBody>
          <a:bodyPr wrap="square">
            <a:spAutoFit/>
          </a:bodyPr>
          <a:lstStyle/>
          <a:p>
            <a:pPr algn="l"/>
            <a:r>
              <a:rPr sz="1600" b="1" i="0">
                <a:solidFill>
                  <a:srgbClr val="00B4D8"/>
                </a:solidFill>
                <a:latin typeface="Calibri" panose="020F0502020204030204"/>
              </a:rPr>
              <a:t>lab_orders</a:t>
            </a:r>
            <a:endParaRPr sz="1600" b="1" i="0">
              <a:solidFill>
                <a:srgbClr val="00B4D8"/>
              </a:solidFill>
              <a:latin typeface="Calibri" panose="020F0502020204030204"/>
            </a:endParaRPr>
          </a:p>
        </p:txBody>
      </p:sp>
      <p:sp>
        <p:nvSpPr>
          <p:cNvPr id="35" name="Rectangle 34"/>
          <p:cNvSpPr/>
          <p:nvPr/>
        </p:nvSpPr>
        <p:spPr>
          <a:xfrm>
            <a:off x="5001768" y="2505456"/>
            <a:ext cx="2103120"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6" name="TextBox 35"/>
          <p:cNvSpPr txBox="1"/>
          <p:nvPr/>
        </p:nvSpPr>
        <p:spPr>
          <a:xfrm>
            <a:off x="5001768" y="2542032"/>
            <a:ext cx="2103120" cy="737235"/>
          </a:xfrm>
          <a:prstGeom prst="rect">
            <a:avLst/>
          </a:prstGeom>
          <a:noFill/>
        </p:spPr>
        <p:txBody>
          <a:bodyPr wrap="square">
            <a:spAutoFit/>
          </a:bodyPr>
          <a:lstStyle/>
          <a:p>
            <a:pPr algn="l"/>
            <a:r>
              <a:rPr sz="1400" b="0" i="0">
                <a:solidFill>
                  <a:srgbClr val="FFFFFF"/>
                </a:solidFill>
                <a:latin typeface="Calibri" panose="020F0502020204030204"/>
              </a:rPr>
              <a:t>id, patient_id
doctor_id, test_type
status, result_id</a:t>
            </a:r>
            <a:endParaRPr sz="1400" b="0" i="0">
              <a:solidFill>
                <a:srgbClr val="FFFFFF"/>
              </a:solidFill>
              <a:latin typeface="Calibri" panose="020F0502020204030204"/>
            </a:endParaRPr>
          </a:p>
        </p:txBody>
      </p:sp>
      <p:sp>
        <p:nvSpPr>
          <p:cNvPr id="37" name="Rectangle 36"/>
          <p:cNvSpPr/>
          <p:nvPr/>
        </p:nvSpPr>
        <p:spPr>
          <a:xfrm>
            <a:off x="7333488" y="2212848"/>
            <a:ext cx="2194560" cy="12344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8" name="TextBox 37"/>
          <p:cNvSpPr txBox="1"/>
          <p:nvPr/>
        </p:nvSpPr>
        <p:spPr>
          <a:xfrm>
            <a:off x="7379208" y="2249424"/>
            <a:ext cx="2103120" cy="337185"/>
          </a:xfrm>
          <a:prstGeom prst="rect">
            <a:avLst/>
          </a:prstGeom>
          <a:noFill/>
        </p:spPr>
        <p:txBody>
          <a:bodyPr wrap="square">
            <a:spAutoFit/>
          </a:bodyPr>
          <a:lstStyle/>
          <a:p>
            <a:pPr algn="l"/>
            <a:r>
              <a:rPr sz="1600" b="1" i="0">
                <a:solidFill>
                  <a:srgbClr val="00B4D8"/>
                </a:solidFill>
                <a:latin typeface="Calibri" panose="020F0502020204030204"/>
              </a:rPr>
              <a:t>bills</a:t>
            </a:r>
            <a:endParaRPr sz="1600" b="1" i="0">
              <a:solidFill>
                <a:srgbClr val="00B4D8"/>
              </a:solidFill>
              <a:latin typeface="Calibri" panose="020F0502020204030204"/>
            </a:endParaRPr>
          </a:p>
        </p:txBody>
      </p:sp>
      <p:sp>
        <p:nvSpPr>
          <p:cNvPr id="39" name="Rectangle 38"/>
          <p:cNvSpPr/>
          <p:nvPr/>
        </p:nvSpPr>
        <p:spPr>
          <a:xfrm>
            <a:off x="7379208" y="2505456"/>
            <a:ext cx="2103120"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0" name="TextBox 39"/>
          <p:cNvSpPr txBox="1"/>
          <p:nvPr/>
        </p:nvSpPr>
        <p:spPr>
          <a:xfrm>
            <a:off x="7379208" y="2542032"/>
            <a:ext cx="2103120" cy="737235"/>
          </a:xfrm>
          <a:prstGeom prst="rect">
            <a:avLst/>
          </a:prstGeom>
          <a:noFill/>
        </p:spPr>
        <p:txBody>
          <a:bodyPr wrap="square">
            <a:spAutoFit/>
          </a:bodyPr>
          <a:lstStyle/>
          <a:p>
            <a:pPr algn="l"/>
            <a:r>
              <a:rPr sz="1400" b="0" i="0">
                <a:solidFill>
                  <a:srgbClr val="FFFFFF"/>
                </a:solidFill>
                <a:latin typeface="Calibri" panose="020F0502020204030204"/>
              </a:rPr>
              <a:t>id, patient_id
total, discount
tax, status</a:t>
            </a:r>
            <a:endParaRPr sz="1400" b="0" i="0">
              <a:solidFill>
                <a:srgbClr val="FFFFFF"/>
              </a:solidFill>
              <a:latin typeface="Calibri" panose="020F0502020204030204"/>
            </a:endParaRPr>
          </a:p>
        </p:txBody>
      </p:sp>
      <p:sp>
        <p:nvSpPr>
          <p:cNvPr id="41" name="Rectangle 40"/>
          <p:cNvSpPr/>
          <p:nvPr/>
        </p:nvSpPr>
        <p:spPr>
          <a:xfrm>
            <a:off x="9710928" y="2212848"/>
            <a:ext cx="2286000" cy="12344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2" name="TextBox 41"/>
          <p:cNvSpPr txBox="1"/>
          <p:nvPr/>
        </p:nvSpPr>
        <p:spPr>
          <a:xfrm>
            <a:off x="9756648" y="2249424"/>
            <a:ext cx="2194560" cy="337185"/>
          </a:xfrm>
          <a:prstGeom prst="rect">
            <a:avLst/>
          </a:prstGeom>
          <a:noFill/>
        </p:spPr>
        <p:txBody>
          <a:bodyPr wrap="square">
            <a:spAutoFit/>
          </a:bodyPr>
          <a:lstStyle/>
          <a:p>
            <a:pPr algn="l"/>
            <a:r>
              <a:rPr sz="1600" b="1" i="0">
                <a:solidFill>
                  <a:srgbClr val="00B4D8"/>
                </a:solidFill>
                <a:latin typeface="Calibri" panose="020F0502020204030204"/>
              </a:rPr>
              <a:t>payments</a:t>
            </a:r>
            <a:endParaRPr sz="1600" b="1" i="0">
              <a:solidFill>
                <a:srgbClr val="00B4D8"/>
              </a:solidFill>
              <a:latin typeface="Calibri" panose="020F0502020204030204"/>
            </a:endParaRPr>
          </a:p>
        </p:txBody>
      </p:sp>
      <p:sp>
        <p:nvSpPr>
          <p:cNvPr id="43" name="Rectangle 42"/>
          <p:cNvSpPr/>
          <p:nvPr/>
        </p:nvSpPr>
        <p:spPr>
          <a:xfrm>
            <a:off x="9756648" y="2505456"/>
            <a:ext cx="2194560"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4" name="TextBox 43"/>
          <p:cNvSpPr txBox="1"/>
          <p:nvPr/>
        </p:nvSpPr>
        <p:spPr>
          <a:xfrm>
            <a:off x="9756648" y="2542032"/>
            <a:ext cx="2194560" cy="737235"/>
          </a:xfrm>
          <a:prstGeom prst="rect">
            <a:avLst/>
          </a:prstGeom>
          <a:noFill/>
        </p:spPr>
        <p:txBody>
          <a:bodyPr wrap="square">
            <a:spAutoFit/>
          </a:bodyPr>
          <a:lstStyle/>
          <a:p>
            <a:pPr algn="l"/>
            <a:r>
              <a:rPr sz="1400" b="0" i="0">
                <a:solidFill>
                  <a:srgbClr val="FFFFFF"/>
                </a:solidFill>
                <a:latin typeface="Calibri" panose="020F0502020204030204"/>
              </a:rPr>
              <a:t>id, bill_id
amount, method
razorpay_id, status</a:t>
            </a:r>
            <a:endParaRPr sz="1400" b="0" i="0">
              <a:solidFill>
                <a:srgbClr val="FFFFFF"/>
              </a:solidFill>
              <a:latin typeface="Calibri" panose="020F0502020204030204"/>
            </a:endParaRPr>
          </a:p>
        </p:txBody>
      </p:sp>
      <p:sp>
        <p:nvSpPr>
          <p:cNvPr id="45" name="Rectangle 44"/>
          <p:cNvSpPr/>
          <p:nvPr/>
        </p:nvSpPr>
        <p:spPr>
          <a:xfrm>
            <a:off x="201168" y="3648456"/>
            <a:ext cx="2194560" cy="1143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6" name="TextBox 45"/>
          <p:cNvSpPr txBox="1"/>
          <p:nvPr/>
        </p:nvSpPr>
        <p:spPr>
          <a:xfrm>
            <a:off x="246888" y="3685032"/>
            <a:ext cx="2103120" cy="337185"/>
          </a:xfrm>
          <a:prstGeom prst="rect">
            <a:avLst/>
          </a:prstGeom>
          <a:noFill/>
        </p:spPr>
        <p:txBody>
          <a:bodyPr wrap="square">
            <a:spAutoFit/>
          </a:bodyPr>
          <a:lstStyle/>
          <a:p>
            <a:pPr algn="l"/>
            <a:r>
              <a:rPr sz="1600" b="1" i="0">
                <a:solidFill>
                  <a:srgbClr val="00B4D8"/>
                </a:solidFill>
                <a:latin typeface="Calibri" panose="020F0502020204030204"/>
              </a:rPr>
              <a:t>rooms / beds</a:t>
            </a:r>
            <a:endParaRPr sz="1600" b="1" i="0">
              <a:solidFill>
                <a:srgbClr val="00B4D8"/>
              </a:solidFill>
              <a:latin typeface="Calibri" panose="020F0502020204030204"/>
            </a:endParaRPr>
          </a:p>
        </p:txBody>
      </p:sp>
      <p:sp>
        <p:nvSpPr>
          <p:cNvPr id="47" name="Rectangle 46"/>
          <p:cNvSpPr/>
          <p:nvPr/>
        </p:nvSpPr>
        <p:spPr>
          <a:xfrm>
            <a:off x="246888" y="3941064"/>
            <a:ext cx="2103120"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8" name="TextBox 47"/>
          <p:cNvSpPr txBox="1"/>
          <p:nvPr/>
        </p:nvSpPr>
        <p:spPr>
          <a:xfrm>
            <a:off x="246888" y="3977640"/>
            <a:ext cx="2103120" cy="737235"/>
          </a:xfrm>
          <a:prstGeom prst="rect">
            <a:avLst/>
          </a:prstGeom>
          <a:noFill/>
        </p:spPr>
        <p:txBody>
          <a:bodyPr wrap="square">
            <a:spAutoFit/>
          </a:bodyPr>
          <a:lstStyle/>
          <a:p>
            <a:pPr algn="l"/>
            <a:r>
              <a:rPr sz="1400" b="0" i="0">
                <a:solidFill>
                  <a:srgbClr val="FFFFFF"/>
                </a:solidFill>
                <a:latin typeface="Calibri" panose="020F0502020204030204"/>
              </a:rPr>
              <a:t>id, room_no, type
bed_no, status
patient_id (FK)</a:t>
            </a:r>
            <a:endParaRPr sz="1400" b="0" i="0">
              <a:solidFill>
                <a:srgbClr val="FFFFFF"/>
              </a:solidFill>
              <a:latin typeface="Calibri" panose="020F0502020204030204"/>
            </a:endParaRPr>
          </a:p>
        </p:txBody>
      </p:sp>
      <p:sp>
        <p:nvSpPr>
          <p:cNvPr id="49" name="Rectangle 48"/>
          <p:cNvSpPr/>
          <p:nvPr/>
        </p:nvSpPr>
        <p:spPr>
          <a:xfrm>
            <a:off x="2578608" y="3648456"/>
            <a:ext cx="2194560" cy="1143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0" name="TextBox 49"/>
          <p:cNvSpPr txBox="1"/>
          <p:nvPr/>
        </p:nvSpPr>
        <p:spPr>
          <a:xfrm>
            <a:off x="2624327" y="3685032"/>
            <a:ext cx="2103120" cy="337185"/>
          </a:xfrm>
          <a:prstGeom prst="rect">
            <a:avLst/>
          </a:prstGeom>
          <a:noFill/>
        </p:spPr>
        <p:txBody>
          <a:bodyPr wrap="square">
            <a:spAutoFit/>
          </a:bodyPr>
          <a:lstStyle/>
          <a:p>
            <a:pPr algn="l"/>
            <a:r>
              <a:rPr sz="1600" b="1" i="0">
                <a:solidFill>
                  <a:srgbClr val="00B4D8"/>
                </a:solidFill>
                <a:latin typeface="Calibri" panose="020F0502020204030204"/>
              </a:rPr>
              <a:t>ot_schedules</a:t>
            </a:r>
            <a:endParaRPr sz="1600" b="1" i="0">
              <a:solidFill>
                <a:srgbClr val="00B4D8"/>
              </a:solidFill>
              <a:latin typeface="Calibri" panose="020F0502020204030204"/>
            </a:endParaRPr>
          </a:p>
        </p:txBody>
      </p:sp>
      <p:sp>
        <p:nvSpPr>
          <p:cNvPr id="51" name="Rectangle 50"/>
          <p:cNvSpPr/>
          <p:nvPr/>
        </p:nvSpPr>
        <p:spPr>
          <a:xfrm>
            <a:off x="2624327" y="3941064"/>
            <a:ext cx="2103120"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2" name="TextBox 51"/>
          <p:cNvSpPr txBox="1"/>
          <p:nvPr/>
        </p:nvSpPr>
        <p:spPr>
          <a:xfrm>
            <a:off x="2624327" y="3977640"/>
            <a:ext cx="2103120" cy="737235"/>
          </a:xfrm>
          <a:prstGeom prst="rect">
            <a:avLst/>
          </a:prstGeom>
          <a:noFill/>
        </p:spPr>
        <p:txBody>
          <a:bodyPr wrap="square">
            <a:spAutoFit/>
          </a:bodyPr>
          <a:lstStyle/>
          <a:p>
            <a:pPr algn="l"/>
            <a:r>
              <a:rPr sz="1400" b="0" i="0">
                <a:solidFill>
                  <a:srgbClr val="FFFFFF"/>
                </a:solidFill>
                <a:latin typeface="Calibri" panose="020F0502020204030204"/>
              </a:rPr>
              <a:t>id, surgeon_id
anesthetist_id
procedure, theater</a:t>
            </a:r>
            <a:endParaRPr sz="1400" b="0" i="0">
              <a:solidFill>
                <a:srgbClr val="FFFFFF"/>
              </a:solidFill>
              <a:latin typeface="Calibri" panose="020F0502020204030204"/>
            </a:endParaRPr>
          </a:p>
        </p:txBody>
      </p:sp>
      <p:sp>
        <p:nvSpPr>
          <p:cNvPr id="53" name="Rectangle 52"/>
          <p:cNvSpPr/>
          <p:nvPr/>
        </p:nvSpPr>
        <p:spPr>
          <a:xfrm>
            <a:off x="4956048" y="3648456"/>
            <a:ext cx="2194560" cy="1143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4" name="TextBox 53"/>
          <p:cNvSpPr txBox="1"/>
          <p:nvPr/>
        </p:nvSpPr>
        <p:spPr>
          <a:xfrm>
            <a:off x="5001768" y="3685032"/>
            <a:ext cx="2103120" cy="337185"/>
          </a:xfrm>
          <a:prstGeom prst="rect">
            <a:avLst/>
          </a:prstGeom>
          <a:noFill/>
        </p:spPr>
        <p:txBody>
          <a:bodyPr wrap="square">
            <a:spAutoFit/>
          </a:bodyPr>
          <a:lstStyle/>
          <a:p>
            <a:pPr algn="l"/>
            <a:r>
              <a:rPr sz="1600" b="1" i="0">
                <a:solidFill>
                  <a:srgbClr val="00B4D8"/>
                </a:solidFill>
                <a:latin typeface="Calibri" panose="020F0502020204030204"/>
              </a:rPr>
              <a:t>messages</a:t>
            </a:r>
            <a:endParaRPr sz="1600" b="1" i="0">
              <a:solidFill>
                <a:srgbClr val="00B4D8"/>
              </a:solidFill>
              <a:latin typeface="Calibri" panose="020F0502020204030204"/>
            </a:endParaRPr>
          </a:p>
        </p:txBody>
      </p:sp>
      <p:sp>
        <p:nvSpPr>
          <p:cNvPr id="55" name="Rectangle 54"/>
          <p:cNvSpPr/>
          <p:nvPr/>
        </p:nvSpPr>
        <p:spPr>
          <a:xfrm>
            <a:off x="5001768" y="3941064"/>
            <a:ext cx="2103120"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6" name="TextBox 55"/>
          <p:cNvSpPr txBox="1"/>
          <p:nvPr/>
        </p:nvSpPr>
        <p:spPr>
          <a:xfrm>
            <a:off x="5001768" y="3977640"/>
            <a:ext cx="2103120" cy="737235"/>
          </a:xfrm>
          <a:prstGeom prst="rect">
            <a:avLst/>
          </a:prstGeom>
          <a:noFill/>
        </p:spPr>
        <p:txBody>
          <a:bodyPr wrap="square">
            <a:spAutoFit/>
          </a:bodyPr>
          <a:lstStyle/>
          <a:p>
            <a:pPr algn="l"/>
            <a:r>
              <a:rPr sz="1400" b="0" i="0">
                <a:solidFill>
                  <a:srgbClr val="FFFFFF"/>
                </a:solidFill>
                <a:latin typeface="Calibri" panose="020F0502020204030204"/>
              </a:rPr>
              <a:t>id, group_id
sender_id, content
encrypted, read_at</a:t>
            </a:r>
            <a:endParaRPr sz="1400" b="0" i="0">
              <a:solidFill>
                <a:srgbClr val="FFFFFF"/>
              </a:solidFill>
              <a:latin typeface="Calibri" panose="020F0502020204030204"/>
            </a:endParaRPr>
          </a:p>
        </p:txBody>
      </p:sp>
      <p:sp>
        <p:nvSpPr>
          <p:cNvPr id="57" name="Rectangle 56"/>
          <p:cNvSpPr/>
          <p:nvPr/>
        </p:nvSpPr>
        <p:spPr>
          <a:xfrm>
            <a:off x="7333488" y="3648456"/>
            <a:ext cx="2194560" cy="1143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8" name="TextBox 57"/>
          <p:cNvSpPr txBox="1"/>
          <p:nvPr/>
        </p:nvSpPr>
        <p:spPr>
          <a:xfrm>
            <a:off x="7379208" y="3685032"/>
            <a:ext cx="2103120" cy="337185"/>
          </a:xfrm>
          <a:prstGeom prst="rect">
            <a:avLst/>
          </a:prstGeom>
          <a:noFill/>
        </p:spPr>
        <p:txBody>
          <a:bodyPr wrap="square">
            <a:spAutoFit/>
          </a:bodyPr>
          <a:lstStyle/>
          <a:p>
            <a:pPr algn="l"/>
            <a:r>
              <a:rPr sz="1600" b="1" i="0">
                <a:solidFill>
                  <a:srgbClr val="00B4D8"/>
                </a:solidFill>
                <a:latin typeface="Calibri" panose="020F0502020204030204"/>
              </a:rPr>
              <a:t>audit_logs</a:t>
            </a:r>
            <a:endParaRPr sz="1600" b="1" i="0">
              <a:solidFill>
                <a:srgbClr val="00B4D8"/>
              </a:solidFill>
              <a:latin typeface="Calibri" panose="020F0502020204030204"/>
            </a:endParaRPr>
          </a:p>
        </p:txBody>
      </p:sp>
      <p:sp>
        <p:nvSpPr>
          <p:cNvPr id="59" name="Rectangle 58"/>
          <p:cNvSpPr/>
          <p:nvPr/>
        </p:nvSpPr>
        <p:spPr>
          <a:xfrm>
            <a:off x="7379208" y="3941064"/>
            <a:ext cx="2103120"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0" name="TextBox 59"/>
          <p:cNvSpPr txBox="1"/>
          <p:nvPr/>
        </p:nvSpPr>
        <p:spPr>
          <a:xfrm>
            <a:off x="7379208" y="3977640"/>
            <a:ext cx="2103120" cy="737235"/>
          </a:xfrm>
          <a:prstGeom prst="rect">
            <a:avLst/>
          </a:prstGeom>
          <a:noFill/>
        </p:spPr>
        <p:txBody>
          <a:bodyPr wrap="square">
            <a:spAutoFit/>
          </a:bodyPr>
          <a:lstStyle/>
          <a:p>
            <a:pPr algn="l"/>
            <a:r>
              <a:rPr sz="1400" b="0" i="0">
                <a:solidFill>
                  <a:srgbClr val="FFFFFF"/>
                </a:solidFill>
                <a:latin typeface="Calibri" panose="020F0502020204030204"/>
              </a:rPr>
              <a:t>id, user_id, action
prev_hash, row_hash
ip, user_agent</a:t>
            </a:r>
            <a:endParaRPr sz="1400" b="0" i="0">
              <a:solidFill>
                <a:srgbClr val="FFFFFF"/>
              </a:solidFill>
              <a:latin typeface="Calibri" panose="020F0502020204030204"/>
            </a:endParaRPr>
          </a:p>
        </p:txBody>
      </p:sp>
      <p:sp>
        <p:nvSpPr>
          <p:cNvPr id="61" name="Rectangle 60"/>
          <p:cNvSpPr/>
          <p:nvPr/>
        </p:nvSpPr>
        <p:spPr>
          <a:xfrm>
            <a:off x="9710928" y="3648456"/>
            <a:ext cx="2286000" cy="1143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2" name="TextBox 61"/>
          <p:cNvSpPr txBox="1"/>
          <p:nvPr/>
        </p:nvSpPr>
        <p:spPr>
          <a:xfrm>
            <a:off x="9756648" y="3685032"/>
            <a:ext cx="2194560" cy="337185"/>
          </a:xfrm>
          <a:prstGeom prst="rect">
            <a:avLst/>
          </a:prstGeom>
          <a:noFill/>
        </p:spPr>
        <p:txBody>
          <a:bodyPr wrap="square">
            <a:spAutoFit/>
          </a:bodyPr>
          <a:lstStyle/>
          <a:p>
            <a:pPr algn="l"/>
            <a:r>
              <a:rPr sz="1600" b="1" i="0">
                <a:solidFill>
                  <a:srgbClr val="00B4D8"/>
                </a:solidFill>
                <a:latin typeface="Calibri" panose="020F0502020204030204"/>
              </a:rPr>
              <a:t>blood_bank_units</a:t>
            </a:r>
            <a:endParaRPr sz="1600" b="1" i="0">
              <a:solidFill>
                <a:srgbClr val="00B4D8"/>
              </a:solidFill>
              <a:latin typeface="Calibri" panose="020F0502020204030204"/>
            </a:endParaRPr>
          </a:p>
        </p:txBody>
      </p:sp>
      <p:sp>
        <p:nvSpPr>
          <p:cNvPr id="63" name="Rectangle 62"/>
          <p:cNvSpPr/>
          <p:nvPr/>
        </p:nvSpPr>
        <p:spPr>
          <a:xfrm>
            <a:off x="9756648" y="3941064"/>
            <a:ext cx="2194560"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4" name="TextBox 63"/>
          <p:cNvSpPr txBox="1"/>
          <p:nvPr/>
        </p:nvSpPr>
        <p:spPr>
          <a:xfrm>
            <a:off x="9756648" y="3977640"/>
            <a:ext cx="2194560" cy="737235"/>
          </a:xfrm>
          <a:prstGeom prst="rect">
            <a:avLst/>
          </a:prstGeom>
          <a:noFill/>
        </p:spPr>
        <p:txBody>
          <a:bodyPr wrap="square">
            <a:spAutoFit/>
          </a:bodyPr>
          <a:lstStyle/>
          <a:p>
            <a:pPr algn="l"/>
            <a:r>
              <a:rPr sz="1400" b="0" i="0">
                <a:solidFill>
                  <a:srgbClr val="FFFFFF"/>
                </a:solidFill>
                <a:latin typeface="Calibri" panose="020F0502020204030204"/>
              </a:rPr>
              <a:t>id, blood_type
component, expiry
status, patient_id</a:t>
            </a:r>
            <a:endParaRPr sz="1400" b="0" i="0">
              <a:solidFill>
                <a:srgbClr val="FFFFFF"/>
              </a:solidFill>
              <a:latin typeface="Calibri" panose="020F0502020204030204"/>
            </a:endParaRPr>
          </a:p>
        </p:txBody>
      </p:sp>
      <p:sp>
        <p:nvSpPr>
          <p:cNvPr id="65" name="Rectangle 64"/>
          <p:cNvSpPr/>
          <p:nvPr/>
        </p:nvSpPr>
        <p:spPr>
          <a:xfrm>
            <a:off x="1298448" y="2011680"/>
            <a:ext cx="2286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6" name="Rectangle 65"/>
          <p:cNvSpPr/>
          <p:nvPr/>
        </p:nvSpPr>
        <p:spPr>
          <a:xfrm>
            <a:off x="3675887" y="2011680"/>
            <a:ext cx="2286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7" name="Rectangle 66"/>
          <p:cNvSpPr/>
          <p:nvPr/>
        </p:nvSpPr>
        <p:spPr>
          <a:xfrm>
            <a:off x="6053328" y="2011680"/>
            <a:ext cx="2286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8" name="Rectangle 67"/>
          <p:cNvSpPr/>
          <p:nvPr/>
        </p:nvSpPr>
        <p:spPr>
          <a:xfrm>
            <a:off x="8430768" y="2011680"/>
            <a:ext cx="2286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9" name="Rectangle 68"/>
          <p:cNvSpPr/>
          <p:nvPr/>
        </p:nvSpPr>
        <p:spPr>
          <a:xfrm>
            <a:off x="1298448" y="3447288"/>
            <a:ext cx="2286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70" name="Rectangle 69"/>
          <p:cNvSpPr/>
          <p:nvPr/>
        </p:nvSpPr>
        <p:spPr>
          <a:xfrm>
            <a:off x="3675887" y="3447288"/>
            <a:ext cx="2286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71" name="Rectangle 70"/>
          <p:cNvSpPr/>
          <p:nvPr/>
        </p:nvSpPr>
        <p:spPr>
          <a:xfrm>
            <a:off x="6053328" y="3447288"/>
            <a:ext cx="2286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72" name="Rectangle 71"/>
          <p:cNvSpPr/>
          <p:nvPr/>
        </p:nvSpPr>
        <p:spPr>
          <a:xfrm>
            <a:off x="8430768" y="3447288"/>
            <a:ext cx="22860" cy="2011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73" name="Rectangle 72"/>
          <p:cNvSpPr/>
          <p:nvPr/>
        </p:nvSpPr>
        <p:spPr>
          <a:xfrm>
            <a:off x="201168" y="4919472"/>
            <a:ext cx="11777472" cy="17830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74" name="TextBox 73"/>
          <p:cNvSpPr txBox="1"/>
          <p:nvPr/>
        </p:nvSpPr>
        <p:spPr>
          <a:xfrm>
            <a:off x="274320" y="4956048"/>
            <a:ext cx="11612880" cy="398780"/>
          </a:xfrm>
          <a:prstGeom prst="rect">
            <a:avLst/>
          </a:prstGeom>
          <a:noFill/>
        </p:spPr>
        <p:txBody>
          <a:bodyPr wrap="square">
            <a:spAutoFit/>
          </a:bodyPr>
          <a:lstStyle/>
          <a:p>
            <a:pPr algn="l"/>
            <a:r>
              <a:rPr sz="2000" b="1" i="0">
                <a:solidFill>
                  <a:srgbClr val="0D2137"/>
                </a:solidFill>
                <a:latin typeface="Calibri" panose="020F0502020204030204"/>
              </a:rPr>
              <a:t>Key Design Decisions:</a:t>
            </a:r>
            <a:endParaRPr sz="2000" b="1" i="0">
              <a:solidFill>
                <a:srgbClr val="0D2137"/>
              </a:solidFill>
              <a:latin typeface="Calibri" panose="020F0502020204030204"/>
            </a:endParaRPr>
          </a:p>
        </p:txBody>
      </p:sp>
      <p:sp>
        <p:nvSpPr>
          <p:cNvPr id="75" name="TextBox 74"/>
          <p:cNvSpPr txBox="1"/>
          <p:nvPr/>
        </p:nvSpPr>
        <p:spPr>
          <a:xfrm>
            <a:off x="274320" y="5248656"/>
            <a:ext cx="5669280" cy="1450340"/>
          </a:xfrm>
          <a:prstGeom prst="rect">
            <a:avLst/>
          </a:prstGeom>
          <a:noFill/>
        </p:spPr>
        <p:txBody>
          <a:bodyPr wrap="square">
            <a:spAutoFit/>
          </a:bodyPr>
          <a:lstStyle/>
          <a:p>
            <a:pPr algn="l">
              <a:spcBef>
                <a:spcPts val="300"/>
              </a:spcBef>
              <a:spcAft>
                <a:spcPts val="200"/>
              </a:spcAft>
            </a:pPr>
            <a:r>
              <a:rPr sz="1600">
                <a:solidFill>
                  <a:srgbClr val="1E293B"/>
                </a:solidFill>
                <a:latin typeface="Calibri" panose="020F0502020204030204"/>
              </a:rPr>
              <a:t>  •  Encrypted columns: email, phone, address (pgcrypto AES-256)</a:t>
            </a:r>
            <a:endParaRPr sz="1600">
              <a:solidFill>
                <a:srgbClr val="1E293B"/>
              </a:solidFill>
              <a:latin typeface="Calibri" panose="020F0502020204030204"/>
            </a:endParaRPr>
          </a:p>
          <a:p>
            <a:pPr algn="l">
              <a:spcBef>
                <a:spcPts val="300"/>
              </a:spcBef>
              <a:spcAft>
                <a:spcPts val="200"/>
              </a:spcAft>
            </a:pPr>
            <a:r>
              <a:rPr sz="1600">
                <a:solidFill>
                  <a:srgbClr val="1E293B"/>
                </a:solidFill>
                <a:latin typeface="Calibri" panose="020F0502020204030204"/>
              </a:rPr>
              <a:t>  •  DB transactions: patient creation, discharge use atomic transactions</a:t>
            </a:r>
            <a:endParaRPr sz="1600">
              <a:solidFill>
                <a:srgbClr val="1E293B"/>
              </a:solidFill>
              <a:latin typeface="Calibri" panose="020F0502020204030204"/>
            </a:endParaRPr>
          </a:p>
          <a:p>
            <a:pPr algn="l">
              <a:spcBef>
                <a:spcPts val="300"/>
              </a:spcBef>
              <a:spcAft>
                <a:spcPts val="200"/>
              </a:spcAft>
            </a:pPr>
            <a:r>
              <a:rPr sz="1600">
                <a:solidFill>
                  <a:srgbClr val="1E293B"/>
                </a:solidFill>
                <a:latin typeface="Calibri" panose="020F0502020204030204"/>
              </a:rPr>
              <a:t>  •  Indexes: MRN, employee_id, foreign keys, timestamps for fast queries</a:t>
            </a:r>
            <a:endParaRPr sz="1600">
              <a:solidFill>
                <a:srgbClr val="1E293B"/>
              </a:solidFill>
              <a:latin typeface="Calibri" panose="020F0502020204030204"/>
            </a:endParaRPr>
          </a:p>
        </p:txBody>
      </p:sp>
      <p:sp>
        <p:nvSpPr>
          <p:cNvPr id="76" name="TextBox 75"/>
          <p:cNvSpPr txBox="1"/>
          <p:nvPr/>
        </p:nvSpPr>
        <p:spPr>
          <a:xfrm>
            <a:off x="6035040" y="5248656"/>
            <a:ext cx="5669280" cy="958215"/>
          </a:xfrm>
          <a:prstGeom prst="rect">
            <a:avLst/>
          </a:prstGeom>
          <a:noFill/>
        </p:spPr>
        <p:txBody>
          <a:bodyPr wrap="square">
            <a:spAutoFit/>
          </a:bodyPr>
          <a:lstStyle/>
          <a:p>
            <a:pPr algn="l">
              <a:spcBef>
                <a:spcPts val="300"/>
              </a:spcBef>
              <a:spcAft>
                <a:spcPts val="200"/>
              </a:spcAft>
            </a:pPr>
            <a:r>
              <a:rPr sz="1600">
                <a:solidFill>
                  <a:srgbClr val="1E293B"/>
                </a:solidFill>
                <a:latin typeface="Calibri" panose="020F0502020204030204"/>
              </a:rPr>
              <a:t>  •  Hash-chain: audit_logs.prev_hash = SHA256 of previous row</a:t>
            </a:r>
            <a:endParaRPr sz="1600">
              <a:solidFill>
                <a:srgbClr val="1E293B"/>
              </a:solidFill>
              <a:latin typeface="Calibri" panose="020F0502020204030204"/>
            </a:endParaRPr>
          </a:p>
          <a:p>
            <a:pPr algn="l">
              <a:spcBef>
                <a:spcPts val="300"/>
              </a:spcBef>
              <a:spcAft>
                <a:spcPts val="200"/>
              </a:spcAft>
            </a:pPr>
            <a:r>
              <a:rPr sz="1600">
                <a:solidFill>
                  <a:srgbClr val="1E293B"/>
                </a:solidFill>
                <a:latin typeface="Calibri" panose="020F0502020204030204"/>
              </a:rPr>
              <a:t>  •  Soft deletes: records marked inactive, never hard-deleted</a:t>
            </a:r>
            <a:endParaRPr sz="1600">
              <a:solidFill>
                <a:srgbClr val="1E293B"/>
              </a:solidFill>
              <a:latin typeface="Calibri" panose="020F0502020204030204"/>
            </a:endParaRPr>
          </a:p>
          <a:p>
            <a:pPr algn="l">
              <a:spcBef>
                <a:spcPts val="300"/>
              </a:spcBef>
              <a:spcAft>
                <a:spcPts val="200"/>
              </a:spcAft>
            </a:pPr>
            <a:r>
              <a:rPr sz="1600">
                <a:solidFill>
                  <a:srgbClr val="1E293B"/>
                </a:solidFill>
                <a:latin typeface="Calibri" panose="020F0502020204030204"/>
              </a:rPr>
              <a:t>  •  UUID primary keys: all tables use UUID v4 for security</a:t>
            </a:r>
            <a:endParaRPr sz="1600">
              <a:solidFill>
                <a:srgbClr val="1E293B"/>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583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274320" y="91440"/>
            <a:ext cx="11612880" cy="521970"/>
          </a:xfrm>
          <a:prstGeom prst="rect">
            <a:avLst/>
          </a:prstGeom>
          <a:noFill/>
        </p:spPr>
        <p:txBody>
          <a:bodyPr wrap="square">
            <a:spAutoFit/>
          </a:bodyPr>
          <a:lstStyle/>
          <a:p>
            <a:pPr algn="l"/>
            <a:r>
              <a:rPr sz="2800" b="1" i="0">
                <a:solidFill>
                  <a:srgbClr val="FFFFFF"/>
                </a:solidFill>
                <a:latin typeface="Calibri" panose="020F0502020204030204"/>
              </a:rPr>
              <a:t>API Flow — Prescription Workflow (Detailed Flowchart)</a:t>
            </a:r>
            <a:endParaRPr sz="2800" b="1" i="0">
              <a:solidFill>
                <a:srgbClr val="FFFFFF"/>
              </a:solidFill>
              <a:latin typeface="Calibri" panose="020F0502020204030204"/>
            </a:endParaRPr>
          </a:p>
        </p:txBody>
      </p:sp>
      <p:sp>
        <p:nvSpPr>
          <p:cNvPr id="4" name="Rectangle 3"/>
          <p:cNvSpPr/>
          <p:nvPr/>
        </p:nvSpPr>
        <p:spPr>
          <a:xfrm>
            <a:off x="0" y="658368"/>
            <a:ext cx="109728" cy="61996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Rectangle 4"/>
          <p:cNvSpPr/>
          <p:nvPr/>
        </p:nvSpPr>
        <p:spPr>
          <a:xfrm>
            <a:off x="201168" y="749808"/>
            <a:ext cx="3474720" cy="3840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246888" y="749808"/>
            <a:ext cx="3383279" cy="306705"/>
          </a:xfrm>
          <a:prstGeom prst="rect">
            <a:avLst/>
          </a:prstGeom>
          <a:noFill/>
        </p:spPr>
        <p:txBody>
          <a:bodyPr wrap="square">
            <a:spAutoFit/>
          </a:bodyPr>
          <a:lstStyle/>
          <a:p>
            <a:pPr algn="ctr"/>
            <a:r>
              <a:rPr sz="1400" b="1" i="0">
                <a:solidFill>
                  <a:srgbClr val="FFFFFF"/>
                </a:solidFill>
                <a:latin typeface="Calibri" panose="020F0502020204030204"/>
              </a:rPr>
              <a:t>🧑‍⚕️  DOCTOR</a:t>
            </a:r>
            <a:endParaRPr sz="1400" b="1" i="0">
              <a:solidFill>
                <a:srgbClr val="FFFFFF"/>
              </a:solidFill>
              <a:latin typeface="Calibri" panose="020F0502020204030204"/>
            </a:endParaRPr>
          </a:p>
        </p:txBody>
      </p:sp>
      <p:sp>
        <p:nvSpPr>
          <p:cNvPr id="7" name="Rectangle 6"/>
          <p:cNvSpPr/>
          <p:nvPr/>
        </p:nvSpPr>
        <p:spPr>
          <a:xfrm>
            <a:off x="4178808" y="749808"/>
            <a:ext cx="3474720" cy="38404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4224528" y="749808"/>
            <a:ext cx="3383279" cy="306705"/>
          </a:xfrm>
          <a:prstGeom prst="rect">
            <a:avLst/>
          </a:prstGeom>
          <a:noFill/>
        </p:spPr>
        <p:txBody>
          <a:bodyPr wrap="square">
            <a:spAutoFit/>
          </a:bodyPr>
          <a:lstStyle/>
          <a:p>
            <a:pPr algn="ctr"/>
            <a:r>
              <a:rPr sz="1400" b="1" i="0">
                <a:solidFill>
                  <a:srgbClr val="FFFFFF"/>
                </a:solidFill>
                <a:latin typeface="Calibri" panose="020F0502020204030204"/>
              </a:rPr>
              <a:t>⚙️  SYSTEM (Backend)</a:t>
            </a:r>
            <a:endParaRPr sz="1400" b="1" i="0">
              <a:solidFill>
                <a:srgbClr val="FFFFFF"/>
              </a:solidFill>
              <a:latin typeface="Calibri" panose="020F0502020204030204"/>
            </a:endParaRPr>
          </a:p>
        </p:txBody>
      </p:sp>
      <p:sp>
        <p:nvSpPr>
          <p:cNvPr id="9" name="Rectangle 8"/>
          <p:cNvSpPr/>
          <p:nvPr/>
        </p:nvSpPr>
        <p:spPr>
          <a:xfrm>
            <a:off x="8156448" y="749808"/>
            <a:ext cx="3474720" cy="384048"/>
          </a:xfrm>
          <a:prstGeom prst="rect">
            <a:avLst/>
          </a:prstGeom>
          <a:solidFill>
            <a:srgbClr val="009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8202168" y="749808"/>
            <a:ext cx="3383279" cy="306705"/>
          </a:xfrm>
          <a:prstGeom prst="rect">
            <a:avLst/>
          </a:prstGeom>
          <a:noFill/>
        </p:spPr>
        <p:txBody>
          <a:bodyPr wrap="square">
            <a:spAutoFit/>
          </a:bodyPr>
          <a:lstStyle/>
          <a:p>
            <a:pPr algn="ctr"/>
            <a:r>
              <a:rPr sz="1400" b="1" i="0">
                <a:solidFill>
                  <a:srgbClr val="FFFFFF"/>
                </a:solidFill>
                <a:latin typeface="Calibri" panose="020F0502020204030204"/>
              </a:rPr>
              <a:t>💊  PHARMACIST / PATIENT</a:t>
            </a:r>
            <a:endParaRPr sz="1400" b="1" i="0">
              <a:solidFill>
                <a:srgbClr val="FFFFFF"/>
              </a:solidFill>
              <a:latin typeface="Calibri" panose="020F0502020204030204"/>
            </a:endParaRPr>
          </a:p>
        </p:txBody>
      </p:sp>
      <p:sp>
        <p:nvSpPr>
          <p:cNvPr id="11" name="Rounded Rectangle 10"/>
          <p:cNvSpPr/>
          <p:nvPr/>
        </p:nvSpPr>
        <p:spPr>
          <a:xfrm>
            <a:off x="201168" y="1261872"/>
            <a:ext cx="3474720" cy="530352"/>
          </a:xfrm>
          <a:prstGeom prst="roundRect">
            <a:avLst/>
          </a:prstGeom>
          <a:solidFill>
            <a:srgbClr val="00B4D8"/>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1"/>
          <p:cNvSpPr txBox="1"/>
          <p:nvPr/>
        </p:nvSpPr>
        <p:spPr>
          <a:xfrm>
            <a:off x="246888" y="1280160"/>
            <a:ext cx="3383279" cy="460375"/>
          </a:xfrm>
          <a:prstGeom prst="rect">
            <a:avLst/>
          </a:prstGeom>
          <a:noFill/>
        </p:spPr>
        <p:txBody>
          <a:bodyPr wrap="square">
            <a:spAutoFit/>
          </a:bodyPr>
          <a:lstStyle/>
          <a:p>
            <a:pPr algn="ctr"/>
            <a:r>
              <a:rPr sz="1200" b="1">
                <a:solidFill>
                  <a:srgbClr val="FFFFFF"/>
                </a:solidFill>
                <a:latin typeface="Calibri" panose="020F0502020204030204"/>
              </a:rPr>
              <a:t>Opens prescription form
in Doctor Dashboard</a:t>
            </a:r>
            <a:endParaRPr sz="1200" b="1">
              <a:solidFill>
                <a:srgbClr val="FFFFFF"/>
              </a:solidFill>
              <a:latin typeface="Calibri" panose="020F0502020204030204"/>
            </a:endParaRPr>
          </a:p>
        </p:txBody>
      </p:sp>
      <p:sp>
        <p:nvSpPr>
          <p:cNvPr id="13" name="Rectangle 12"/>
          <p:cNvSpPr/>
          <p:nvPr/>
        </p:nvSpPr>
        <p:spPr>
          <a:xfrm>
            <a:off x="1927555" y="1792224"/>
            <a:ext cx="2286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Rounded Rectangle 13"/>
          <p:cNvSpPr/>
          <p:nvPr/>
        </p:nvSpPr>
        <p:spPr>
          <a:xfrm>
            <a:off x="201168" y="1901952"/>
            <a:ext cx="3474720" cy="530352"/>
          </a:xfrm>
          <a:prstGeom prst="roundRect">
            <a:avLst/>
          </a:prstGeom>
          <a:solidFill>
            <a:srgbClr val="00B4D8"/>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246888" y="1920240"/>
            <a:ext cx="3383279" cy="460375"/>
          </a:xfrm>
          <a:prstGeom prst="rect">
            <a:avLst/>
          </a:prstGeom>
          <a:noFill/>
        </p:spPr>
        <p:txBody>
          <a:bodyPr wrap="square">
            <a:spAutoFit/>
          </a:bodyPr>
          <a:lstStyle/>
          <a:p>
            <a:pPr algn="ctr"/>
            <a:r>
              <a:rPr sz="1200" b="1">
                <a:solidFill>
                  <a:srgbClr val="FFFFFF"/>
                </a:solidFill>
                <a:latin typeface="Calibri" panose="020F0502020204030204"/>
              </a:rPr>
              <a:t>Searches medicine DB
(e.g. Metformin 500mg)</a:t>
            </a:r>
            <a:endParaRPr sz="1200" b="1">
              <a:solidFill>
                <a:srgbClr val="FFFFFF"/>
              </a:solidFill>
              <a:latin typeface="Calibri" panose="020F0502020204030204"/>
            </a:endParaRPr>
          </a:p>
        </p:txBody>
      </p:sp>
      <p:sp>
        <p:nvSpPr>
          <p:cNvPr id="16" name="Rectangle 15"/>
          <p:cNvSpPr/>
          <p:nvPr/>
        </p:nvSpPr>
        <p:spPr>
          <a:xfrm>
            <a:off x="1927555" y="2432304"/>
            <a:ext cx="2286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Rounded Rectangle 16"/>
          <p:cNvSpPr/>
          <p:nvPr/>
        </p:nvSpPr>
        <p:spPr>
          <a:xfrm>
            <a:off x="201168" y="2542032"/>
            <a:ext cx="3474720" cy="530352"/>
          </a:xfrm>
          <a:prstGeom prst="roundRect">
            <a:avLst/>
          </a:prstGeom>
          <a:solidFill>
            <a:srgbClr val="00B4D8"/>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7"/>
          <p:cNvSpPr txBox="1"/>
          <p:nvPr/>
        </p:nvSpPr>
        <p:spPr>
          <a:xfrm>
            <a:off x="246888" y="2560320"/>
            <a:ext cx="3383279" cy="460375"/>
          </a:xfrm>
          <a:prstGeom prst="rect">
            <a:avLst/>
          </a:prstGeom>
          <a:noFill/>
        </p:spPr>
        <p:txBody>
          <a:bodyPr wrap="square">
            <a:spAutoFit/>
          </a:bodyPr>
          <a:lstStyle/>
          <a:p>
            <a:pPr algn="ctr"/>
            <a:r>
              <a:rPr sz="1200" b="1">
                <a:solidFill>
                  <a:srgbClr val="FFFFFF"/>
                </a:solidFill>
                <a:latin typeface="Calibri" panose="020F0502020204030204"/>
              </a:rPr>
              <a:t>Sets dosage, frequency,
duration, notes</a:t>
            </a:r>
            <a:endParaRPr sz="1200" b="1">
              <a:solidFill>
                <a:srgbClr val="FFFFFF"/>
              </a:solidFill>
              <a:latin typeface="Calibri" panose="020F0502020204030204"/>
            </a:endParaRPr>
          </a:p>
        </p:txBody>
      </p:sp>
      <p:sp>
        <p:nvSpPr>
          <p:cNvPr id="19" name="Rectangle 18"/>
          <p:cNvSpPr/>
          <p:nvPr/>
        </p:nvSpPr>
        <p:spPr>
          <a:xfrm>
            <a:off x="1927555" y="3072384"/>
            <a:ext cx="2286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Rounded Rectangle 19"/>
          <p:cNvSpPr/>
          <p:nvPr/>
        </p:nvSpPr>
        <p:spPr>
          <a:xfrm>
            <a:off x="201168" y="3182112"/>
            <a:ext cx="3474720" cy="530352"/>
          </a:xfrm>
          <a:prstGeom prst="roundRect">
            <a:avLst/>
          </a:prstGeom>
          <a:solidFill>
            <a:srgbClr val="00B4D8"/>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TextBox 20"/>
          <p:cNvSpPr txBox="1"/>
          <p:nvPr/>
        </p:nvSpPr>
        <p:spPr>
          <a:xfrm>
            <a:off x="246888" y="3200400"/>
            <a:ext cx="3383279" cy="460375"/>
          </a:xfrm>
          <a:prstGeom prst="rect">
            <a:avLst/>
          </a:prstGeom>
          <a:noFill/>
        </p:spPr>
        <p:txBody>
          <a:bodyPr wrap="square">
            <a:spAutoFit/>
          </a:bodyPr>
          <a:lstStyle/>
          <a:p>
            <a:pPr algn="ctr"/>
            <a:r>
              <a:rPr sz="1200" b="1">
                <a:solidFill>
                  <a:srgbClr val="FFFFFF"/>
                </a:solidFill>
                <a:latin typeface="Calibri" panose="020F0502020204030204"/>
              </a:rPr>
              <a:t>Clicks SAVE
POST /api/prescriptions</a:t>
            </a:r>
            <a:endParaRPr sz="1200" b="1">
              <a:solidFill>
                <a:srgbClr val="FFFFFF"/>
              </a:solidFill>
              <a:latin typeface="Calibri" panose="020F0502020204030204"/>
            </a:endParaRPr>
          </a:p>
        </p:txBody>
      </p:sp>
      <p:sp>
        <p:nvSpPr>
          <p:cNvPr id="22" name="Rectangle 21"/>
          <p:cNvSpPr/>
          <p:nvPr/>
        </p:nvSpPr>
        <p:spPr>
          <a:xfrm>
            <a:off x="1927555" y="3712463"/>
            <a:ext cx="2286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Rounded Rectangle 22"/>
          <p:cNvSpPr/>
          <p:nvPr/>
        </p:nvSpPr>
        <p:spPr>
          <a:xfrm>
            <a:off x="201168" y="4828032"/>
            <a:ext cx="3474720" cy="530352"/>
          </a:xfrm>
          <a:prstGeom prst="roundRect">
            <a:avLst/>
          </a:prstGeom>
          <a:solidFill>
            <a:srgbClr val="00B4D8"/>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246888" y="4846320"/>
            <a:ext cx="3383279" cy="460375"/>
          </a:xfrm>
          <a:prstGeom prst="rect">
            <a:avLst/>
          </a:prstGeom>
          <a:noFill/>
        </p:spPr>
        <p:txBody>
          <a:bodyPr wrap="square">
            <a:spAutoFit/>
          </a:bodyPr>
          <a:lstStyle/>
          <a:p>
            <a:pPr algn="ctr"/>
            <a:r>
              <a:rPr sz="1200" b="1">
                <a:solidFill>
                  <a:srgbClr val="FFFFFF"/>
                </a:solidFill>
                <a:latin typeface="Calibri" panose="020F0502020204030204"/>
              </a:rPr>
              <a:t>Views patient's
prescription history</a:t>
            </a:r>
            <a:endParaRPr sz="1200" b="1">
              <a:solidFill>
                <a:srgbClr val="FFFFFF"/>
              </a:solidFill>
              <a:latin typeface="Calibri" panose="020F0502020204030204"/>
            </a:endParaRPr>
          </a:p>
        </p:txBody>
      </p:sp>
      <p:sp>
        <p:nvSpPr>
          <p:cNvPr id="25" name="Rounded Rectangle 24"/>
          <p:cNvSpPr/>
          <p:nvPr/>
        </p:nvSpPr>
        <p:spPr>
          <a:xfrm>
            <a:off x="4178808" y="1261872"/>
            <a:ext cx="3474720" cy="530352"/>
          </a:xfrm>
          <a:prstGeom prst="roundRect">
            <a:avLst/>
          </a:prstGeom>
          <a:solidFill>
            <a:srgbClr val="0D2137"/>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TextBox 25"/>
          <p:cNvSpPr txBox="1"/>
          <p:nvPr/>
        </p:nvSpPr>
        <p:spPr>
          <a:xfrm>
            <a:off x="4224528" y="1280160"/>
            <a:ext cx="3383279" cy="460375"/>
          </a:xfrm>
          <a:prstGeom prst="rect">
            <a:avLst/>
          </a:prstGeom>
          <a:noFill/>
        </p:spPr>
        <p:txBody>
          <a:bodyPr wrap="square">
            <a:spAutoFit/>
          </a:bodyPr>
          <a:lstStyle/>
          <a:p>
            <a:pPr algn="ctr"/>
            <a:r>
              <a:rPr sz="1200" b="1">
                <a:solidFill>
                  <a:srgbClr val="FFFFFF"/>
                </a:solidFill>
                <a:latin typeface="Calibri" panose="020F0502020204030204"/>
              </a:rPr>
              <a:t>JWT verified
RBAC: DOCTOR role only</a:t>
            </a:r>
            <a:endParaRPr sz="1200" b="1">
              <a:solidFill>
                <a:srgbClr val="FFFFFF"/>
              </a:solidFill>
              <a:latin typeface="Calibri" panose="020F0502020204030204"/>
            </a:endParaRPr>
          </a:p>
        </p:txBody>
      </p:sp>
      <p:sp>
        <p:nvSpPr>
          <p:cNvPr id="27" name="Rectangle 26"/>
          <p:cNvSpPr/>
          <p:nvPr/>
        </p:nvSpPr>
        <p:spPr>
          <a:xfrm>
            <a:off x="5905195" y="1792224"/>
            <a:ext cx="2286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Rounded Rectangle 27"/>
          <p:cNvSpPr/>
          <p:nvPr/>
        </p:nvSpPr>
        <p:spPr>
          <a:xfrm>
            <a:off x="4178808" y="1901952"/>
            <a:ext cx="3474720" cy="530352"/>
          </a:xfrm>
          <a:prstGeom prst="roundRect">
            <a:avLst/>
          </a:prstGeom>
          <a:solidFill>
            <a:srgbClr val="0D2137"/>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p:cNvSpPr txBox="1"/>
          <p:nvPr/>
        </p:nvSpPr>
        <p:spPr>
          <a:xfrm>
            <a:off x="4224528" y="1920240"/>
            <a:ext cx="3383279" cy="460375"/>
          </a:xfrm>
          <a:prstGeom prst="rect">
            <a:avLst/>
          </a:prstGeom>
          <a:noFill/>
        </p:spPr>
        <p:txBody>
          <a:bodyPr wrap="square">
            <a:spAutoFit/>
          </a:bodyPr>
          <a:lstStyle/>
          <a:p>
            <a:pPr algn="ctr"/>
            <a:r>
              <a:rPr sz="1200" b="1">
                <a:solidFill>
                  <a:srgbClr val="FFFFFF"/>
                </a:solidFill>
                <a:latin typeface="Calibri" panose="020F0502020204030204"/>
              </a:rPr>
              <a:t>Zod schema validation
(required fields, types)</a:t>
            </a:r>
            <a:endParaRPr sz="1200" b="1">
              <a:solidFill>
                <a:srgbClr val="FFFFFF"/>
              </a:solidFill>
              <a:latin typeface="Calibri" panose="020F0502020204030204"/>
            </a:endParaRPr>
          </a:p>
        </p:txBody>
      </p:sp>
      <p:sp>
        <p:nvSpPr>
          <p:cNvPr id="30" name="Rectangle 29"/>
          <p:cNvSpPr/>
          <p:nvPr/>
        </p:nvSpPr>
        <p:spPr>
          <a:xfrm>
            <a:off x="5905195" y="2432304"/>
            <a:ext cx="2286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1" name="Rounded Rectangle 30"/>
          <p:cNvSpPr/>
          <p:nvPr/>
        </p:nvSpPr>
        <p:spPr>
          <a:xfrm>
            <a:off x="4178808" y="2542032"/>
            <a:ext cx="3474720" cy="530352"/>
          </a:xfrm>
          <a:prstGeom prst="roundRect">
            <a:avLst/>
          </a:prstGeom>
          <a:solidFill>
            <a:srgbClr val="0D2137"/>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TextBox 31"/>
          <p:cNvSpPr txBox="1"/>
          <p:nvPr/>
        </p:nvSpPr>
        <p:spPr>
          <a:xfrm>
            <a:off x="4224528" y="2560320"/>
            <a:ext cx="3383279" cy="460375"/>
          </a:xfrm>
          <a:prstGeom prst="rect">
            <a:avLst/>
          </a:prstGeom>
          <a:noFill/>
        </p:spPr>
        <p:txBody>
          <a:bodyPr wrap="square">
            <a:spAutoFit/>
          </a:bodyPr>
          <a:lstStyle/>
          <a:p>
            <a:pPr algn="ctr"/>
            <a:r>
              <a:rPr sz="1200" b="1">
                <a:solidFill>
                  <a:srgbClr val="FFFFFF"/>
                </a:solidFill>
                <a:latin typeface="Calibri" panose="020F0502020204030204"/>
              </a:rPr>
              <a:t>Saved to DB
(prescriptions table)</a:t>
            </a:r>
            <a:endParaRPr sz="1200" b="1">
              <a:solidFill>
                <a:srgbClr val="FFFFFF"/>
              </a:solidFill>
              <a:latin typeface="Calibri" panose="020F0502020204030204"/>
            </a:endParaRPr>
          </a:p>
        </p:txBody>
      </p:sp>
      <p:sp>
        <p:nvSpPr>
          <p:cNvPr id="33" name="Rectangle 32"/>
          <p:cNvSpPr/>
          <p:nvPr/>
        </p:nvSpPr>
        <p:spPr>
          <a:xfrm>
            <a:off x="5905195" y="3072384"/>
            <a:ext cx="2286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4" name="Rounded Rectangle 33"/>
          <p:cNvSpPr/>
          <p:nvPr/>
        </p:nvSpPr>
        <p:spPr>
          <a:xfrm>
            <a:off x="4178808" y="3182112"/>
            <a:ext cx="3474720" cy="530352"/>
          </a:xfrm>
          <a:prstGeom prst="roundRect">
            <a:avLst/>
          </a:prstGeom>
          <a:solidFill>
            <a:srgbClr val="0D2137"/>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TextBox 34"/>
          <p:cNvSpPr txBox="1"/>
          <p:nvPr/>
        </p:nvSpPr>
        <p:spPr>
          <a:xfrm>
            <a:off x="4224528" y="3200400"/>
            <a:ext cx="3383279" cy="460375"/>
          </a:xfrm>
          <a:prstGeom prst="rect">
            <a:avLst/>
          </a:prstGeom>
          <a:noFill/>
        </p:spPr>
        <p:txBody>
          <a:bodyPr wrap="square">
            <a:spAutoFit/>
          </a:bodyPr>
          <a:lstStyle/>
          <a:p>
            <a:pPr algn="ctr"/>
            <a:r>
              <a:rPr sz="1200" b="1">
                <a:solidFill>
                  <a:srgbClr val="FFFFFF"/>
                </a:solidFill>
                <a:latin typeface="Calibri" panose="020F0502020204030204"/>
              </a:rPr>
              <a:t>Socket.io emit to
pharmacist namespace</a:t>
            </a:r>
            <a:endParaRPr sz="1200" b="1">
              <a:solidFill>
                <a:srgbClr val="FFFFFF"/>
              </a:solidFill>
              <a:latin typeface="Calibri" panose="020F0502020204030204"/>
            </a:endParaRPr>
          </a:p>
        </p:txBody>
      </p:sp>
      <p:sp>
        <p:nvSpPr>
          <p:cNvPr id="36" name="Rectangle 35"/>
          <p:cNvSpPr/>
          <p:nvPr/>
        </p:nvSpPr>
        <p:spPr>
          <a:xfrm>
            <a:off x="5905195" y="3712463"/>
            <a:ext cx="2286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Rounded Rectangle 36"/>
          <p:cNvSpPr/>
          <p:nvPr/>
        </p:nvSpPr>
        <p:spPr>
          <a:xfrm>
            <a:off x="4178808" y="3822191"/>
            <a:ext cx="3474720" cy="530352"/>
          </a:xfrm>
          <a:prstGeom prst="roundRect">
            <a:avLst/>
          </a:prstGeom>
          <a:solidFill>
            <a:srgbClr val="0D2137"/>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8" name="TextBox 37"/>
          <p:cNvSpPr txBox="1"/>
          <p:nvPr/>
        </p:nvSpPr>
        <p:spPr>
          <a:xfrm>
            <a:off x="4224528" y="3840479"/>
            <a:ext cx="3383279" cy="460375"/>
          </a:xfrm>
          <a:prstGeom prst="rect">
            <a:avLst/>
          </a:prstGeom>
          <a:noFill/>
        </p:spPr>
        <p:txBody>
          <a:bodyPr wrap="square">
            <a:spAutoFit/>
          </a:bodyPr>
          <a:lstStyle/>
          <a:p>
            <a:pPr algn="ctr"/>
            <a:r>
              <a:rPr sz="1200" b="1">
                <a:solidFill>
                  <a:srgbClr val="FFFFFF"/>
                </a:solidFill>
                <a:latin typeface="Calibri" panose="020F0502020204030204"/>
              </a:rPr>
              <a:t>Audit log created
(user, IP, timestamp, data)</a:t>
            </a:r>
            <a:endParaRPr sz="1200" b="1">
              <a:solidFill>
                <a:srgbClr val="FFFFFF"/>
              </a:solidFill>
              <a:latin typeface="Calibri" panose="020F0502020204030204"/>
            </a:endParaRPr>
          </a:p>
        </p:txBody>
      </p:sp>
      <p:sp>
        <p:nvSpPr>
          <p:cNvPr id="39" name="Rectangle 38"/>
          <p:cNvSpPr/>
          <p:nvPr/>
        </p:nvSpPr>
        <p:spPr>
          <a:xfrm>
            <a:off x="5905195" y="4352544"/>
            <a:ext cx="2286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Rounded Rectangle 39"/>
          <p:cNvSpPr/>
          <p:nvPr/>
        </p:nvSpPr>
        <p:spPr>
          <a:xfrm>
            <a:off x="4178808" y="4828032"/>
            <a:ext cx="3474720" cy="530352"/>
          </a:xfrm>
          <a:prstGeom prst="roundRect">
            <a:avLst/>
          </a:prstGeom>
          <a:solidFill>
            <a:srgbClr val="0D2137"/>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1" name="TextBox 40"/>
          <p:cNvSpPr txBox="1"/>
          <p:nvPr/>
        </p:nvSpPr>
        <p:spPr>
          <a:xfrm>
            <a:off x="4224528" y="4846320"/>
            <a:ext cx="3383279" cy="460375"/>
          </a:xfrm>
          <a:prstGeom prst="rect">
            <a:avLst/>
          </a:prstGeom>
          <a:noFill/>
        </p:spPr>
        <p:txBody>
          <a:bodyPr wrap="square">
            <a:spAutoFit/>
          </a:bodyPr>
          <a:lstStyle/>
          <a:p>
            <a:pPr algn="ctr"/>
            <a:r>
              <a:rPr sz="1200" b="1">
                <a:solidFill>
                  <a:srgbClr val="FFFFFF"/>
                </a:solidFill>
                <a:latin typeface="Calibri" panose="020F0502020204030204"/>
              </a:rPr>
              <a:t>PDF generated
via Puppeteer on demand</a:t>
            </a:r>
            <a:endParaRPr sz="1200" b="1">
              <a:solidFill>
                <a:srgbClr val="FFFFFF"/>
              </a:solidFill>
              <a:latin typeface="Calibri" panose="020F0502020204030204"/>
            </a:endParaRPr>
          </a:p>
        </p:txBody>
      </p:sp>
      <p:sp>
        <p:nvSpPr>
          <p:cNvPr id="42" name="Rounded Rectangle 41"/>
          <p:cNvSpPr/>
          <p:nvPr/>
        </p:nvSpPr>
        <p:spPr>
          <a:xfrm>
            <a:off x="8156448" y="1261872"/>
            <a:ext cx="3474720" cy="530352"/>
          </a:xfrm>
          <a:prstGeom prst="roundRect">
            <a:avLst/>
          </a:prstGeom>
          <a:solidFill>
            <a:srgbClr val="0096B7"/>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3" name="TextBox 42"/>
          <p:cNvSpPr txBox="1"/>
          <p:nvPr/>
        </p:nvSpPr>
        <p:spPr>
          <a:xfrm>
            <a:off x="8202168" y="1280160"/>
            <a:ext cx="3383279" cy="460375"/>
          </a:xfrm>
          <a:prstGeom prst="rect">
            <a:avLst/>
          </a:prstGeom>
          <a:noFill/>
        </p:spPr>
        <p:txBody>
          <a:bodyPr wrap="square">
            <a:spAutoFit/>
          </a:bodyPr>
          <a:lstStyle/>
          <a:p>
            <a:pPr algn="ctr"/>
            <a:r>
              <a:rPr sz="1200" b="1">
                <a:solidFill>
                  <a:srgbClr val="FFFFFF"/>
                </a:solidFill>
                <a:latin typeface="Calibri" panose="020F0502020204030204"/>
              </a:rPr>
              <a:t>Pharmacist sees
new prescription badge</a:t>
            </a:r>
            <a:endParaRPr sz="1200" b="1">
              <a:solidFill>
                <a:srgbClr val="FFFFFF"/>
              </a:solidFill>
              <a:latin typeface="Calibri" panose="020F0502020204030204"/>
            </a:endParaRPr>
          </a:p>
        </p:txBody>
      </p:sp>
      <p:sp>
        <p:nvSpPr>
          <p:cNvPr id="44" name="Rectangle 43"/>
          <p:cNvSpPr/>
          <p:nvPr/>
        </p:nvSpPr>
        <p:spPr>
          <a:xfrm>
            <a:off x="9882835" y="1792224"/>
            <a:ext cx="2286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5" name="Rounded Rectangle 44"/>
          <p:cNvSpPr/>
          <p:nvPr/>
        </p:nvSpPr>
        <p:spPr>
          <a:xfrm>
            <a:off x="8156448" y="1901952"/>
            <a:ext cx="3474720" cy="530352"/>
          </a:xfrm>
          <a:prstGeom prst="roundRect">
            <a:avLst/>
          </a:prstGeom>
          <a:solidFill>
            <a:srgbClr val="0096B7"/>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8202168" y="1920240"/>
            <a:ext cx="3383279" cy="460375"/>
          </a:xfrm>
          <a:prstGeom prst="rect">
            <a:avLst/>
          </a:prstGeom>
          <a:noFill/>
        </p:spPr>
        <p:txBody>
          <a:bodyPr wrap="square">
            <a:spAutoFit/>
          </a:bodyPr>
          <a:lstStyle/>
          <a:p>
            <a:pPr algn="ctr"/>
            <a:r>
              <a:rPr sz="1200" b="1">
                <a:solidFill>
                  <a:srgbClr val="FFFFFF"/>
                </a:solidFill>
                <a:latin typeface="Calibri" panose="020F0502020204030204"/>
              </a:rPr>
              <a:t>Reviews prescription
in dispensing queue</a:t>
            </a:r>
            <a:endParaRPr sz="1200" b="1">
              <a:solidFill>
                <a:srgbClr val="FFFFFF"/>
              </a:solidFill>
              <a:latin typeface="Calibri" panose="020F0502020204030204"/>
            </a:endParaRPr>
          </a:p>
        </p:txBody>
      </p:sp>
      <p:sp>
        <p:nvSpPr>
          <p:cNvPr id="47" name="Rectangle 46"/>
          <p:cNvSpPr/>
          <p:nvPr/>
        </p:nvSpPr>
        <p:spPr>
          <a:xfrm>
            <a:off x="9882835" y="2432304"/>
            <a:ext cx="2286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8" name="Rounded Rectangle 47"/>
          <p:cNvSpPr/>
          <p:nvPr/>
        </p:nvSpPr>
        <p:spPr>
          <a:xfrm>
            <a:off x="8156448" y="2542032"/>
            <a:ext cx="3474720" cy="530352"/>
          </a:xfrm>
          <a:prstGeom prst="roundRect">
            <a:avLst/>
          </a:prstGeom>
          <a:solidFill>
            <a:srgbClr val="0096B7"/>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TextBox 48"/>
          <p:cNvSpPr txBox="1"/>
          <p:nvPr/>
        </p:nvSpPr>
        <p:spPr>
          <a:xfrm>
            <a:off x="8202168" y="2560320"/>
            <a:ext cx="3383279" cy="460375"/>
          </a:xfrm>
          <a:prstGeom prst="rect">
            <a:avLst/>
          </a:prstGeom>
          <a:noFill/>
        </p:spPr>
        <p:txBody>
          <a:bodyPr wrap="square">
            <a:spAutoFit/>
          </a:bodyPr>
          <a:lstStyle/>
          <a:p>
            <a:pPr algn="ctr"/>
            <a:r>
              <a:rPr sz="1200" b="1">
                <a:solidFill>
                  <a:srgbClr val="FFFFFF"/>
                </a:solidFill>
                <a:latin typeface="Calibri" panose="020F0502020204030204"/>
              </a:rPr>
              <a:t>Dispenses medication
PATCH /api/prescriptions/:id/dispense</a:t>
            </a:r>
            <a:endParaRPr sz="1200" b="1">
              <a:solidFill>
                <a:srgbClr val="FFFFFF"/>
              </a:solidFill>
              <a:latin typeface="Calibri" panose="020F0502020204030204"/>
            </a:endParaRPr>
          </a:p>
        </p:txBody>
      </p:sp>
      <p:sp>
        <p:nvSpPr>
          <p:cNvPr id="50" name="Rectangle 49"/>
          <p:cNvSpPr/>
          <p:nvPr/>
        </p:nvSpPr>
        <p:spPr>
          <a:xfrm>
            <a:off x="9882835" y="3072384"/>
            <a:ext cx="2286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1" name="Rounded Rectangle 50"/>
          <p:cNvSpPr/>
          <p:nvPr/>
        </p:nvSpPr>
        <p:spPr>
          <a:xfrm>
            <a:off x="8156448" y="3182112"/>
            <a:ext cx="3474720" cy="530352"/>
          </a:xfrm>
          <a:prstGeom prst="roundRect">
            <a:avLst/>
          </a:prstGeom>
          <a:solidFill>
            <a:srgbClr val="0096B7"/>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TextBox 51"/>
          <p:cNvSpPr txBox="1"/>
          <p:nvPr/>
        </p:nvSpPr>
        <p:spPr>
          <a:xfrm>
            <a:off x="8202168" y="3200400"/>
            <a:ext cx="3383279" cy="460375"/>
          </a:xfrm>
          <a:prstGeom prst="rect">
            <a:avLst/>
          </a:prstGeom>
          <a:noFill/>
        </p:spPr>
        <p:txBody>
          <a:bodyPr wrap="square">
            <a:spAutoFit/>
          </a:bodyPr>
          <a:lstStyle/>
          <a:p>
            <a:pPr algn="ctr"/>
            <a:r>
              <a:rPr sz="1200" b="1">
                <a:solidFill>
                  <a:srgbClr val="FFFFFF"/>
                </a:solidFill>
                <a:latin typeface="Calibri" panose="020F0502020204030204"/>
              </a:rPr>
              <a:t>Patient notified
via Socket.io push</a:t>
            </a:r>
            <a:endParaRPr sz="1200" b="1">
              <a:solidFill>
                <a:srgbClr val="FFFFFF"/>
              </a:solidFill>
              <a:latin typeface="Calibri" panose="020F0502020204030204"/>
            </a:endParaRPr>
          </a:p>
        </p:txBody>
      </p:sp>
      <p:sp>
        <p:nvSpPr>
          <p:cNvPr id="53" name="Rectangle 52"/>
          <p:cNvSpPr/>
          <p:nvPr/>
        </p:nvSpPr>
        <p:spPr>
          <a:xfrm>
            <a:off x="9882835" y="3712463"/>
            <a:ext cx="22860" cy="109728"/>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4" name="Rounded Rectangle 53"/>
          <p:cNvSpPr/>
          <p:nvPr/>
        </p:nvSpPr>
        <p:spPr>
          <a:xfrm>
            <a:off x="8156448" y="4828032"/>
            <a:ext cx="3474720" cy="530352"/>
          </a:xfrm>
          <a:prstGeom prst="roundRect">
            <a:avLst/>
          </a:prstGeom>
          <a:solidFill>
            <a:srgbClr val="0096B7"/>
          </a:solidFill>
          <a:ln>
            <a:solidFill>
              <a:srgbClr val="0096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5" name="TextBox 54"/>
          <p:cNvSpPr txBox="1"/>
          <p:nvPr/>
        </p:nvSpPr>
        <p:spPr>
          <a:xfrm>
            <a:off x="8202168" y="4846320"/>
            <a:ext cx="3383279" cy="460375"/>
          </a:xfrm>
          <a:prstGeom prst="rect">
            <a:avLst/>
          </a:prstGeom>
          <a:noFill/>
        </p:spPr>
        <p:txBody>
          <a:bodyPr wrap="square">
            <a:spAutoFit/>
          </a:bodyPr>
          <a:lstStyle/>
          <a:p>
            <a:pPr algn="ctr"/>
            <a:r>
              <a:rPr sz="1200" b="1">
                <a:solidFill>
                  <a:srgbClr val="FFFFFF"/>
                </a:solidFill>
                <a:latin typeface="Calibri" panose="020F0502020204030204"/>
              </a:rPr>
              <a:t>Patient downloads PDF
GET /api/prescriptions/:id/pdf</a:t>
            </a:r>
            <a:endParaRPr sz="1200" b="1">
              <a:solidFill>
                <a:srgbClr val="FFFFFF"/>
              </a:solidFill>
              <a:latin typeface="Calibri" panose="020F0502020204030204"/>
            </a:endParaRPr>
          </a:p>
        </p:txBody>
      </p:sp>
      <p:sp>
        <p:nvSpPr>
          <p:cNvPr id="56" name="Rectangle 55"/>
          <p:cNvSpPr/>
          <p:nvPr/>
        </p:nvSpPr>
        <p:spPr>
          <a:xfrm>
            <a:off x="3675887" y="1527048"/>
            <a:ext cx="484632" cy="228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7" name="Rectangle 56"/>
          <p:cNvSpPr/>
          <p:nvPr/>
        </p:nvSpPr>
        <p:spPr>
          <a:xfrm>
            <a:off x="7653528" y="1527048"/>
            <a:ext cx="484632" cy="228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8" name="Rectangle 57"/>
          <p:cNvSpPr/>
          <p:nvPr/>
        </p:nvSpPr>
        <p:spPr>
          <a:xfrm>
            <a:off x="3675887" y="2167128"/>
            <a:ext cx="484632" cy="228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9" name="Rectangle 58"/>
          <p:cNvSpPr/>
          <p:nvPr/>
        </p:nvSpPr>
        <p:spPr>
          <a:xfrm>
            <a:off x="7653528" y="2167128"/>
            <a:ext cx="484632" cy="228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0" name="Rectangle 59"/>
          <p:cNvSpPr/>
          <p:nvPr/>
        </p:nvSpPr>
        <p:spPr>
          <a:xfrm>
            <a:off x="3675887" y="2807208"/>
            <a:ext cx="484632" cy="228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1" name="Rectangle 60"/>
          <p:cNvSpPr/>
          <p:nvPr/>
        </p:nvSpPr>
        <p:spPr>
          <a:xfrm>
            <a:off x="7653528" y="2807208"/>
            <a:ext cx="484632" cy="228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2" name="Rectangle 61"/>
          <p:cNvSpPr/>
          <p:nvPr/>
        </p:nvSpPr>
        <p:spPr>
          <a:xfrm>
            <a:off x="3675887" y="3447288"/>
            <a:ext cx="484632" cy="228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3" name="Rectangle 62"/>
          <p:cNvSpPr/>
          <p:nvPr/>
        </p:nvSpPr>
        <p:spPr>
          <a:xfrm>
            <a:off x="7653528" y="3447288"/>
            <a:ext cx="484632" cy="228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4" name="Rectangle 63"/>
          <p:cNvSpPr/>
          <p:nvPr/>
        </p:nvSpPr>
        <p:spPr>
          <a:xfrm>
            <a:off x="201168" y="6029325"/>
            <a:ext cx="11777472" cy="6583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5" name="TextBox 64"/>
          <p:cNvSpPr txBox="1"/>
          <p:nvPr/>
        </p:nvSpPr>
        <p:spPr>
          <a:xfrm>
            <a:off x="274320" y="6097143"/>
            <a:ext cx="11612880" cy="521970"/>
          </a:xfrm>
          <a:prstGeom prst="rect">
            <a:avLst/>
          </a:prstGeom>
          <a:noFill/>
        </p:spPr>
        <p:txBody>
          <a:bodyPr wrap="square">
            <a:spAutoFit/>
          </a:bodyPr>
          <a:lstStyle/>
          <a:p>
            <a:pPr algn="ctr"/>
            <a:r>
              <a:rPr sz="1400" b="0" i="0">
                <a:solidFill>
                  <a:srgbClr val="00B4D8"/>
                </a:solidFill>
                <a:latin typeface="Calibri" panose="020F0502020204030204"/>
              </a:rPr>
              <a:t>Every API call pipeline: Request ID → Helmet → CORS → Rate Limit → IP Check → CSRF → Sanitize → JWT Auth → RBAC → Zod Validate → Execute → Audit Log</a:t>
            </a:r>
            <a:endParaRPr sz="1400" b="0" i="0">
              <a:solidFill>
                <a:srgbClr val="00B4D8"/>
              </a:solidFill>
              <a:latin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583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 name="TextBox 2"/>
          <p:cNvSpPr txBox="1"/>
          <p:nvPr/>
        </p:nvSpPr>
        <p:spPr>
          <a:xfrm>
            <a:off x="274320" y="91440"/>
            <a:ext cx="11612880" cy="583565"/>
          </a:xfrm>
          <a:prstGeom prst="rect">
            <a:avLst/>
          </a:prstGeom>
          <a:noFill/>
        </p:spPr>
        <p:txBody>
          <a:bodyPr wrap="square">
            <a:spAutoFit/>
          </a:bodyPr>
          <a:lstStyle/>
          <a:p>
            <a:pPr algn="l"/>
            <a:r>
              <a:rPr sz="3200" b="1" i="0">
                <a:solidFill>
                  <a:srgbClr val="FFFFFF"/>
                </a:solidFill>
                <a:latin typeface="Calibri" panose="020F0502020204030204"/>
              </a:rPr>
              <a:t>Real Use Cases — From Actual Code</a:t>
            </a:r>
            <a:endParaRPr sz="3200" b="1" i="0">
              <a:solidFill>
                <a:srgbClr val="FFFFFF"/>
              </a:solidFill>
              <a:latin typeface="Calibri" panose="020F0502020204030204"/>
            </a:endParaRPr>
          </a:p>
        </p:txBody>
      </p:sp>
      <p:sp>
        <p:nvSpPr>
          <p:cNvPr id="4" name="Rectangle 3"/>
          <p:cNvSpPr/>
          <p:nvPr/>
        </p:nvSpPr>
        <p:spPr>
          <a:xfrm>
            <a:off x="0" y="658368"/>
            <a:ext cx="109728" cy="61996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 name="Rectangle 4"/>
          <p:cNvSpPr/>
          <p:nvPr/>
        </p:nvSpPr>
        <p:spPr>
          <a:xfrm>
            <a:off x="201168" y="777240"/>
            <a:ext cx="5577840" cy="15727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TextBox 5"/>
          <p:cNvSpPr txBox="1"/>
          <p:nvPr/>
        </p:nvSpPr>
        <p:spPr>
          <a:xfrm>
            <a:off x="292608" y="832103"/>
            <a:ext cx="5394959" cy="337185"/>
          </a:xfrm>
          <a:prstGeom prst="rect">
            <a:avLst/>
          </a:prstGeom>
          <a:noFill/>
        </p:spPr>
        <p:txBody>
          <a:bodyPr wrap="square">
            <a:spAutoFit/>
          </a:bodyPr>
          <a:lstStyle/>
          <a:p>
            <a:pPr algn="l"/>
            <a:r>
              <a:rPr sz="1600" b="1" i="0">
                <a:solidFill>
                  <a:srgbClr val="FFFFFF"/>
                </a:solidFill>
                <a:latin typeface="Calibri" panose="020F0502020204030204"/>
              </a:rPr>
              <a:t>🧑‍⚕️ PATIENT PORTAL</a:t>
            </a:r>
            <a:endParaRPr sz="1600" b="1" i="0">
              <a:solidFill>
                <a:srgbClr val="FFFFFF"/>
              </a:solidFill>
              <a:latin typeface="Calibri" panose="020F0502020204030204"/>
            </a:endParaRPr>
          </a:p>
        </p:txBody>
      </p:sp>
      <p:sp>
        <p:nvSpPr>
          <p:cNvPr id="7" name="Rectangle 6"/>
          <p:cNvSpPr/>
          <p:nvPr/>
        </p:nvSpPr>
        <p:spPr>
          <a:xfrm>
            <a:off x="292608" y="1124712"/>
            <a:ext cx="5394959"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 name="TextBox 7"/>
          <p:cNvSpPr txBox="1"/>
          <p:nvPr/>
        </p:nvSpPr>
        <p:spPr>
          <a:xfrm>
            <a:off x="292608" y="1179576"/>
            <a:ext cx="5394959" cy="737235"/>
          </a:xfrm>
          <a:prstGeom prst="rect">
            <a:avLst/>
          </a:prstGeom>
          <a:noFill/>
        </p:spPr>
        <p:txBody>
          <a:bodyPr wrap="square">
            <a:spAutoFit/>
          </a:bodyPr>
          <a:lstStyle/>
          <a:p>
            <a:pPr algn="l"/>
            <a:r>
              <a:rPr sz="1400" b="0" i="0">
                <a:solidFill>
                  <a:srgbClr val="FFFFFF"/>
                </a:solidFill>
                <a:latin typeface="Calibri" panose="020F0502020204030204"/>
              </a:rPr>
              <a:t>Patient logs in with MRN → sees medical timeline (all visits, vitals, prescriptions) → checks lab results → downloads prescription PDF → pays bill via Razorpay → books follow-up appointment</a:t>
            </a:r>
            <a:endParaRPr sz="1400" b="0" i="0">
              <a:solidFill>
                <a:srgbClr val="FFFFFF"/>
              </a:solidFill>
              <a:latin typeface="Calibri" panose="020F0502020204030204"/>
            </a:endParaRPr>
          </a:p>
        </p:txBody>
      </p:sp>
      <p:sp>
        <p:nvSpPr>
          <p:cNvPr id="9" name="Rectangle 8"/>
          <p:cNvSpPr/>
          <p:nvPr/>
        </p:nvSpPr>
        <p:spPr>
          <a:xfrm>
            <a:off x="5943599" y="777240"/>
            <a:ext cx="5577840" cy="1572768"/>
          </a:xfrm>
          <a:prstGeom prst="rect">
            <a:avLst/>
          </a:prstGeom>
          <a:solidFill>
            <a:srgbClr val="009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p:cNvSpPr txBox="1"/>
          <p:nvPr/>
        </p:nvSpPr>
        <p:spPr>
          <a:xfrm>
            <a:off x="6035039" y="832103"/>
            <a:ext cx="5394959" cy="337185"/>
          </a:xfrm>
          <a:prstGeom prst="rect">
            <a:avLst/>
          </a:prstGeom>
          <a:noFill/>
        </p:spPr>
        <p:txBody>
          <a:bodyPr wrap="square">
            <a:spAutoFit/>
          </a:bodyPr>
          <a:lstStyle/>
          <a:p>
            <a:pPr algn="l"/>
            <a:r>
              <a:rPr sz="1600" b="1" i="0">
                <a:solidFill>
                  <a:srgbClr val="FFFFFF"/>
                </a:solidFill>
                <a:latin typeface="Calibri" panose="020F0502020204030204"/>
              </a:rPr>
              <a:t>📹 TELEMEDICINE SESSION</a:t>
            </a:r>
            <a:endParaRPr sz="1600" b="1" i="0">
              <a:solidFill>
                <a:srgbClr val="FFFFFF"/>
              </a:solidFill>
              <a:latin typeface="Calibri" panose="020F0502020204030204"/>
            </a:endParaRPr>
          </a:p>
        </p:txBody>
      </p:sp>
      <p:sp>
        <p:nvSpPr>
          <p:cNvPr id="11" name="Rectangle 10"/>
          <p:cNvSpPr/>
          <p:nvPr/>
        </p:nvSpPr>
        <p:spPr>
          <a:xfrm>
            <a:off x="6035039" y="1124712"/>
            <a:ext cx="5394959"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2" name="TextBox 11"/>
          <p:cNvSpPr txBox="1"/>
          <p:nvPr/>
        </p:nvSpPr>
        <p:spPr>
          <a:xfrm>
            <a:off x="6035039" y="1179576"/>
            <a:ext cx="5394959" cy="953135"/>
          </a:xfrm>
          <a:prstGeom prst="rect">
            <a:avLst/>
          </a:prstGeom>
          <a:noFill/>
        </p:spPr>
        <p:txBody>
          <a:bodyPr wrap="square">
            <a:spAutoFit/>
          </a:bodyPr>
          <a:lstStyle/>
          <a:p>
            <a:pPr algn="l"/>
            <a:r>
              <a:rPr sz="1400" b="0" i="0">
                <a:solidFill>
                  <a:srgbClr val="FFFFFF"/>
                </a:solidFill>
                <a:latin typeface="Calibri" panose="020F0502020204030204"/>
              </a:rPr>
              <a:t>Doctor creates video session → POST /api/telemedicine/sessions → Socket.io sends call invite to patient → WebRTC peer connection established → post-call: doctor creates medical record + prescription in system</a:t>
            </a:r>
            <a:endParaRPr sz="1400" b="0" i="0">
              <a:solidFill>
                <a:srgbClr val="FFFFFF"/>
              </a:solidFill>
              <a:latin typeface="Calibri" panose="020F0502020204030204"/>
            </a:endParaRPr>
          </a:p>
        </p:txBody>
      </p:sp>
      <p:sp>
        <p:nvSpPr>
          <p:cNvPr id="13" name="Rectangle 12"/>
          <p:cNvSpPr/>
          <p:nvPr/>
        </p:nvSpPr>
        <p:spPr>
          <a:xfrm>
            <a:off x="201168" y="2459736"/>
            <a:ext cx="5577840" cy="15727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TextBox 13"/>
          <p:cNvSpPr txBox="1"/>
          <p:nvPr/>
        </p:nvSpPr>
        <p:spPr>
          <a:xfrm>
            <a:off x="292608" y="2514600"/>
            <a:ext cx="5394959" cy="337185"/>
          </a:xfrm>
          <a:prstGeom prst="rect">
            <a:avLst/>
          </a:prstGeom>
          <a:noFill/>
        </p:spPr>
        <p:txBody>
          <a:bodyPr wrap="square">
            <a:spAutoFit/>
          </a:bodyPr>
          <a:lstStyle/>
          <a:p>
            <a:pPr algn="l"/>
            <a:r>
              <a:rPr sz="1600" b="1" i="0">
                <a:solidFill>
                  <a:srgbClr val="FFFFFF"/>
                </a:solidFill>
                <a:latin typeface="Calibri" panose="020F0502020204030204"/>
              </a:rPr>
              <a:t>🔍 AUDIT INVESTIGATION</a:t>
            </a:r>
            <a:endParaRPr sz="1600" b="1" i="0">
              <a:solidFill>
                <a:srgbClr val="FFFFFF"/>
              </a:solidFill>
              <a:latin typeface="Calibri" panose="020F0502020204030204"/>
            </a:endParaRPr>
          </a:p>
        </p:txBody>
      </p:sp>
      <p:sp>
        <p:nvSpPr>
          <p:cNvPr id="15" name="Rectangle 14"/>
          <p:cNvSpPr/>
          <p:nvPr/>
        </p:nvSpPr>
        <p:spPr>
          <a:xfrm>
            <a:off x="292608" y="2807208"/>
            <a:ext cx="5394959"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6" name="TextBox 15"/>
          <p:cNvSpPr txBox="1"/>
          <p:nvPr/>
        </p:nvSpPr>
        <p:spPr>
          <a:xfrm>
            <a:off x="292608" y="2862072"/>
            <a:ext cx="5394959" cy="953135"/>
          </a:xfrm>
          <a:prstGeom prst="rect">
            <a:avLst/>
          </a:prstGeom>
          <a:noFill/>
        </p:spPr>
        <p:txBody>
          <a:bodyPr wrap="square">
            <a:spAutoFit/>
          </a:bodyPr>
          <a:lstStyle/>
          <a:p>
            <a:pPr algn="l"/>
            <a:r>
              <a:rPr sz="1400" b="0" i="0">
                <a:solidFill>
                  <a:srgbClr val="FFFFFF"/>
                </a:solidFill>
                <a:latin typeface="Calibri" panose="020F0502020204030204"/>
              </a:rPr>
              <a:t>Admin suspects unauthorized data access → opens Audit Log Viewer → filters by user 'nurse_sara' and date range → clicks 'Verify Chain' → GET /api/admin/audit-logs/verify returns {valid:true} → flags suspicious entry with reason</a:t>
            </a:r>
            <a:endParaRPr sz="1400" b="0" i="0">
              <a:solidFill>
                <a:srgbClr val="FFFFFF"/>
              </a:solidFill>
              <a:latin typeface="Calibri" panose="020F0502020204030204"/>
            </a:endParaRPr>
          </a:p>
        </p:txBody>
      </p:sp>
      <p:sp>
        <p:nvSpPr>
          <p:cNvPr id="17" name="Rectangle 16"/>
          <p:cNvSpPr/>
          <p:nvPr/>
        </p:nvSpPr>
        <p:spPr>
          <a:xfrm>
            <a:off x="5943599" y="2459736"/>
            <a:ext cx="5577840" cy="157276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8" name="TextBox 17"/>
          <p:cNvSpPr txBox="1"/>
          <p:nvPr/>
        </p:nvSpPr>
        <p:spPr>
          <a:xfrm>
            <a:off x="6035039" y="2514600"/>
            <a:ext cx="5394959" cy="337185"/>
          </a:xfrm>
          <a:prstGeom prst="rect">
            <a:avLst/>
          </a:prstGeom>
          <a:noFill/>
        </p:spPr>
        <p:txBody>
          <a:bodyPr wrap="square">
            <a:spAutoFit/>
          </a:bodyPr>
          <a:lstStyle/>
          <a:p>
            <a:pPr algn="l"/>
            <a:r>
              <a:rPr sz="1600" b="1" i="0">
                <a:solidFill>
                  <a:srgbClr val="FFFFFF"/>
                </a:solidFill>
                <a:latin typeface="Calibri" panose="020F0502020204030204"/>
              </a:rPr>
              <a:t>🦸 BLOOD BANK EMERGENCY</a:t>
            </a:r>
            <a:endParaRPr sz="1600" b="1" i="0">
              <a:solidFill>
                <a:srgbClr val="FFFFFF"/>
              </a:solidFill>
              <a:latin typeface="Calibri" panose="020F0502020204030204"/>
            </a:endParaRPr>
          </a:p>
        </p:txBody>
      </p:sp>
      <p:sp>
        <p:nvSpPr>
          <p:cNvPr id="19" name="Rectangle 18"/>
          <p:cNvSpPr/>
          <p:nvPr/>
        </p:nvSpPr>
        <p:spPr>
          <a:xfrm>
            <a:off x="6035039" y="2807208"/>
            <a:ext cx="5394959"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TextBox 19"/>
          <p:cNvSpPr txBox="1"/>
          <p:nvPr/>
        </p:nvSpPr>
        <p:spPr>
          <a:xfrm>
            <a:off x="6035039" y="2862072"/>
            <a:ext cx="5394959" cy="737235"/>
          </a:xfrm>
          <a:prstGeom prst="rect">
            <a:avLst/>
          </a:prstGeom>
          <a:noFill/>
        </p:spPr>
        <p:txBody>
          <a:bodyPr wrap="square">
            <a:spAutoFit/>
          </a:bodyPr>
          <a:lstStyle/>
          <a:p>
            <a:pPr algn="l"/>
            <a:r>
              <a:rPr sz="1400" b="0" i="0">
                <a:solidFill>
                  <a:srgbClr val="FFFFFF"/>
                </a:solidFill>
                <a:latin typeface="Calibri" panose="020F0502020204030204"/>
              </a:rPr>
              <a:t>Nurse needs O-negative blood urgently → opens Blood Bank module → filters by type O- → sees 3 units (1 expiring tomorrow) → requests unit → transfusion logged with patient ID, nurse ID, timestamp</a:t>
            </a:r>
            <a:endParaRPr sz="1400" b="0" i="0">
              <a:solidFill>
                <a:srgbClr val="FFFFFF"/>
              </a:solidFill>
              <a:latin typeface="Calibri" panose="020F0502020204030204"/>
            </a:endParaRPr>
          </a:p>
        </p:txBody>
      </p:sp>
      <p:sp>
        <p:nvSpPr>
          <p:cNvPr id="21" name="Rectangle 20"/>
          <p:cNvSpPr/>
          <p:nvPr/>
        </p:nvSpPr>
        <p:spPr>
          <a:xfrm>
            <a:off x="201168" y="4142231"/>
            <a:ext cx="5577840" cy="1572768"/>
          </a:xfrm>
          <a:prstGeom prst="rect">
            <a:avLst/>
          </a:prstGeom>
          <a:solidFill>
            <a:srgbClr val="D97F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2" name="TextBox 21"/>
          <p:cNvSpPr txBox="1"/>
          <p:nvPr/>
        </p:nvSpPr>
        <p:spPr>
          <a:xfrm>
            <a:off x="292608" y="4197095"/>
            <a:ext cx="5394959" cy="337185"/>
          </a:xfrm>
          <a:prstGeom prst="rect">
            <a:avLst/>
          </a:prstGeom>
          <a:noFill/>
        </p:spPr>
        <p:txBody>
          <a:bodyPr wrap="square">
            <a:spAutoFit/>
          </a:bodyPr>
          <a:lstStyle/>
          <a:p>
            <a:pPr algn="l"/>
            <a:r>
              <a:rPr sz="1600" b="1" i="0">
                <a:solidFill>
                  <a:srgbClr val="FFFFFF"/>
                </a:solidFill>
                <a:latin typeface="Calibri" panose="020F0502020204030204"/>
              </a:rPr>
              <a:t>📦 INVENTORY QR SCAN</a:t>
            </a:r>
            <a:endParaRPr sz="1600" b="1" i="0">
              <a:solidFill>
                <a:srgbClr val="FFFFFF"/>
              </a:solidFill>
              <a:latin typeface="Calibri" panose="020F0502020204030204"/>
            </a:endParaRPr>
          </a:p>
        </p:txBody>
      </p:sp>
      <p:sp>
        <p:nvSpPr>
          <p:cNvPr id="23" name="Rectangle 22"/>
          <p:cNvSpPr/>
          <p:nvPr/>
        </p:nvSpPr>
        <p:spPr>
          <a:xfrm>
            <a:off x="292608" y="4489703"/>
            <a:ext cx="5394959"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4" name="TextBox 23"/>
          <p:cNvSpPr txBox="1"/>
          <p:nvPr/>
        </p:nvSpPr>
        <p:spPr>
          <a:xfrm>
            <a:off x="292608" y="4544568"/>
            <a:ext cx="5394959" cy="737235"/>
          </a:xfrm>
          <a:prstGeom prst="rect">
            <a:avLst/>
          </a:prstGeom>
          <a:noFill/>
        </p:spPr>
        <p:txBody>
          <a:bodyPr wrap="square">
            <a:spAutoFit/>
          </a:bodyPr>
          <a:lstStyle/>
          <a:p>
            <a:pPr algn="l"/>
            <a:r>
              <a:rPr sz="1400" b="0" i="0">
                <a:solidFill>
                  <a:srgbClr val="FFFFFF"/>
                </a:solidFill>
                <a:latin typeface="Calibri" panose="020F0502020204030204"/>
              </a:rPr>
              <a:t>Nurse picks up IV bag from storage → scans QR code with phone camera → POST /api/inventory/qr/scan → stock decremented by 1 → if stock &lt; reorder level, email alert sent to inventory manager</a:t>
            </a:r>
            <a:endParaRPr sz="1400" b="0" i="0">
              <a:solidFill>
                <a:srgbClr val="FFFFFF"/>
              </a:solidFill>
              <a:latin typeface="Calibri" panose="020F0502020204030204"/>
            </a:endParaRPr>
          </a:p>
        </p:txBody>
      </p:sp>
      <p:sp>
        <p:nvSpPr>
          <p:cNvPr id="25" name="Rectangle 24"/>
          <p:cNvSpPr/>
          <p:nvPr/>
        </p:nvSpPr>
        <p:spPr>
          <a:xfrm>
            <a:off x="5943599" y="4142231"/>
            <a:ext cx="5577840" cy="157276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6" name="TextBox 25"/>
          <p:cNvSpPr txBox="1"/>
          <p:nvPr/>
        </p:nvSpPr>
        <p:spPr>
          <a:xfrm>
            <a:off x="6035039" y="4197095"/>
            <a:ext cx="5394959" cy="337185"/>
          </a:xfrm>
          <a:prstGeom prst="rect">
            <a:avLst/>
          </a:prstGeom>
          <a:noFill/>
        </p:spPr>
        <p:txBody>
          <a:bodyPr wrap="square">
            <a:spAutoFit/>
          </a:bodyPr>
          <a:lstStyle/>
          <a:p>
            <a:pPr algn="l"/>
            <a:r>
              <a:rPr sz="1600" b="1" i="0">
                <a:solidFill>
                  <a:srgbClr val="FFFFFF"/>
                </a:solidFill>
                <a:latin typeface="Calibri" panose="020F0502020204030204"/>
              </a:rPr>
              <a:t>🔒 FORCE LOGOUT</a:t>
            </a:r>
            <a:endParaRPr sz="1600" b="1" i="0">
              <a:solidFill>
                <a:srgbClr val="FFFFFF"/>
              </a:solidFill>
              <a:latin typeface="Calibri" panose="020F0502020204030204"/>
            </a:endParaRPr>
          </a:p>
        </p:txBody>
      </p:sp>
      <p:sp>
        <p:nvSpPr>
          <p:cNvPr id="27" name="Rectangle 26"/>
          <p:cNvSpPr/>
          <p:nvPr/>
        </p:nvSpPr>
        <p:spPr>
          <a:xfrm>
            <a:off x="6035039" y="4489703"/>
            <a:ext cx="5394959"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8" name="TextBox 27"/>
          <p:cNvSpPr txBox="1"/>
          <p:nvPr/>
        </p:nvSpPr>
        <p:spPr>
          <a:xfrm>
            <a:off x="6035039" y="4544568"/>
            <a:ext cx="5394959" cy="953135"/>
          </a:xfrm>
          <a:prstGeom prst="rect">
            <a:avLst/>
          </a:prstGeom>
          <a:noFill/>
        </p:spPr>
        <p:txBody>
          <a:bodyPr wrap="square">
            <a:spAutoFit/>
          </a:bodyPr>
          <a:lstStyle/>
          <a:p>
            <a:pPr algn="l"/>
            <a:r>
              <a:rPr sz="1400" b="0" i="0">
                <a:solidFill>
                  <a:srgbClr val="FFFFFF"/>
                </a:solidFill>
                <a:latin typeface="Calibri" panose="020F0502020204030204"/>
              </a:rPr>
              <a:t>IT Admin sees suspicious session from unknown IP in Session Manager → clicks Force Logout → DELETE /api/admin/sessions/:id → Redis session deleted → user's next request returns 401 Unauthorized instantly</a:t>
            </a:r>
            <a:endParaRPr sz="1400" b="0" i="0">
              <a:solidFill>
                <a:srgbClr val="FFFFFF"/>
              </a:solidFill>
              <a:latin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583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502920"/>
          </a:xfrm>
          <a:prstGeom prst="rect">
            <a:avLst/>
          </a:prstGeom>
          <a:noFill/>
        </p:spPr>
        <p:txBody>
          <a:bodyPr wrap="square">
            <a:spAutoFit/>
          </a:bodyPr>
          <a:lstStyle/>
          <a:p>
            <a:pPr algn="l"/>
            <a:r>
              <a:rPr sz="2000" b="1" i="0">
                <a:solidFill>
                  <a:srgbClr val="FFFFFF"/>
                </a:solidFill>
                <a:latin typeface="Calibri" panose="020F0502020204030204"/>
              </a:rPr>
              <a:t>Technology Stack — Auto-Detected from package.json</a:t>
            </a:r>
            <a:endParaRPr sz="2000" b="1" i="0">
              <a:solidFill>
                <a:srgbClr val="FFFFFF"/>
              </a:solidFill>
              <a:latin typeface="Calibri" panose="020F0502020204030204"/>
            </a:endParaRPr>
          </a:p>
        </p:txBody>
      </p:sp>
      <p:sp>
        <p:nvSpPr>
          <p:cNvPr id="4" name="Rectangle 3"/>
          <p:cNvSpPr/>
          <p:nvPr/>
        </p:nvSpPr>
        <p:spPr>
          <a:xfrm>
            <a:off x="0" y="658368"/>
            <a:ext cx="109728" cy="61996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01168" y="777240"/>
          <a:ext cx="11777472" cy="5943600"/>
        </p:xfrm>
        <a:graphic>
          <a:graphicData uri="http://schemas.openxmlformats.org/drawingml/2006/table">
            <a:tbl>
              <a:tblPr firstRow="1" bandRow="1">
                <a:tableStyleId>{5C22544A-7EE6-4342-B048-85BDC9FD1C3A}</a:tableStyleId>
              </a:tblPr>
              <a:tblGrid>
                <a:gridCol w="2926080"/>
                <a:gridCol w="1097280"/>
                <a:gridCol w="6217920"/>
                <a:gridCol w="1536192"/>
              </a:tblGrid>
              <a:tr h="349623">
                <a:tc>
                  <a:txBody>
                    <a:bodyPr/>
                    <a:lstStyle/>
                    <a:p>
                      <a:pPr algn="ctr"/>
                      <a:r>
                        <a:rPr sz="1600" b="1">
                          <a:solidFill>
                            <a:srgbClr val="FFFFFF"/>
                          </a:solidFill>
                          <a:latin typeface="Calibri" panose="020F0502020204030204"/>
                        </a:rPr>
                        <a:t>Technology</a:t>
                      </a:r>
                      <a:endParaRPr sz="1600" b="1">
                        <a:solidFill>
                          <a:srgbClr val="FFFFFF"/>
                        </a:solidFill>
                        <a:latin typeface="Calibri" panose="020F0502020204030204"/>
                      </a:endParaRPr>
                    </a:p>
                  </a:txBody>
                  <a:tcPr>
                    <a:solidFill>
                      <a:srgbClr val="0D2137"/>
                    </a:solidFill>
                  </a:tcPr>
                </a:tc>
                <a:tc>
                  <a:txBody>
                    <a:bodyPr/>
                    <a:lstStyle/>
                    <a:p>
                      <a:pPr algn="ctr"/>
                      <a:r>
                        <a:rPr sz="1600" b="1">
                          <a:solidFill>
                            <a:srgbClr val="FFFFFF"/>
                          </a:solidFill>
                          <a:latin typeface="Calibri" panose="020F0502020204030204"/>
                        </a:rPr>
                        <a:t>Version</a:t>
                      </a:r>
                      <a:endParaRPr sz="1600" b="1">
                        <a:solidFill>
                          <a:srgbClr val="FFFFFF"/>
                        </a:solidFill>
                        <a:latin typeface="Calibri" panose="020F0502020204030204"/>
                      </a:endParaRPr>
                    </a:p>
                  </a:txBody>
                  <a:tcPr>
                    <a:solidFill>
                      <a:srgbClr val="0D2137"/>
                    </a:solidFill>
                  </a:tcPr>
                </a:tc>
                <a:tc>
                  <a:txBody>
                    <a:bodyPr/>
                    <a:lstStyle/>
                    <a:p>
                      <a:pPr algn="ctr"/>
                      <a:r>
                        <a:rPr sz="1600" b="1">
                          <a:solidFill>
                            <a:srgbClr val="FFFFFF"/>
                          </a:solidFill>
                          <a:latin typeface="Calibri" panose="020F0502020204030204"/>
                        </a:rPr>
                        <a:t>Purpose</a:t>
                      </a:r>
                      <a:endParaRPr sz="1600" b="1">
                        <a:solidFill>
                          <a:srgbClr val="FFFFFF"/>
                        </a:solidFill>
                        <a:latin typeface="Calibri" panose="020F0502020204030204"/>
                      </a:endParaRPr>
                    </a:p>
                  </a:txBody>
                  <a:tcPr>
                    <a:solidFill>
                      <a:srgbClr val="0D2137"/>
                    </a:solidFill>
                  </a:tcPr>
                </a:tc>
                <a:tc>
                  <a:txBody>
                    <a:bodyPr/>
                    <a:lstStyle/>
                    <a:p>
                      <a:pPr algn="ctr"/>
                      <a:r>
                        <a:rPr sz="1600" b="1">
                          <a:solidFill>
                            <a:srgbClr val="FFFFFF"/>
                          </a:solidFill>
                          <a:latin typeface="Calibri" panose="020F0502020204030204"/>
                        </a:rPr>
                        <a:t>Layer</a:t>
                      </a:r>
                      <a:endParaRPr sz="1600" b="1">
                        <a:solidFill>
                          <a:srgbClr val="FFFFFF"/>
                        </a:solidFill>
                        <a:latin typeface="Calibri" panose="020F0502020204030204"/>
                      </a:endParaRPr>
                    </a:p>
                  </a:txBody>
                  <a:tcPr>
                    <a:solidFill>
                      <a:srgbClr val="0D2137"/>
                    </a:solidFill>
                  </a:tcPr>
                </a:tc>
              </a:tr>
              <a:tr h="349623">
                <a:tc>
                  <a:txBody>
                    <a:bodyPr/>
                    <a:lstStyle/>
                    <a:p>
                      <a:pPr algn="l"/>
                      <a:r>
                        <a:rPr sz="1600" b="1">
                          <a:solidFill>
                            <a:srgbClr val="00B4D8"/>
                          </a:solidFill>
                          <a:latin typeface="Calibri" panose="020F0502020204030204"/>
                        </a:rPr>
                        <a:t>React 18.2</a:t>
                      </a:r>
                      <a:endParaRPr sz="1600" b="1">
                        <a:solidFill>
                          <a:srgbClr val="00B4D8"/>
                        </a:solidFill>
                        <a:latin typeface="Calibri" panose="020F0502020204030204"/>
                      </a:endParaRPr>
                    </a:p>
                  </a:txBody>
                  <a:tcPr>
                    <a:solidFill>
                      <a:srgbClr val="F1F5F9"/>
                    </a:solidFill>
                  </a:tcPr>
                </a:tc>
                <a:tc>
                  <a:txBody>
                    <a:bodyPr/>
                    <a:lstStyle/>
                    <a:p>
                      <a:pPr algn="ctr"/>
                      <a:r>
                        <a:rPr sz="1600">
                          <a:solidFill>
                            <a:srgbClr val="1E293B"/>
                          </a:solidFill>
                          <a:latin typeface="Calibri" panose="020F0502020204030204"/>
                        </a:rPr>
                        <a:t>18.2.0</a:t>
                      </a:r>
                      <a:endParaRPr sz="1600">
                        <a:solidFill>
                          <a:srgbClr val="1E293B"/>
                        </a:solidFill>
                        <a:latin typeface="Calibri" panose="020F0502020204030204"/>
                      </a:endParaRPr>
                    </a:p>
                  </a:txBody>
                  <a:tcPr>
                    <a:solidFill>
                      <a:srgbClr val="F1F5F9"/>
                    </a:solidFill>
                  </a:tcPr>
                </a:tc>
                <a:tc>
                  <a:txBody>
                    <a:bodyPr/>
                    <a:lstStyle/>
                    <a:p>
                      <a:pPr algn="l"/>
                      <a:r>
                        <a:rPr sz="1600">
                          <a:solidFill>
                            <a:srgbClr val="1E293B"/>
                          </a:solidFill>
                          <a:latin typeface="Calibri" panose="020F0502020204030204"/>
                        </a:rPr>
                        <a:t>UI framework, lazy-loaded routes, concurrent rendering</a:t>
                      </a:r>
                      <a:endParaRPr sz="1600">
                        <a:solidFill>
                          <a:srgbClr val="1E293B"/>
                        </a:solidFill>
                        <a:latin typeface="Calibri" panose="020F0502020204030204"/>
                      </a:endParaRPr>
                    </a:p>
                  </a:txBody>
                  <a:tcPr>
                    <a:solidFill>
                      <a:srgbClr val="F1F5F9"/>
                    </a:solidFill>
                  </a:tcPr>
                </a:tc>
                <a:tc>
                  <a:txBody>
                    <a:bodyPr/>
                    <a:lstStyle/>
                    <a:p>
                      <a:pPr algn="ctr"/>
                      <a:r>
                        <a:rPr sz="1600">
                          <a:solidFill>
                            <a:srgbClr val="1E293B"/>
                          </a:solidFill>
                          <a:latin typeface="Calibri" panose="020F0502020204030204"/>
                        </a:rPr>
                        <a:t>Frontend</a:t>
                      </a:r>
                      <a:endParaRPr sz="1600">
                        <a:solidFill>
                          <a:srgbClr val="1E293B"/>
                        </a:solidFill>
                        <a:latin typeface="Calibri" panose="020F0502020204030204"/>
                      </a:endParaRPr>
                    </a:p>
                  </a:txBody>
                  <a:tcPr>
                    <a:solidFill>
                      <a:srgbClr val="F1F5F9"/>
                    </a:solidFill>
                  </a:tcPr>
                </a:tc>
              </a:tr>
              <a:tr h="349623">
                <a:tc>
                  <a:txBody>
                    <a:bodyPr/>
                    <a:lstStyle/>
                    <a:p>
                      <a:pPr algn="l"/>
                      <a:r>
                        <a:rPr sz="1600" b="1">
                          <a:solidFill>
                            <a:srgbClr val="00B4D8"/>
                          </a:solidFill>
                          <a:latin typeface="Calibri" panose="020F0502020204030204"/>
                        </a:rPr>
                        <a:t>Vite + PWA</a:t>
                      </a:r>
                      <a:endParaRPr sz="1600" b="1">
                        <a:solidFill>
                          <a:srgbClr val="00B4D8"/>
                        </a:solidFill>
                        <a:latin typeface="Calibri" panose="020F0502020204030204"/>
                      </a:endParaRPr>
                    </a:p>
                  </a:txBody>
                  <a:tcPr>
                    <a:solidFill>
                      <a:srgbClr val="FFFFFF"/>
                    </a:solidFill>
                  </a:tcPr>
                </a:tc>
                <a:tc>
                  <a:txBody>
                    <a:bodyPr/>
                    <a:lstStyle/>
                    <a:p>
                      <a:pPr algn="ctr"/>
                      <a:r>
                        <a:rPr sz="1600">
                          <a:solidFill>
                            <a:srgbClr val="1E293B"/>
                          </a:solidFill>
                          <a:latin typeface="Calibri" panose="020F0502020204030204"/>
                        </a:rPr>
                        <a:t>5.0 + 0.19</a:t>
                      </a:r>
                      <a:endParaRPr sz="1600">
                        <a:solidFill>
                          <a:srgbClr val="1E293B"/>
                        </a:solidFill>
                        <a:latin typeface="Calibri" panose="020F0502020204030204"/>
                      </a:endParaRPr>
                    </a:p>
                  </a:txBody>
                  <a:tcPr>
                    <a:solidFill>
                      <a:srgbClr val="FFFFFF"/>
                    </a:solidFill>
                  </a:tcPr>
                </a:tc>
                <a:tc>
                  <a:txBody>
                    <a:bodyPr/>
                    <a:lstStyle/>
                    <a:p>
                      <a:pPr algn="l"/>
                      <a:r>
                        <a:rPr sz="1600">
                          <a:solidFill>
                            <a:srgbClr val="1E293B"/>
                          </a:solidFill>
                          <a:latin typeface="Calibri" panose="020F0502020204030204"/>
                        </a:rPr>
                        <a:t>Build tool, service worker, offline support, installable</a:t>
                      </a:r>
                      <a:endParaRPr sz="1600">
                        <a:solidFill>
                          <a:srgbClr val="1E293B"/>
                        </a:solidFill>
                        <a:latin typeface="Calibri" panose="020F0502020204030204"/>
                      </a:endParaRPr>
                    </a:p>
                  </a:txBody>
                  <a:tcPr>
                    <a:solidFill>
                      <a:srgbClr val="FFFFFF"/>
                    </a:solidFill>
                  </a:tcPr>
                </a:tc>
                <a:tc>
                  <a:txBody>
                    <a:bodyPr/>
                    <a:lstStyle/>
                    <a:p>
                      <a:pPr algn="ctr"/>
                      <a:r>
                        <a:rPr sz="1600">
                          <a:solidFill>
                            <a:srgbClr val="1E293B"/>
                          </a:solidFill>
                          <a:latin typeface="Calibri" panose="020F0502020204030204"/>
                        </a:rPr>
                        <a:t>Frontend</a:t>
                      </a:r>
                      <a:endParaRPr sz="1600">
                        <a:solidFill>
                          <a:srgbClr val="1E293B"/>
                        </a:solidFill>
                        <a:latin typeface="Calibri" panose="020F0502020204030204"/>
                      </a:endParaRPr>
                    </a:p>
                  </a:txBody>
                  <a:tcPr>
                    <a:solidFill>
                      <a:srgbClr val="FFFFFF"/>
                    </a:solidFill>
                  </a:tcPr>
                </a:tc>
              </a:tr>
              <a:tr h="349623">
                <a:tc>
                  <a:txBody>
                    <a:bodyPr/>
                    <a:lstStyle/>
                    <a:p>
                      <a:pPr algn="l"/>
                      <a:r>
                        <a:rPr sz="1600" b="1">
                          <a:solidFill>
                            <a:srgbClr val="00B4D8"/>
                          </a:solidFill>
                          <a:latin typeface="Calibri" panose="020F0502020204030204"/>
                        </a:rPr>
                        <a:t>Zustand</a:t>
                      </a:r>
                      <a:endParaRPr sz="1600" b="1">
                        <a:solidFill>
                          <a:srgbClr val="00B4D8"/>
                        </a:solidFill>
                        <a:latin typeface="Calibri" panose="020F0502020204030204"/>
                      </a:endParaRPr>
                    </a:p>
                  </a:txBody>
                  <a:tcPr>
                    <a:solidFill>
                      <a:srgbClr val="F1F5F9"/>
                    </a:solidFill>
                  </a:tcPr>
                </a:tc>
                <a:tc>
                  <a:txBody>
                    <a:bodyPr/>
                    <a:lstStyle/>
                    <a:p>
                      <a:pPr algn="ctr"/>
                      <a:r>
                        <a:rPr sz="1600">
                          <a:solidFill>
                            <a:srgbClr val="1E293B"/>
                          </a:solidFill>
                          <a:latin typeface="Calibri" panose="020F0502020204030204"/>
                        </a:rPr>
                        <a:t>5.0</a:t>
                      </a:r>
                      <a:endParaRPr sz="1600">
                        <a:solidFill>
                          <a:srgbClr val="1E293B"/>
                        </a:solidFill>
                        <a:latin typeface="Calibri" panose="020F0502020204030204"/>
                      </a:endParaRPr>
                    </a:p>
                  </a:txBody>
                  <a:tcPr>
                    <a:solidFill>
                      <a:srgbClr val="F1F5F9"/>
                    </a:solidFill>
                  </a:tcPr>
                </a:tc>
                <a:tc>
                  <a:txBody>
                    <a:bodyPr/>
                    <a:lstStyle/>
                    <a:p>
                      <a:pPr algn="l"/>
                      <a:r>
                        <a:rPr sz="1600">
                          <a:solidFill>
                            <a:srgbClr val="1E293B"/>
                          </a:solidFill>
                          <a:latin typeface="Calibri" panose="020F0502020204030204"/>
                        </a:rPr>
                        <a:t>Client state management with sessionStorage persistence</a:t>
                      </a:r>
                      <a:endParaRPr sz="1600">
                        <a:solidFill>
                          <a:srgbClr val="1E293B"/>
                        </a:solidFill>
                        <a:latin typeface="Calibri" panose="020F0502020204030204"/>
                      </a:endParaRPr>
                    </a:p>
                  </a:txBody>
                  <a:tcPr>
                    <a:solidFill>
                      <a:srgbClr val="F1F5F9"/>
                    </a:solidFill>
                  </a:tcPr>
                </a:tc>
                <a:tc>
                  <a:txBody>
                    <a:bodyPr/>
                    <a:lstStyle/>
                    <a:p>
                      <a:pPr algn="ctr"/>
                      <a:r>
                        <a:rPr sz="1600">
                          <a:solidFill>
                            <a:srgbClr val="1E293B"/>
                          </a:solidFill>
                          <a:latin typeface="Calibri" panose="020F0502020204030204"/>
                        </a:rPr>
                        <a:t>Frontend</a:t>
                      </a:r>
                      <a:endParaRPr sz="1600">
                        <a:solidFill>
                          <a:srgbClr val="1E293B"/>
                        </a:solidFill>
                        <a:latin typeface="Calibri" panose="020F0502020204030204"/>
                      </a:endParaRPr>
                    </a:p>
                  </a:txBody>
                  <a:tcPr>
                    <a:solidFill>
                      <a:srgbClr val="F1F5F9"/>
                    </a:solidFill>
                  </a:tcPr>
                </a:tc>
              </a:tr>
              <a:tr h="349623">
                <a:tc>
                  <a:txBody>
                    <a:bodyPr/>
                    <a:lstStyle/>
                    <a:p>
                      <a:pPr algn="l"/>
                      <a:r>
                        <a:rPr sz="1600" b="1">
                          <a:solidFill>
                            <a:srgbClr val="00B4D8"/>
                          </a:solidFill>
                          <a:latin typeface="Calibri" panose="020F0502020204030204"/>
                        </a:rPr>
                        <a:t>TanStack Query</a:t>
                      </a:r>
                      <a:endParaRPr sz="1600" b="1">
                        <a:solidFill>
                          <a:srgbClr val="00B4D8"/>
                        </a:solidFill>
                        <a:latin typeface="Calibri" panose="020F0502020204030204"/>
                      </a:endParaRPr>
                    </a:p>
                  </a:txBody>
                  <a:tcPr>
                    <a:solidFill>
                      <a:srgbClr val="FFFFFF"/>
                    </a:solidFill>
                  </a:tcPr>
                </a:tc>
                <a:tc>
                  <a:txBody>
                    <a:bodyPr/>
                    <a:lstStyle/>
                    <a:p>
                      <a:pPr algn="ctr"/>
                      <a:r>
                        <a:rPr sz="1600">
                          <a:solidFill>
                            <a:srgbClr val="1E293B"/>
                          </a:solidFill>
                          <a:latin typeface="Calibri" panose="020F0502020204030204"/>
                        </a:rPr>
                        <a:t>5.17</a:t>
                      </a:r>
                      <a:endParaRPr sz="1600">
                        <a:solidFill>
                          <a:srgbClr val="1E293B"/>
                        </a:solidFill>
                        <a:latin typeface="Calibri" panose="020F0502020204030204"/>
                      </a:endParaRPr>
                    </a:p>
                  </a:txBody>
                  <a:tcPr>
                    <a:solidFill>
                      <a:srgbClr val="FFFFFF"/>
                    </a:solidFill>
                  </a:tcPr>
                </a:tc>
                <a:tc>
                  <a:txBody>
                    <a:bodyPr/>
                    <a:lstStyle/>
                    <a:p>
                      <a:pPr algn="l"/>
                      <a:r>
                        <a:rPr sz="1600">
                          <a:solidFill>
                            <a:srgbClr val="1E293B"/>
                          </a:solidFill>
                          <a:latin typeface="Calibri" panose="020F0502020204030204"/>
                        </a:rPr>
                        <a:t>Server state, caching, background refetch, optimistic updates</a:t>
                      </a:r>
                      <a:endParaRPr sz="1600">
                        <a:solidFill>
                          <a:srgbClr val="1E293B"/>
                        </a:solidFill>
                        <a:latin typeface="Calibri" panose="020F0502020204030204"/>
                      </a:endParaRPr>
                    </a:p>
                  </a:txBody>
                  <a:tcPr>
                    <a:solidFill>
                      <a:srgbClr val="FFFFFF"/>
                    </a:solidFill>
                  </a:tcPr>
                </a:tc>
                <a:tc>
                  <a:txBody>
                    <a:bodyPr/>
                    <a:lstStyle/>
                    <a:p>
                      <a:pPr algn="ctr"/>
                      <a:r>
                        <a:rPr sz="1600">
                          <a:solidFill>
                            <a:srgbClr val="1E293B"/>
                          </a:solidFill>
                          <a:latin typeface="Calibri" panose="020F0502020204030204"/>
                        </a:rPr>
                        <a:t>Frontend</a:t>
                      </a:r>
                      <a:endParaRPr sz="1600">
                        <a:solidFill>
                          <a:srgbClr val="1E293B"/>
                        </a:solidFill>
                        <a:latin typeface="Calibri" panose="020F0502020204030204"/>
                      </a:endParaRPr>
                    </a:p>
                  </a:txBody>
                  <a:tcPr>
                    <a:solidFill>
                      <a:srgbClr val="FFFFFF"/>
                    </a:solidFill>
                  </a:tcPr>
                </a:tc>
              </a:tr>
              <a:tr h="349623">
                <a:tc>
                  <a:txBody>
                    <a:bodyPr/>
                    <a:lstStyle/>
                    <a:p>
                      <a:pPr algn="l"/>
                      <a:r>
                        <a:rPr sz="1600" b="1">
                          <a:solidFill>
                            <a:srgbClr val="00B4D8"/>
                          </a:solidFill>
                          <a:latin typeface="Calibri" panose="020F0502020204030204"/>
                        </a:rPr>
                        <a:t>React Hook Form + Zod</a:t>
                      </a:r>
                      <a:endParaRPr sz="1600" b="1">
                        <a:solidFill>
                          <a:srgbClr val="00B4D8"/>
                        </a:solidFill>
                        <a:latin typeface="Calibri" panose="020F0502020204030204"/>
                      </a:endParaRPr>
                    </a:p>
                  </a:txBody>
                  <a:tcPr>
                    <a:solidFill>
                      <a:srgbClr val="F1F5F9"/>
                    </a:solidFill>
                  </a:tcPr>
                </a:tc>
                <a:tc>
                  <a:txBody>
                    <a:bodyPr/>
                    <a:lstStyle/>
                    <a:p>
                      <a:pPr algn="ctr"/>
                      <a:r>
                        <a:rPr sz="1600">
                          <a:solidFill>
                            <a:srgbClr val="1E293B"/>
                          </a:solidFill>
                          <a:latin typeface="Calibri" panose="020F0502020204030204"/>
                        </a:rPr>
                        <a:t>7.72 + 4.3</a:t>
                      </a:r>
                      <a:endParaRPr sz="1600">
                        <a:solidFill>
                          <a:srgbClr val="1E293B"/>
                        </a:solidFill>
                        <a:latin typeface="Calibri" panose="020F0502020204030204"/>
                      </a:endParaRPr>
                    </a:p>
                  </a:txBody>
                  <a:tcPr>
                    <a:solidFill>
                      <a:srgbClr val="F1F5F9"/>
                    </a:solidFill>
                  </a:tcPr>
                </a:tc>
                <a:tc>
                  <a:txBody>
                    <a:bodyPr/>
                    <a:lstStyle/>
                    <a:p>
                      <a:pPr algn="l"/>
                      <a:r>
                        <a:rPr sz="1600">
                          <a:solidFill>
                            <a:srgbClr val="1E293B"/>
                          </a:solidFill>
                          <a:latin typeface="Calibri" panose="020F0502020204030204"/>
                        </a:rPr>
                        <a:t>Form handling and schema validation on client side</a:t>
                      </a:r>
                      <a:endParaRPr sz="1600">
                        <a:solidFill>
                          <a:srgbClr val="1E293B"/>
                        </a:solidFill>
                        <a:latin typeface="Calibri" panose="020F0502020204030204"/>
                      </a:endParaRPr>
                    </a:p>
                  </a:txBody>
                  <a:tcPr>
                    <a:solidFill>
                      <a:srgbClr val="F1F5F9"/>
                    </a:solidFill>
                  </a:tcPr>
                </a:tc>
                <a:tc>
                  <a:txBody>
                    <a:bodyPr/>
                    <a:lstStyle/>
                    <a:p>
                      <a:pPr algn="ctr"/>
                      <a:r>
                        <a:rPr sz="1600">
                          <a:solidFill>
                            <a:srgbClr val="1E293B"/>
                          </a:solidFill>
                          <a:latin typeface="Calibri" panose="020F0502020204030204"/>
                        </a:rPr>
                        <a:t>Frontend</a:t>
                      </a:r>
                      <a:endParaRPr sz="1600">
                        <a:solidFill>
                          <a:srgbClr val="1E293B"/>
                        </a:solidFill>
                        <a:latin typeface="Calibri" panose="020F0502020204030204"/>
                      </a:endParaRPr>
                    </a:p>
                  </a:txBody>
                  <a:tcPr>
                    <a:solidFill>
                      <a:srgbClr val="F1F5F9"/>
                    </a:solidFill>
                  </a:tcPr>
                </a:tc>
              </a:tr>
              <a:tr h="349623">
                <a:tc>
                  <a:txBody>
                    <a:bodyPr/>
                    <a:lstStyle/>
                    <a:p>
                      <a:pPr algn="l"/>
                      <a:r>
                        <a:rPr sz="1600" b="1">
                          <a:solidFill>
                            <a:srgbClr val="00B4D8"/>
                          </a:solidFill>
                          <a:latin typeface="Calibri" panose="020F0502020204030204"/>
                        </a:rPr>
                        <a:t>Recharts</a:t>
                      </a:r>
                      <a:endParaRPr sz="1600" b="1">
                        <a:solidFill>
                          <a:srgbClr val="00B4D8"/>
                        </a:solidFill>
                        <a:latin typeface="Calibri" panose="020F0502020204030204"/>
                      </a:endParaRPr>
                    </a:p>
                  </a:txBody>
                  <a:tcPr>
                    <a:solidFill>
                      <a:srgbClr val="FFFFFF"/>
                    </a:solidFill>
                  </a:tcPr>
                </a:tc>
                <a:tc>
                  <a:txBody>
                    <a:bodyPr/>
                    <a:lstStyle/>
                    <a:p>
                      <a:pPr algn="ctr"/>
                      <a:r>
                        <a:rPr sz="1600">
                          <a:solidFill>
                            <a:srgbClr val="1E293B"/>
                          </a:solidFill>
                          <a:latin typeface="Calibri" panose="020F0502020204030204"/>
                        </a:rPr>
                        <a:t>3.8</a:t>
                      </a:r>
                      <a:endParaRPr sz="1600">
                        <a:solidFill>
                          <a:srgbClr val="1E293B"/>
                        </a:solidFill>
                        <a:latin typeface="Calibri" panose="020F0502020204030204"/>
                      </a:endParaRPr>
                    </a:p>
                  </a:txBody>
                  <a:tcPr>
                    <a:solidFill>
                      <a:srgbClr val="FFFFFF"/>
                    </a:solidFill>
                  </a:tcPr>
                </a:tc>
                <a:tc>
                  <a:txBody>
                    <a:bodyPr/>
                    <a:lstStyle/>
                    <a:p>
                      <a:pPr algn="l"/>
                      <a:r>
                        <a:rPr sz="1600">
                          <a:solidFill>
                            <a:srgbClr val="1E293B"/>
                          </a:solidFill>
                          <a:latin typeface="Calibri" panose="020F0502020204030204"/>
                        </a:rPr>
                        <a:t>Analytics charts: bar, line, pie for admin dashboards</a:t>
                      </a:r>
                      <a:endParaRPr sz="1600">
                        <a:solidFill>
                          <a:srgbClr val="1E293B"/>
                        </a:solidFill>
                        <a:latin typeface="Calibri" panose="020F0502020204030204"/>
                      </a:endParaRPr>
                    </a:p>
                  </a:txBody>
                  <a:tcPr>
                    <a:solidFill>
                      <a:srgbClr val="FFFFFF"/>
                    </a:solidFill>
                  </a:tcPr>
                </a:tc>
                <a:tc>
                  <a:txBody>
                    <a:bodyPr/>
                    <a:lstStyle/>
                    <a:p>
                      <a:pPr algn="ctr"/>
                      <a:r>
                        <a:rPr sz="1600">
                          <a:solidFill>
                            <a:srgbClr val="1E293B"/>
                          </a:solidFill>
                          <a:latin typeface="Calibri" panose="020F0502020204030204"/>
                        </a:rPr>
                        <a:t>Frontend</a:t>
                      </a:r>
                      <a:endParaRPr sz="1600">
                        <a:solidFill>
                          <a:srgbClr val="1E293B"/>
                        </a:solidFill>
                        <a:latin typeface="Calibri" panose="020F0502020204030204"/>
                      </a:endParaRPr>
                    </a:p>
                  </a:txBody>
                  <a:tcPr>
                    <a:solidFill>
                      <a:srgbClr val="FFFFFF"/>
                    </a:solidFill>
                  </a:tcPr>
                </a:tc>
              </a:tr>
              <a:tr h="349623">
                <a:tc>
                  <a:txBody>
                    <a:bodyPr/>
                    <a:lstStyle/>
                    <a:p>
                      <a:pPr algn="l"/>
                      <a:r>
                        <a:rPr sz="1600" b="1">
                          <a:solidFill>
                            <a:srgbClr val="00B4D8"/>
                          </a:solidFill>
                          <a:latin typeface="Calibri" panose="020F0502020204030204"/>
                        </a:rPr>
                        <a:t>Socket.io Client</a:t>
                      </a:r>
                      <a:endParaRPr sz="1600" b="1">
                        <a:solidFill>
                          <a:srgbClr val="00B4D8"/>
                        </a:solidFill>
                        <a:latin typeface="Calibri" panose="020F0502020204030204"/>
                      </a:endParaRPr>
                    </a:p>
                  </a:txBody>
                  <a:tcPr>
                    <a:solidFill>
                      <a:srgbClr val="F1F5F9"/>
                    </a:solidFill>
                  </a:tcPr>
                </a:tc>
                <a:tc>
                  <a:txBody>
                    <a:bodyPr/>
                    <a:lstStyle/>
                    <a:p>
                      <a:pPr algn="ctr"/>
                      <a:r>
                        <a:rPr sz="1600">
                          <a:solidFill>
                            <a:srgbClr val="1E293B"/>
                          </a:solidFill>
                          <a:latin typeface="Calibri" panose="020F0502020204030204"/>
                        </a:rPr>
                        <a:t>4.8.3</a:t>
                      </a:r>
                      <a:endParaRPr sz="1600">
                        <a:solidFill>
                          <a:srgbClr val="1E293B"/>
                        </a:solidFill>
                        <a:latin typeface="Calibri" panose="020F0502020204030204"/>
                      </a:endParaRPr>
                    </a:p>
                  </a:txBody>
                  <a:tcPr>
                    <a:solidFill>
                      <a:srgbClr val="F1F5F9"/>
                    </a:solidFill>
                  </a:tcPr>
                </a:tc>
                <a:tc>
                  <a:txBody>
                    <a:bodyPr/>
                    <a:lstStyle/>
                    <a:p>
                      <a:pPr algn="l"/>
                      <a:r>
                        <a:rPr sz="1600">
                          <a:solidFill>
                            <a:srgbClr val="1E293B"/>
                          </a:solidFill>
                          <a:latin typeface="Calibri" panose="020F0502020204030204"/>
                        </a:rPr>
                        <a:t>Real-time WebSocket: chat, notifications, telemedicine</a:t>
                      </a:r>
                      <a:endParaRPr sz="1600">
                        <a:solidFill>
                          <a:srgbClr val="1E293B"/>
                        </a:solidFill>
                        <a:latin typeface="Calibri" panose="020F0502020204030204"/>
                      </a:endParaRPr>
                    </a:p>
                  </a:txBody>
                  <a:tcPr>
                    <a:solidFill>
                      <a:srgbClr val="F1F5F9"/>
                    </a:solidFill>
                  </a:tcPr>
                </a:tc>
                <a:tc>
                  <a:txBody>
                    <a:bodyPr/>
                    <a:lstStyle/>
                    <a:p>
                      <a:pPr algn="ctr"/>
                      <a:r>
                        <a:rPr sz="1600">
                          <a:solidFill>
                            <a:srgbClr val="1E293B"/>
                          </a:solidFill>
                          <a:latin typeface="Calibri" panose="020F0502020204030204"/>
                        </a:rPr>
                        <a:t>Frontend</a:t>
                      </a:r>
                      <a:endParaRPr sz="1600">
                        <a:solidFill>
                          <a:srgbClr val="1E293B"/>
                        </a:solidFill>
                        <a:latin typeface="Calibri" panose="020F0502020204030204"/>
                      </a:endParaRPr>
                    </a:p>
                  </a:txBody>
                  <a:tcPr>
                    <a:solidFill>
                      <a:srgbClr val="F1F5F9"/>
                    </a:solidFill>
                  </a:tcPr>
                </a:tc>
              </a:tr>
              <a:tr h="349623">
                <a:tc>
                  <a:txBody>
                    <a:bodyPr/>
                    <a:lstStyle/>
                    <a:p>
                      <a:pPr algn="l"/>
                      <a:r>
                        <a:rPr sz="1600" b="1">
                          <a:solidFill>
                            <a:srgbClr val="00B4D8"/>
                          </a:solidFill>
                          <a:latin typeface="Calibri" panose="020F0502020204030204"/>
                        </a:rPr>
                        <a:t>Framer Motion</a:t>
                      </a:r>
                      <a:endParaRPr sz="1600" b="1">
                        <a:solidFill>
                          <a:srgbClr val="00B4D8"/>
                        </a:solidFill>
                        <a:latin typeface="Calibri" panose="020F0502020204030204"/>
                      </a:endParaRPr>
                    </a:p>
                  </a:txBody>
                  <a:tcPr>
                    <a:solidFill>
                      <a:srgbClr val="FFFFFF"/>
                    </a:solidFill>
                  </a:tcPr>
                </a:tc>
                <a:tc>
                  <a:txBody>
                    <a:bodyPr/>
                    <a:lstStyle/>
                    <a:p>
                      <a:pPr algn="ctr"/>
                      <a:r>
                        <a:rPr sz="1600">
                          <a:solidFill>
                            <a:srgbClr val="1E293B"/>
                          </a:solidFill>
                          <a:latin typeface="Calibri" panose="020F0502020204030204"/>
                        </a:rPr>
                        <a:t>12.38</a:t>
                      </a:r>
                      <a:endParaRPr sz="1600">
                        <a:solidFill>
                          <a:srgbClr val="1E293B"/>
                        </a:solidFill>
                        <a:latin typeface="Calibri" panose="020F0502020204030204"/>
                      </a:endParaRPr>
                    </a:p>
                  </a:txBody>
                  <a:tcPr>
                    <a:solidFill>
                      <a:srgbClr val="FFFFFF"/>
                    </a:solidFill>
                  </a:tcPr>
                </a:tc>
                <a:tc>
                  <a:txBody>
                    <a:bodyPr/>
                    <a:lstStyle/>
                    <a:p>
                      <a:pPr algn="l"/>
                      <a:r>
                        <a:rPr sz="1600">
                          <a:solidFill>
                            <a:srgbClr val="1E293B"/>
                          </a:solidFill>
                          <a:latin typeface="Calibri" panose="020F0502020204030204"/>
                        </a:rPr>
                        <a:t>Smooth UI animations and transitions</a:t>
                      </a:r>
                      <a:endParaRPr sz="1600">
                        <a:solidFill>
                          <a:srgbClr val="1E293B"/>
                        </a:solidFill>
                        <a:latin typeface="Calibri" panose="020F0502020204030204"/>
                      </a:endParaRPr>
                    </a:p>
                  </a:txBody>
                  <a:tcPr>
                    <a:solidFill>
                      <a:srgbClr val="FFFFFF"/>
                    </a:solidFill>
                  </a:tcPr>
                </a:tc>
                <a:tc>
                  <a:txBody>
                    <a:bodyPr/>
                    <a:lstStyle/>
                    <a:p>
                      <a:pPr algn="ctr"/>
                      <a:r>
                        <a:rPr sz="1600">
                          <a:solidFill>
                            <a:srgbClr val="1E293B"/>
                          </a:solidFill>
                          <a:latin typeface="Calibri" panose="020F0502020204030204"/>
                        </a:rPr>
                        <a:t>Frontend</a:t>
                      </a:r>
                      <a:endParaRPr sz="1600">
                        <a:solidFill>
                          <a:srgbClr val="1E293B"/>
                        </a:solidFill>
                        <a:latin typeface="Calibri" panose="020F0502020204030204"/>
                      </a:endParaRPr>
                    </a:p>
                  </a:txBody>
                  <a:tcPr>
                    <a:solidFill>
                      <a:srgbClr val="FFFFFF"/>
                    </a:solidFill>
                  </a:tcPr>
                </a:tc>
              </a:tr>
              <a:tr h="349623">
                <a:tc>
                  <a:txBody>
                    <a:bodyPr/>
                    <a:lstStyle/>
                    <a:p>
                      <a:pPr algn="l"/>
                      <a:r>
                        <a:rPr sz="1600" b="1">
                          <a:solidFill>
                            <a:srgbClr val="0096B7"/>
                          </a:solidFill>
                          <a:latin typeface="Calibri" panose="020F0502020204030204"/>
                        </a:rPr>
                        <a:t>Node.js + Express</a:t>
                      </a:r>
                      <a:endParaRPr sz="1600" b="1">
                        <a:solidFill>
                          <a:srgbClr val="0096B7"/>
                        </a:solidFill>
                        <a:latin typeface="Calibri" panose="020F0502020204030204"/>
                      </a:endParaRPr>
                    </a:p>
                  </a:txBody>
                  <a:tcPr>
                    <a:solidFill>
                      <a:srgbClr val="F1F5F9"/>
                    </a:solidFill>
                  </a:tcPr>
                </a:tc>
                <a:tc>
                  <a:txBody>
                    <a:bodyPr/>
                    <a:lstStyle/>
                    <a:p>
                      <a:pPr algn="ctr"/>
                      <a:r>
                        <a:rPr sz="1600">
                          <a:solidFill>
                            <a:srgbClr val="1E293B"/>
                          </a:solidFill>
                          <a:latin typeface="Calibri" panose="020F0502020204030204"/>
                        </a:rPr>
                        <a:t>5.2.1</a:t>
                      </a:r>
                      <a:endParaRPr sz="1600">
                        <a:solidFill>
                          <a:srgbClr val="1E293B"/>
                        </a:solidFill>
                        <a:latin typeface="Calibri" panose="020F0502020204030204"/>
                      </a:endParaRPr>
                    </a:p>
                  </a:txBody>
                  <a:tcPr>
                    <a:solidFill>
                      <a:srgbClr val="F1F5F9"/>
                    </a:solidFill>
                  </a:tcPr>
                </a:tc>
                <a:tc>
                  <a:txBody>
                    <a:bodyPr/>
                    <a:lstStyle/>
                    <a:p>
                      <a:pPr algn="l"/>
                      <a:r>
                        <a:rPr sz="1600">
                          <a:solidFill>
                            <a:srgbClr val="1E293B"/>
                          </a:solidFill>
                          <a:latin typeface="Calibri" panose="020F0502020204030204"/>
                        </a:rPr>
                        <a:t>REST API server with async error handling</a:t>
                      </a:r>
                      <a:endParaRPr sz="1600">
                        <a:solidFill>
                          <a:srgbClr val="1E293B"/>
                        </a:solidFill>
                        <a:latin typeface="Calibri" panose="020F0502020204030204"/>
                      </a:endParaRPr>
                    </a:p>
                  </a:txBody>
                  <a:tcPr>
                    <a:solidFill>
                      <a:srgbClr val="F1F5F9"/>
                    </a:solidFill>
                  </a:tcPr>
                </a:tc>
                <a:tc>
                  <a:txBody>
                    <a:bodyPr/>
                    <a:lstStyle/>
                    <a:p>
                      <a:pPr algn="ctr"/>
                      <a:r>
                        <a:rPr sz="1600">
                          <a:solidFill>
                            <a:srgbClr val="1E293B"/>
                          </a:solidFill>
                          <a:latin typeface="Calibri" panose="020F0502020204030204"/>
                        </a:rPr>
                        <a:t>Backend</a:t>
                      </a:r>
                      <a:endParaRPr sz="1600">
                        <a:solidFill>
                          <a:srgbClr val="1E293B"/>
                        </a:solidFill>
                        <a:latin typeface="Calibri" panose="020F0502020204030204"/>
                      </a:endParaRPr>
                    </a:p>
                  </a:txBody>
                  <a:tcPr>
                    <a:solidFill>
                      <a:srgbClr val="F1F5F9"/>
                    </a:solidFill>
                  </a:tcPr>
                </a:tc>
              </a:tr>
              <a:tr h="349623">
                <a:tc>
                  <a:txBody>
                    <a:bodyPr/>
                    <a:lstStyle/>
                    <a:p>
                      <a:pPr algn="l"/>
                      <a:r>
                        <a:rPr sz="1600" b="1">
                          <a:solidFill>
                            <a:srgbClr val="0096B7"/>
                          </a:solidFill>
                          <a:latin typeface="Calibri" panose="020F0502020204030204"/>
                        </a:rPr>
                        <a:t>PostgreSQL + pgcrypto</a:t>
                      </a:r>
                      <a:endParaRPr sz="1600" b="1">
                        <a:solidFill>
                          <a:srgbClr val="0096B7"/>
                        </a:solidFill>
                        <a:latin typeface="Calibri" panose="020F0502020204030204"/>
                      </a:endParaRPr>
                    </a:p>
                  </a:txBody>
                  <a:tcPr>
                    <a:solidFill>
                      <a:srgbClr val="FFFFFF"/>
                    </a:solidFill>
                  </a:tcPr>
                </a:tc>
                <a:tc>
                  <a:txBody>
                    <a:bodyPr/>
                    <a:lstStyle/>
                    <a:p>
                      <a:pPr algn="ctr"/>
                      <a:r>
                        <a:rPr sz="1600">
                          <a:solidFill>
                            <a:srgbClr val="1E293B"/>
                          </a:solidFill>
                          <a:latin typeface="Calibri" panose="020F0502020204030204"/>
                        </a:rPr>
                        <a:t>—</a:t>
                      </a:r>
                      <a:endParaRPr sz="1600">
                        <a:solidFill>
                          <a:srgbClr val="1E293B"/>
                        </a:solidFill>
                        <a:latin typeface="Calibri" panose="020F0502020204030204"/>
                      </a:endParaRPr>
                    </a:p>
                  </a:txBody>
                  <a:tcPr>
                    <a:solidFill>
                      <a:srgbClr val="FFFFFF"/>
                    </a:solidFill>
                  </a:tcPr>
                </a:tc>
                <a:tc>
                  <a:txBody>
                    <a:bodyPr/>
                    <a:lstStyle/>
                    <a:p>
                      <a:pPr algn="l"/>
                      <a:r>
                        <a:rPr sz="1600">
                          <a:solidFill>
                            <a:srgbClr val="1E293B"/>
                          </a:solidFill>
                          <a:latin typeface="Calibri" panose="020F0502020204030204"/>
                        </a:rPr>
                        <a:t>Relational DB with field-level AES encryption</a:t>
                      </a:r>
                      <a:endParaRPr sz="1600">
                        <a:solidFill>
                          <a:srgbClr val="1E293B"/>
                        </a:solidFill>
                        <a:latin typeface="Calibri" panose="020F0502020204030204"/>
                      </a:endParaRPr>
                    </a:p>
                  </a:txBody>
                  <a:tcPr>
                    <a:solidFill>
                      <a:srgbClr val="FFFFFF"/>
                    </a:solidFill>
                  </a:tcPr>
                </a:tc>
                <a:tc>
                  <a:txBody>
                    <a:bodyPr/>
                    <a:lstStyle/>
                    <a:p>
                      <a:pPr algn="ctr"/>
                      <a:r>
                        <a:rPr sz="1600">
                          <a:solidFill>
                            <a:srgbClr val="1E293B"/>
                          </a:solidFill>
                          <a:latin typeface="Calibri" panose="020F0502020204030204"/>
                        </a:rPr>
                        <a:t>Backend</a:t>
                      </a:r>
                      <a:endParaRPr sz="1600">
                        <a:solidFill>
                          <a:srgbClr val="1E293B"/>
                        </a:solidFill>
                        <a:latin typeface="Calibri" panose="020F0502020204030204"/>
                      </a:endParaRPr>
                    </a:p>
                  </a:txBody>
                  <a:tcPr>
                    <a:solidFill>
                      <a:srgbClr val="FFFFFF"/>
                    </a:solidFill>
                  </a:tcPr>
                </a:tc>
              </a:tr>
              <a:tr h="349623">
                <a:tc>
                  <a:txBody>
                    <a:bodyPr/>
                    <a:lstStyle/>
                    <a:p>
                      <a:pPr algn="l"/>
                      <a:r>
                        <a:rPr sz="1600" b="1">
                          <a:solidFill>
                            <a:srgbClr val="0096B7"/>
                          </a:solidFill>
                          <a:latin typeface="Calibri" panose="020F0502020204030204"/>
                        </a:rPr>
                        <a:t>Redis + BullMQ</a:t>
                      </a:r>
                      <a:endParaRPr sz="1600" b="1">
                        <a:solidFill>
                          <a:srgbClr val="0096B7"/>
                        </a:solidFill>
                        <a:latin typeface="Calibri" panose="020F0502020204030204"/>
                      </a:endParaRPr>
                    </a:p>
                  </a:txBody>
                  <a:tcPr>
                    <a:solidFill>
                      <a:srgbClr val="F1F5F9"/>
                    </a:solidFill>
                  </a:tcPr>
                </a:tc>
                <a:tc>
                  <a:txBody>
                    <a:bodyPr/>
                    <a:lstStyle/>
                    <a:p>
                      <a:pPr algn="ctr"/>
                      <a:r>
                        <a:rPr sz="1600">
                          <a:solidFill>
                            <a:srgbClr val="1E293B"/>
                          </a:solidFill>
                          <a:latin typeface="Calibri" panose="020F0502020204030204"/>
                        </a:rPr>
                        <a:t>—</a:t>
                      </a:r>
                      <a:endParaRPr sz="1600">
                        <a:solidFill>
                          <a:srgbClr val="1E293B"/>
                        </a:solidFill>
                        <a:latin typeface="Calibri" panose="020F0502020204030204"/>
                      </a:endParaRPr>
                    </a:p>
                  </a:txBody>
                  <a:tcPr>
                    <a:solidFill>
                      <a:srgbClr val="F1F5F9"/>
                    </a:solidFill>
                  </a:tcPr>
                </a:tc>
                <a:tc>
                  <a:txBody>
                    <a:bodyPr/>
                    <a:lstStyle/>
                    <a:p>
                      <a:pPr algn="l"/>
                      <a:r>
                        <a:rPr sz="1600">
                          <a:solidFill>
                            <a:srgbClr val="1E293B"/>
                          </a:solidFill>
                          <a:latin typeface="Calibri" panose="020F0502020204030204"/>
                        </a:rPr>
                        <a:t>Sessions, rate limiting, refresh tokens, async job queues</a:t>
                      </a:r>
                      <a:endParaRPr sz="1600">
                        <a:solidFill>
                          <a:srgbClr val="1E293B"/>
                        </a:solidFill>
                        <a:latin typeface="Calibri" panose="020F0502020204030204"/>
                      </a:endParaRPr>
                    </a:p>
                  </a:txBody>
                  <a:tcPr>
                    <a:solidFill>
                      <a:srgbClr val="F1F5F9"/>
                    </a:solidFill>
                  </a:tcPr>
                </a:tc>
                <a:tc>
                  <a:txBody>
                    <a:bodyPr/>
                    <a:lstStyle/>
                    <a:p>
                      <a:pPr algn="ctr"/>
                      <a:r>
                        <a:rPr sz="1600">
                          <a:solidFill>
                            <a:srgbClr val="1E293B"/>
                          </a:solidFill>
                          <a:latin typeface="Calibri" panose="020F0502020204030204"/>
                        </a:rPr>
                        <a:t>Backend</a:t>
                      </a:r>
                      <a:endParaRPr sz="1600">
                        <a:solidFill>
                          <a:srgbClr val="1E293B"/>
                        </a:solidFill>
                        <a:latin typeface="Calibri" panose="020F0502020204030204"/>
                      </a:endParaRPr>
                    </a:p>
                  </a:txBody>
                  <a:tcPr>
                    <a:solidFill>
                      <a:srgbClr val="F1F5F9"/>
                    </a:solidFill>
                  </a:tcPr>
                </a:tc>
              </a:tr>
              <a:tr h="349623">
                <a:tc>
                  <a:txBody>
                    <a:bodyPr/>
                    <a:lstStyle/>
                    <a:p>
                      <a:pPr algn="l"/>
                      <a:r>
                        <a:rPr sz="1600" b="1">
                          <a:solidFill>
                            <a:srgbClr val="0096B7"/>
                          </a:solidFill>
                          <a:latin typeface="Calibri" panose="020F0502020204030204"/>
                        </a:rPr>
                        <a:t>Argon2id</a:t>
                      </a:r>
                      <a:endParaRPr sz="1600" b="1">
                        <a:solidFill>
                          <a:srgbClr val="0096B7"/>
                        </a:solidFill>
                        <a:latin typeface="Calibri" panose="020F0502020204030204"/>
                      </a:endParaRPr>
                    </a:p>
                  </a:txBody>
                  <a:tcPr>
                    <a:solidFill>
                      <a:srgbClr val="FFFFFF"/>
                    </a:solidFill>
                  </a:tcPr>
                </a:tc>
                <a:tc>
                  <a:txBody>
                    <a:bodyPr/>
                    <a:lstStyle/>
                    <a:p>
                      <a:pPr algn="ctr"/>
                      <a:r>
                        <a:rPr sz="1600">
                          <a:solidFill>
                            <a:srgbClr val="1E293B"/>
                          </a:solidFill>
                          <a:latin typeface="Calibri" panose="020F0502020204030204"/>
                        </a:rPr>
                        <a:t>0.44</a:t>
                      </a:r>
                      <a:endParaRPr sz="1600">
                        <a:solidFill>
                          <a:srgbClr val="1E293B"/>
                        </a:solidFill>
                        <a:latin typeface="Calibri" panose="020F0502020204030204"/>
                      </a:endParaRPr>
                    </a:p>
                  </a:txBody>
                  <a:tcPr>
                    <a:solidFill>
                      <a:srgbClr val="FFFFFF"/>
                    </a:solidFill>
                  </a:tcPr>
                </a:tc>
                <a:tc>
                  <a:txBody>
                    <a:bodyPr/>
                    <a:lstStyle/>
                    <a:p>
                      <a:pPr algn="l"/>
                      <a:r>
                        <a:rPr sz="1600">
                          <a:solidFill>
                            <a:srgbClr val="1E293B"/>
                          </a:solidFill>
                          <a:latin typeface="Calibri" panose="020F0502020204030204"/>
                        </a:rPr>
                        <a:t>Password hashing — PHC winner, GPU-resistant</a:t>
                      </a:r>
                      <a:endParaRPr sz="1600">
                        <a:solidFill>
                          <a:srgbClr val="1E293B"/>
                        </a:solidFill>
                        <a:latin typeface="Calibri" panose="020F0502020204030204"/>
                      </a:endParaRPr>
                    </a:p>
                  </a:txBody>
                  <a:tcPr>
                    <a:solidFill>
                      <a:srgbClr val="FFFFFF"/>
                    </a:solidFill>
                  </a:tcPr>
                </a:tc>
                <a:tc>
                  <a:txBody>
                    <a:bodyPr/>
                    <a:lstStyle/>
                    <a:p>
                      <a:pPr algn="ctr"/>
                      <a:r>
                        <a:rPr sz="1600">
                          <a:solidFill>
                            <a:srgbClr val="1E293B"/>
                          </a:solidFill>
                          <a:latin typeface="Calibri" panose="020F0502020204030204"/>
                        </a:rPr>
                        <a:t>Backend</a:t>
                      </a:r>
                      <a:endParaRPr sz="1600">
                        <a:solidFill>
                          <a:srgbClr val="1E293B"/>
                        </a:solidFill>
                        <a:latin typeface="Calibri" panose="020F0502020204030204"/>
                      </a:endParaRPr>
                    </a:p>
                  </a:txBody>
                  <a:tcPr>
                    <a:solidFill>
                      <a:srgbClr val="FFFFFF"/>
                    </a:solidFill>
                  </a:tcPr>
                </a:tc>
              </a:tr>
              <a:tr h="349623">
                <a:tc>
                  <a:txBody>
                    <a:bodyPr/>
                    <a:lstStyle/>
                    <a:p>
                      <a:pPr algn="l"/>
                      <a:r>
                        <a:rPr sz="1600" b="1">
                          <a:solidFill>
                            <a:srgbClr val="0096B7"/>
                          </a:solidFill>
                          <a:latin typeface="Calibri" panose="020F0502020204030204"/>
                        </a:rPr>
                        <a:t>Puppeteer</a:t>
                      </a:r>
                      <a:endParaRPr sz="1600" b="1">
                        <a:solidFill>
                          <a:srgbClr val="0096B7"/>
                        </a:solidFill>
                        <a:latin typeface="Calibri" panose="020F0502020204030204"/>
                      </a:endParaRPr>
                    </a:p>
                  </a:txBody>
                  <a:tcPr>
                    <a:solidFill>
                      <a:srgbClr val="F1F5F9"/>
                    </a:solidFill>
                  </a:tcPr>
                </a:tc>
                <a:tc>
                  <a:txBody>
                    <a:bodyPr/>
                    <a:lstStyle/>
                    <a:p>
                      <a:pPr algn="ctr"/>
                      <a:r>
                        <a:rPr sz="1600">
                          <a:solidFill>
                            <a:srgbClr val="1E293B"/>
                          </a:solidFill>
                          <a:latin typeface="Calibri" panose="020F0502020204030204"/>
                        </a:rPr>
                        <a:t>22.0</a:t>
                      </a:r>
                      <a:endParaRPr sz="1600">
                        <a:solidFill>
                          <a:srgbClr val="1E293B"/>
                        </a:solidFill>
                        <a:latin typeface="Calibri" panose="020F0502020204030204"/>
                      </a:endParaRPr>
                    </a:p>
                  </a:txBody>
                  <a:tcPr>
                    <a:solidFill>
                      <a:srgbClr val="F1F5F9"/>
                    </a:solidFill>
                  </a:tcPr>
                </a:tc>
                <a:tc>
                  <a:txBody>
                    <a:bodyPr/>
                    <a:lstStyle/>
                    <a:p>
                      <a:pPr algn="l"/>
                      <a:r>
                        <a:rPr sz="1600">
                          <a:solidFill>
                            <a:srgbClr val="1E293B"/>
                          </a:solidFill>
                          <a:latin typeface="Calibri" panose="020F0502020204030204"/>
                        </a:rPr>
                        <a:t>Headless Chrome for PDF generation (prescriptions, discharge)</a:t>
                      </a:r>
                      <a:endParaRPr sz="1600">
                        <a:solidFill>
                          <a:srgbClr val="1E293B"/>
                        </a:solidFill>
                        <a:latin typeface="Calibri" panose="020F0502020204030204"/>
                      </a:endParaRPr>
                    </a:p>
                  </a:txBody>
                  <a:tcPr>
                    <a:solidFill>
                      <a:srgbClr val="F1F5F9"/>
                    </a:solidFill>
                  </a:tcPr>
                </a:tc>
                <a:tc>
                  <a:txBody>
                    <a:bodyPr/>
                    <a:lstStyle/>
                    <a:p>
                      <a:pPr algn="ctr"/>
                      <a:r>
                        <a:rPr sz="1600">
                          <a:solidFill>
                            <a:srgbClr val="1E293B"/>
                          </a:solidFill>
                          <a:latin typeface="Calibri" panose="020F0502020204030204"/>
                        </a:rPr>
                        <a:t>Backend</a:t>
                      </a:r>
                      <a:endParaRPr sz="1600">
                        <a:solidFill>
                          <a:srgbClr val="1E293B"/>
                        </a:solidFill>
                        <a:latin typeface="Calibri" panose="020F0502020204030204"/>
                      </a:endParaRPr>
                    </a:p>
                  </a:txBody>
                  <a:tcPr>
                    <a:solidFill>
                      <a:srgbClr val="F1F5F9"/>
                    </a:solidFill>
                  </a:tcPr>
                </a:tc>
              </a:tr>
              <a:tr h="349623">
                <a:tc>
                  <a:txBody>
                    <a:bodyPr/>
                    <a:lstStyle/>
                    <a:p>
                      <a:pPr algn="l"/>
                      <a:r>
                        <a:rPr sz="1600" b="1">
                          <a:solidFill>
                            <a:srgbClr val="0096B7"/>
                          </a:solidFill>
                          <a:latin typeface="Calibri" panose="020F0502020204030204"/>
                        </a:rPr>
                        <a:t>ClamScan</a:t>
                      </a:r>
                      <a:endParaRPr sz="1600" b="1">
                        <a:solidFill>
                          <a:srgbClr val="0096B7"/>
                        </a:solidFill>
                        <a:latin typeface="Calibri" panose="020F0502020204030204"/>
                      </a:endParaRPr>
                    </a:p>
                  </a:txBody>
                  <a:tcPr>
                    <a:solidFill>
                      <a:srgbClr val="FFFFFF"/>
                    </a:solidFill>
                  </a:tcPr>
                </a:tc>
                <a:tc>
                  <a:txBody>
                    <a:bodyPr/>
                    <a:lstStyle/>
                    <a:p>
                      <a:pPr algn="ctr"/>
                      <a:r>
                        <a:rPr sz="1600">
                          <a:solidFill>
                            <a:srgbClr val="1E293B"/>
                          </a:solidFill>
                          <a:latin typeface="Calibri" panose="020F0502020204030204"/>
                        </a:rPr>
                        <a:t>2.4</a:t>
                      </a:r>
                      <a:endParaRPr sz="1600">
                        <a:solidFill>
                          <a:srgbClr val="1E293B"/>
                        </a:solidFill>
                        <a:latin typeface="Calibri" panose="020F0502020204030204"/>
                      </a:endParaRPr>
                    </a:p>
                  </a:txBody>
                  <a:tcPr>
                    <a:solidFill>
                      <a:srgbClr val="FFFFFF"/>
                    </a:solidFill>
                  </a:tcPr>
                </a:tc>
                <a:tc>
                  <a:txBody>
                    <a:bodyPr/>
                    <a:lstStyle/>
                    <a:p>
                      <a:pPr algn="l"/>
                      <a:r>
                        <a:rPr sz="1600">
                          <a:solidFill>
                            <a:srgbClr val="1E293B"/>
                          </a:solidFill>
                          <a:latin typeface="Calibri" panose="020F0502020204030204"/>
                        </a:rPr>
                        <a:t>Antivirus scanning on every file upload</a:t>
                      </a:r>
                      <a:endParaRPr sz="1600">
                        <a:solidFill>
                          <a:srgbClr val="1E293B"/>
                        </a:solidFill>
                        <a:latin typeface="Calibri" panose="020F0502020204030204"/>
                      </a:endParaRPr>
                    </a:p>
                  </a:txBody>
                  <a:tcPr>
                    <a:solidFill>
                      <a:srgbClr val="FFFFFF"/>
                    </a:solidFill>
                  </a:tcPr>
                </a:tc>
                <a:tc>
                  <a:txBody>
                    <a:bodyPr/>
                    <a:lstStyle/>
                    <a:p>
                      <a:pPr algn="ctr"/>
                      <a:r>
                        <a:rPr sz="1600">
                          <a:solidFill>
                            <a:srgbClr val="1E293B"/>
                          </a:solidFill>
                          <a:latin typeface="Calibri" panose="020F0502020204030204"/>
                        </a:rPr>
                        <a:t>Backend</a:t>
                      </a:r>
                      <a:endParaRPr sz="1600">
                        <a:solidFill>
                          <a:srgbClr val="1E293B"/>
                        </a:solidFill>
                        <a:latin typeface="Calibri" panose="020F0502020204030204"/>
                      </a:endParaRPr>
                    </a:p>
                  </a:txBody>
                  <a:tcPr>
                    <a:solidFill>
                      <a:srgbClr val="FFFFFF"/>
                    </a:solidFill>
                  </a:tcPr>
                </a:tc>
              </a:tr>
              <a:tr h="349623">
                <a:tc>
                  <a:txBody>
                    <a:bodyPr/>
                    <a:lstStyle/>
                    <a:p>
                      <a:pPr algn="l"/>
                      <a:r>
                        <a:rPr sz="1600" b="1">
                          <a:solidFill>
                            <a:srgbClr val="0096B7"/>
                          </a:solidFill>
                          <a:latin typeface="Calibri" panose="020F0502020204030204"/>
                        </a:rPr>
                        <a:t>Razorpay</a:t>
                      </a:r>
                      <a:endParaRPr sz="1600" b="1">
                        <a:solidFill>
                          <a:srgbClr val="0096B7"/>
                        </a:solidFill>
                        <a:latin typeface="Calibri" panose="020F0502020204030204"/>
                      </a:endParaRPr>
                    </a:p>
                  </a:txBody>
                  <a:tcPr>
                    <a:solidFill>
                      <a:srgbClr val="F1F5F9"/>
                    </a:solidFill>
                  </a:tcPr>
                </a:tc>
                <a:tc>
                  <a:txBody>
                    <a:bodyPr/>
                    <a:lstStyle/>
                    <a:p>
                      <a:pPr algn="ctr"/>
                      <a:r>
                        <a:rPr sz="1600">
                          <a:solidFill>
                            <a:srgbClr val="1E293B"/>
                          </a:solidFill>
                          <a:latin typeface="Calibri" panose="020F0502020204030204"/>
                        </a:rPr>
                        <a:t>2.9.6</a:t>
                      </a:r>
                      <a:endParaRPr sz="1600">
                        <a:solidFill>
                          <a:srgbClr val="1E293B"/>
                        </a:solidFill>
                        <a:latin typeface="Calibri" panose="020F0502020204030204"/>
                      </a:endParaRPr>
                    </a:p>
                  </a:txBody>
                  <a:tcPr>
                    <a:solidFill>
                      <a:srgbClr val="F1F5F9"/>
                    </a:solidFill>
                  </a:tcPr>
                </a:tc>
                <a:tc>
                  <a:txBody>
                    <a:bodyPr/>
                    <a:lstStyle/>
                    <a:p>
                      <a:pPr algn="l"/>
                      <a:r>
                        <a:rPr sz="1600">
                          <a:solidFill>
                            <a:srgbClr val="1E293B"/>
                          </a:solidFill>
                          <a:latin typeface="Calibri" panose="020F0502020204030204"/>
                        </a:rPr>
                        <a:t>Payment gateway for patient bill payments</a:t>
                      </a:r>
                      <a:endParaRPr sz="1600">
                        <a:solidFill>
                          <a:srgbClr val="1E293B"/>
                        </a:solidFill>
                        <a:latin typeface="Calibri" panose="020F0502020204030204"/>
                      </a:endParaRPr>
                    </a:p>
                  </a:txBody>
                  <a:tcPr>
                    <a:solidFill>
                      <a:srgbClr val="F1F5F9"/>
                    </a:solidFill>
                  </a:tcPr>
                </a:tc>
                <a:tc>
                  <a:txBody>
                    <a:bodyPr/>
                    <a:lstStyle/>
                    <a:p>
                      <a:pPr algn="ctr"/>
                      <a:r>
                        <a:rPr sz="1600">
                          <a:solidFill>
                            <a:srgbClr val="1E293B"/>
                          </a:solidFill>
                          <a:latin typeface="Calibri" panose="020F0502020204030204"/>
                        </a:rPr>
                        <a:t>Backend</a:t>
                      </a:r>
                      <a:endParaRPr sz="1600">
                        <a:solidFill>
                          <a:srgbClr val="1E293B"/>
                        </a:solidFill>
                        <a:latin typeface="Calibri" panose="020F0502020204030204"/>
                      </a:endParaRPr>
                    </a:p>
                  </a:txBody>
                  <a:tcPr>
                    <a:solidFill>
                      <a:srgbClr val="F1F5F9"/>
                    </a:solidFill>
                  </a:tcPr>
                </a:tc>
              </a:tr>
              <a:tr h="349632">
                <a:tc>
                  <a:txBody>
                    <a:bodyPr/>
                    <a:lstStyle/>
                    <a:p>
                      <a:pPr algn="l"/>
                      <a:r>
                        <a:rPr sz="1600" b="1">
                          <a:solidFill>
                            <a:srgbClr val="0096B7"/>
                          </a:solidFill>
                          <a:latin typeface="Calibri" panose="020F0502020204030204"/>
                        </a:rPr>
                        <a:t>Helmet + CSRF-CSRF</a:t>
                      </a:r>
                      <a:endParaRPr sz="1600" b="1">
                        <a:solidFill>
                          <a:srgbClr val="0096B7"/>
                        </a:solidFill>
                        <a:latin typeface="Calibri" panose="020F0502020204030204"/>
                      </a:endParaRPr>
                    </a:p>
                  </a:txBody>
                  <a:tcPr>
                    <a:solidFill>
                      <a:srgbClr val="FFFFFF"/>
                    </a:solidFill>
                  </a:tcPr>
                </a:tc>
                <a:tc>
                  <a:txBody>
                    <a:bodyPr/>
                    <a:lstStyle/>
                    <a:p>
                      <a:pPr algn="ctr"/>
                      <a:r>
                        <a:rPr sz="1600">
                          <a:solidFill>
                            <a:srgbClr val="1E293B"/>
                          </a:solidFill>
                          <a:latin typeface="Calibri" panose="020F0502020204030204"/>
                        </a:rPr>
                        <a:t>8.0 + 4.0</a:t>
                      </a:r>
                      <a:endParaRPr sz="1600">
                        <a:solidFill>
                          <a:srgbClr val="1E293B"/>
                        </a:solidFill>
                        <a:latin typeface="Calibri" panose="020F0502020204030204"/>
                      </a:endParaRPr>
                    </a:p>
                  </a:txBody>
                  <a:tcPr>
                    <a:solidFill>
                      <a:srgbClr val="FFFFFF"/>
                    </a:solidFill>
                  </a:tcPr>
                </a:tc>
                <a:tc>
                  <a:txBody>
                    <a:bodyPr/>
                    <a:lstStyle/>
                    <a:p>
                      <a:pPr algn="l"/>
                      <a:r>
                        <a:rPr sz="1600">
                          <a:solidFill>
                            <a:srgbClr val="1E293B"/>
                          </a:solidFill>
                          <a:latin typeface="Calibri" panose="020F0502020204030204"/>
                        </a:rPr>
                        <a:t>Security headers + double-submit CSRF protection</a:t>
                      </a:r>
                      <a:endParaRPr sz="1600">
                        <a:solidFill>
                          <a:srgbClr val="1E293B"/>
                        </a:solidFill>
                        <a:latin typeface="Calibri" panose="020F0502020204030204"/>
                      </a:endParaRPr>
                    </a:p>
                  </a:txBody>
                  <a:tcPr>
                    <a:solidFill>
                      <a:srgbClr val="FFFFFF"/>
                    </a:solidFill>
                  </a:tcPr>
                </a:tc>
                <a:tc>
                  <a:txBody>
                    <a:bodyPr/>
                    <a:lstStyle/>
                    <a:p>
                      <a:pPr algn="ctr"/>
                      <a:r>
                        <a:rPr sz="1600">
                          <a:solidFill>
                            <a:srgbClr val="1E293B"/>
                          </a:solidFill>
                          <a:latin typeface="Calibri" panose="020F0502020204030204"/>
                        </a:rPr>
                        <a:t>Backend</a:t>
                      </a:r>
                      <a:endParaRPr sz="1600">
                        <a:solidFill>
                          <a:srgbClr val="1E293B"/>
                        </a:solidFill>
                        <a:latin typeface="Calibri" panose="020F0502020204030204"/>
                      </a:endParaRP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583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502920"/>
          </a:xfrm>
          <a:prstGeom prst="rect">
            <a:avLst/>
          </a:prstGeom>
          <a:noFill/>
        </p:spPr>
        <p:txBody>
          <a:bodyPr wrap="square">
            <a:spAutoFit/>
          </a:bodyPr>
          <a:lstStyle/>
          <a:p>
            <a:pPr algn="l"/>
            <a:r>
              <a:rPr sz="2000" b="1" i="0">
                <a:solidFill>
                  <a:srgbClr val="FFFFFF"/>
                </a:solidFill>
                <a:latin typeface="Calibri" panose="020F0502020204030204"/>
              </a:rPr>
              <a:t>Key Advantages — What Makes This System Stand Out</a:t>
            </a:r>
            <a:endParaRPr sz="2000" b="1" i="0">
              <a:solidFill>
                <a:srgbClr val="FFFFFF"/>
              </a:solidFill>
              <a:latin typeface="Calibri" panose="020F0502020204030204"/>
            </a:endParaRPr>
          </a:p>
        </p:txBody>
      </p:sp>
      <p:sp>
        <p:nvSpPr>
          <p:cNvPr id="4" name="Rectangle 3"/>
          <p:cNvSpPr/>
          <p:nvPr/>
        </p:nvSpPr>
        <p:spPr>
          <a:xfrm>
            <a:off x="0" y="658368"/>
            <a:ext cx="109728" cy="61996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749808"/>
            <a:ext cx="11795760" cy="59893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822960"/>
            <a:ext cx="11430000" cy="4461510"/>
          </a:xfrm>
          <a:prstGeom prst="rect">
            <a:avLst/>
          </a:prstGeom>
          <a:noFill/>
        </p:spPr>
        <p:txBody>
          <a:bodyPr wrap="square">
            <a:spAutoFit/>
          </a:bodyPr>
          <a:lstStyle/>
          <a:p>
            <a:pPr algn="l">
              <a:spcBef>
                <a:spcPts val="300"/>
              </a:spcBef>
              <a:spcAft>
                <a:spcPts val="200"/>
              </a:spcAft>
            </a:pPr>
            <a:r>
              <a:rPr>
                <a:solidFill>
                  <a:srgbClr val="1E293B"/>
                </a:solidFill>
                <a:latin typeface="Calibri" panose="020F0502020204030204"/>
              </a:rPr>
              <a:t>  ✅  Truly Role-Based (19 Roles): Each role has a purpose-built dashboard; no role can access another's data</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A billing clerk cannot see prescriptions; a nurse cannot access financial reports</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Defense in Depth (9 Layers): Multiple security barriers — attacker must bypass all 9 layers to reach business logic</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Even with a stolen JWT, attacker still blocked by RBAC, rate limiting, and IP blocking</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Real-Time Everything: Socket.io powers live chat, notifications, telemedicine, and force-logout — zero polling</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Pharmacist sees new prescription badge appear in 50ms without refreshing the page</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Tamper-Evident Audit Trail: Hash-chain verification — mathematically impossible to delete a log without detection</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If row #500 is deleted, row #501's prev_hash won't match — chain verification fails immediately</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PWA + Offline Support: Works offline with service worker caching — critical for hospitals with poor connectivity</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Nurse records vitals offline → data syncs automatically when connection restored</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Automated Async Workflows: BullMQ job queues handle email, PDF, virus scan without blocking the main thread</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Example: Discharge PDF generation takes 3 seconds — runs in background, user not blocked</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OpenFDA Integration: Medicine database can import drug data directly from US FDA's public API</a:t>
            </a:r>
            <a:endParaRPr>
              <a:solidFill>
                <a:srgbClr val="1E293B"/>
              </a:solidFill>
              <a:latin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583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502920"/>
          </a:xfrm>
          <a:prstGeom prst="rect">
            <a:avLst/>
          </a:prstGeom>
          <a:noFill/>
        </p:spPr>
        <p:txBody>
          <a:bodyPr wrap="square">
            <a:spAutoFit/>
          </a:bodyPr>
          <a:lstStyle/>
          <a:p>
            <a:pPr algn="l"/>
            <a:r>
              <a:rPr sz="2000" b="1" i="0">
                <a:solidFill>
                  <a:srgbClr val="FFFFFF"/>
                </a:solidFill>
                <a:latin typeface="Calibri" panose="020F0502020204030204"/>
              </a:rPr>
              <a:t>Current Limitations — Honest Assessment</a:t>
            </a:r>
            <a:endParaRPr sz="2000" b="1" i="0">
              <a:solidFill>
                <a:srgbClr val="FFFFFF"/>
              </a:solidFill>
              <a:latin typeface="Calibri" panose="020F0502020204030204"/>
            </a:endParaRPr>
          </a:p>
        </p:txBody>
      </p:sp>
      <p:sp>
        <p:nvSpPr>
          <p:cNvPr id="4" name="Rectangle 3"/>
          <p:cNvSpPr/>
          <p:nvPr/>
        </p:nvSpPr>
        <p:spPr>
          <a:xfrm>
            <a:off x="0" y="658368"/>
            <a:ext cx="109728" cy="61996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749808"/>
            <a:ext cx="11795760" cy="59893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822960"/>
            <a:ext cx="11430000" cy="4739005"/>
          </a:xfrm>
          <a:prstGeom prst="rect">
            <a:avLst/>
          </a:prstGeom>
          <a:noFill/>
        </p:spPr>
        <p:txBody>
          <a:bodyPr wrap="square">
            <a:spAutoFit/>
          </a:bodyPr>
          <a:lstStyle/>
          <a:p>
            <a:pPr algn="l">
              <a:spcBef>
                <a:spcPts val="300"/>
              </a:spcBef>
              <a:spcAft>
                <a:spcPts val="200"/>
              </a:spcAft>
            </a:pPr>
            <a:r>
              <a:rPr>
                <a:solidFill>
                  <a:srgbClr val="1E293B"/>
                </a:solidFill>
                <a:latin typeface="Calibri" panose="020F0502020204030204"/>
              </a:rPr>
              <a:t>  ⚠️  Telemedicine Video Provider: Socket.io handles signaling but actual video stream requires external provider (Twilio/Jitsi)</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Impact: Video calls depend on third-party uptime and pricing; not fully self-hosted</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Single Hospital Instance: Designed for one hospital — no multi-tenant or multi-branch architecture currently</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Impact: A hospital chain with 5 branches would need 5 separate deployments</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No CI/CD Pipeline: No automated deployment, testing pipeline, or Kubernetes configuration included</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Impact: Deployment requires manual setup; no automated rollback on failure</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Radiology Module Partial: Radiologist role exists in RBAC and frontend, but full report module is scaffolded only</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Impact: Radiologists can log in but cannot upload/view radiology reports yet</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Payment Geography: Razorpay supports Indian payment methods only — no Stripe or international gateway</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Impact: International hospitals or patients with foreign cards cannot use online payment</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iOS PWA Limitations: Push notifications limited on iOS Safari; install prompt not supported on all iOS versions</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Impact: iPhone users may not receive real-time push notifications without opening the app</a:t>
            </a:r>
            <a:endParaRPr>
              <a:solidFill>
                <a:srgbClr val="1E293B"/>
              </a:solidFill>
              <a:latin typeface="Calibri" panose="020F0502020204030204"/>
            </a:endParaRPr>
          </a:p>
          <a:p>
            <a:pPr algn="l">
              <a:spcBef>
                <a:spcPts val="300"/>
              </a:spcBef>
              <a:spcAft>
                <a:spcPts val="200"/>
              </a:spcAft>
            </a:pPr>
            <a:r>
              <a:rPr>
                <a:solidFill>
                  <a:srgbClr val="1E293B"/>
                </a:solidFill>
                <a:latin typeface="Calibri" panose="020F0502020204030204"/>
              </a:rPr>
              <a:t>  ⚠️  No Automated Tests: No unit/integration test suite included in the codebase currently</a:t>
            </a:r>
            <a:endParaRPr>
              <a:solidFill>
                <a:srgbClr val="1E293B"/>
              </a:solidFill>
              <a:latin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583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 name="TextBox 2"/>
          <p:cNvSpPr txBox="1"/>
          <p:nvPr/>
        </p:nvSpPr>
        <p:spPr>
          <a:xfrm>
            <a:off x="274320" y="91440"/>
            <a:ext cx="11612880" cy="645160"/>
          </a:xfrm>
          <a:prstGeom prst="rect">
            <a:avLst/>
          </a:prstGeom>
          <a:noFill/>
        </p:spPr>
        <p:txBody>
          <a:bodyPr wrap="square">
            <a:spAutoFit/>
          </a:bodyPr>
          <a:lstStyle/>
          <a:p>
            <a:pPr algn="l"/>
            <a:r>
              <a:rPr sz="3600" b="1" i="0">
                <a:solidFill>
                  <a:srgbClr val="FFFFFF"/>
                </a:solidFill>
                <a:latin typeface="Calibri" panose="020F0502020204030204"/>
              </a:rPr>
              <a:t>Future Enhancements — Roadmap</a:t>
            </a:r>
            <a:endParaRPr sz="3600" b="1" i="0">
              <a:solidFill>
                <a:srgbClr val="FFFFFF"/>
              </a:solidFill>
              <a:latin typeface="Calibri" panose="020F0502020204030204"/>
            </a:endParaRPr>
          </a:p>
        </p:txBody>
      </p:sp>
      <p:sp>
        <p:nvSpPr>
          <p:cNvPr id="4" name="Rectangle 3"/>
          <p:cNvSpPr/>
          <p:nvPr/>
        </p:nvSpPr>
        <p:spPr>
          <a:xfrm>
            <a:off x="0" y="658368"/>
            <a:ext cx="109728" cy="61996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 name="Rectangle 4"/>
          <p:cNvSpPr/>
          <p:nvPr/>
        </p:nvSpPr>
        <p:spPr>
          <a:xfrm>
            <a:off x="201168" y="777240"/>
            <a:ext cx="5394960" cy="1234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 name="TextBox 5"/>
          <p:cNvSpPr txBox="1"/>
          <p:nvPr/>
        </p:nvSpPr>
        <p:spPr>
          <a:xfrm>
            <a:off x="292608" y="832103"/>
            <a:ext cx="5212080" cy="368300"/>
          </a:xfrm>
          <a:prstGeom prst="rect">
            <a:avLst/>
          </a:prstGeom>
          <a:noFill/>
        </p:spPr>
        <p:txBody>
          <a:bodyPr wrap="square">
            <a:spAutoFit/>
          </a:bodyPr>
          <a:lstStyle/>
          <a:p>
            <a:pPr algn="l"/>
            <a:r>
              <a:rPr b="1" i="0">
                <a:solidFill>
                  <a:srgbClr val="FFFFFF"/>
                </a:solidFill>
                <a:latin typeface="Calibri" panose="020F0502020204030204"/>
              </a:rPr>
              <a:t>🤖 AI Diagnostics</a:t>
            </a:r>
            <a:endParaRPr b="1" i="0">
              <a:solidFill>
                <a:srgbClr val="FFFFFF"/>
              </a:solidFill>
              <a:latin typeface="Calibri" panose="020F0502020204030204"/>
            </a:endParaRPr>
          </a:p>
        </p:txBody>
      </p:sp>
      <p:sp>
        <p:nvSpPr>
          <p:cNvPr id="7" name="Rectangle 6"/>
          <p:cNvSpPr/>
          <p:nvPr/>
        </p:nvSpPr>
        <p:spPr>
          <a:xfrm>
            <a:off x="292608" y="1124712"/>
            <a:ext cx="5212080"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8" name="TextBox 7"/>
          <p:cNvSpPr txBox="1"/>
          <p:nvPr/>
        </p:nvSpPr>
        <p:spPr>
          <a:xfrm>
            <a:off x="292608" y="1179576"/>
            <a:ext cx="5212080" cy="583565"/>
          </a:xfrm>
          <a:prstGeom prst="rect">
            <a:avLst/>
          </a:prstGeom>
          <a:noFill/>
        </p:spPr>
        <p:txBody>
          <a:bodyPr wrap="square">
            <a:spAutoFit/>
          </a:bodyPr>
          <a:lstStyle/>
          <a:p>
            <a:pPr algn="l"/>
            <a:r>
              <a:rPr sz="1600" b="0" i="0">
                <a:solidFill>
                  <a:srgbClr val="FFFFFF"/>
                </a:solidFill>
                <a:latin typeface="Calibri" panose="020F0502020204030204"/>
              </a:rPr>
              <a:t>ML models for vital sign anomaly detection, drug interaction warnings, readmission risk scoring</a:t>
            </a:r>
            <a:endParaRPr sz="1600" b="0" i="0">
              <a:solidFill>
                <a:srgbClr val="FFFFFF"/>
              </a:solidFill>
              <a:latin typeface="Calibri" panose="020F0502020204030204"/>
            </a:endParaRPr>
          </a:p>
        </p:txBody>
      </p:sp>
      <p:sp>
        <p:nvSpPr>
          <p:cNvPr id="9" name="Rectangle 8"/>
          <p:cNvSpPr/>
          <p:nvPr/>
        </p:nvSpPr>
        <p:spPr>
          <a:xfrm>
            <a:off x="5779008" y="777240"/>
            <a:ext cx="5394960" cy="12344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0" name="TextBox 9"/>
          <p:cNvSpPr txBox="1"/>
          <p:nvPr/>
        </p:nvSpPr>
        <p:spPr>
          <a:xfrm>
            <a:off x="5870448" y="832103"/>
            <a:ext cx="5212080" cy="368300"/>
          </a:xfrm>
          <a:prstGeom prst="rect">
            <a:avLst/>
          </a:prstGeom>
          <a:noFill/>
        </p:spPr>
        <p:txBody>
          <a:bodyPr wrap="square">
            <a:spAutoFit/>
          </a:bodyPr>
          <a:lstStyle/>
          <a:p>
            <a:pPr algn="l"/>
            <a:r>
              <a:rPr b="1" i="0">
                <a:solidFill>
                  <a:srgbClr val="FFFFFF"/>
                </a:solidFill>
                <a:latin typeface="Calibri" panose="020F0502020204030204"/>
              </a:rPr>
              <a:t>🏢 Multi-Tenant</a:t>
            </a:r>
            <a:endParaRPr b="1" i="0">
              <a:solidFill>
                <a:srgbClr val="FFFFFF"/>
              </a:solidFill>
              <a:latin typeface="Calibri" panose="020F0502020204030204"/>
            </a:endParaRPr>
          </a:p>
        </p:txBody>
      </p:sp>
      <p:sp>
        <p:nvSpPr>
          <p:cNvPr id="11" name="Rectangle 10"/>
          <p:cNvSpPr/>
          <p:nvPr/>
        </p:nvSpPr>
        <p:spPr>
          <a:xfrm>
            <a:off x="5870448" y="1124712"/>
            <a:ext cx="5212080"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2" name="TextBox 11"/>
          <p:cNvSpPr txBox="1"/>
          <p:nvPr/>
        </p:nvSpPr>
        <p:spPr>
          <a:xfrm>
            <a:off x="5870448" y="1179576"/>
            <a:ext cx="5212080" cy="583565"/>
          </a:xfrm>
          <a:prstGeom prst="rect">
            <a:avLst/>
          </a:prstGeom>
          <a:noFill/>
        </p:spPr>
        <p:txBody>
          <a:bodyPr wrap="square">
            <a:spAutoFit/>
          </a:bodyPr>
          <a:lstStyle/>
          <a:p>
            <a:pPr algn="l"/>
            <a:r>
              <a:rPr sz="1600" b="0" i="0">
                <a:solidFill>
                  <a:srgbClr val="FFFFFF"/>
                </a:solidFill>
                <a:latin typeface="Calibri" panose="020F0502020204030204"/>
              </a:rPr>
              <a:t>Support multiple hospital branches with complete data isolation and centralized admin</a:t>
            </a:r>
            <a:endParaRPr sz="1600" b="0" i="0">
              <a:solidFill>
                <a:srgbClr val="FFFFFF"/>
              </a:solidFill>
              <a:latin typeface="Calibri" panose="020F0502020204030204"/>
            </a:endParaRPr>
          </a:p>
        </p:txBody>
      </p:sp>
      <p:sp>
        <p:nvSpPr>
          <p:cNvPr id="13" name="Rectangle 12"/>
          <p:cNvSpPr/>
          <p:nvPr/>
        </p:nvSpPr>
        <p:spPr>
          <a:xfrm>
            <a:off x="201168" y="2148840"/>
            <a:ext cx="5394960" cy="12344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4" name="TextBox 13"/>
          <p:cNvSpPr txBox="1"/>
          <p:nvPr/>
        </p:nvSpPr>
        <p:spPr>
          <a:xfrm>
            <a:off x="292608" y="2203704"/>
            <a:ext cx="5212080" cy="368300"/>
          </a:xfrm>
          <a:prstGeom prst="rect">
            <a:avLst/>
          </a:prstGeom>
          <a:noFill/>
        </p:spPr>
        <p:txBody>
          <a:bodyPr wrap="square">
            <a:spAutoFit/>
          </a:bodyPr>
          <a:lstStyle/>
          <a:p>
            <a:pPr algn="l"/>
            <a:r>
              <a:rPr b="1" i="0">
                <a:solidFill>
                  <a:srgbClr val="FFFFFF"/>
                </a:solidFill>
                <a:latin typeface="Calibri" panose="020F0502020204030204"/>
              </a:rPr>
              <a:t>🔗 HL7/FHIR</a:t>
            </a:r>
            <a:endParaRPr b="1" i="0">
              <a:solidFill>
                <a:srgbClr val="FFFFFF"/>
              </a:solidFill>
              <a:latin typeface="Calibri" panose="020F0502020204030204"/>
            </a:endParaRPr>
          </a:p>
        </p:txBody>
      </p:sp>
      <p:sp>
        <p:nvSpPr>
          <p:cNvPr id="15" name="Rectangle 14"/>
          <p:cNvSpPr/>
          <p:nvPr/>
        </p:nvSpPr>
        <p:spPr>
          <a:xfrm>
            <a:off x="292608" y="2496312"/>
            <a:ext cx="5212080"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6" name="TextBox 15"/>
          <p:cNvSpPr txBox="1"/>
          <p:nvPr/>
        </p:nvSpPr>
        <p:spPr>
          <a:xfrm>
            <a:off x="292608" y="2551176"/>
            <a:ext cx="5212080" cy="583565"/>
          </a:xfrm>
          <a:prstGeom prst="rect">
            <a:avLst/>
          </a:prstGeom>
          <a:noFill/>
        </p:spPr>
        <p:txBody>
          <a:bodyPr wrap="square">
            <a:spAutoFit/>
          </a:bodyPr>
          <a:lstStyle/>
          <a:p>
            <a:pPr algn="l"/>
            <a:r>
              <a:rPr sz="1600" b="0" i="0">
                <a:solidFill>
                  <a:srgbClr val="FFFFFF"/>
                </a:solidFill>
                <a:latin typeface="Calibri" panose="020F0502020204030204"/>
              </a:rPr>
              <a:t>Standard healthcare data exchange for interoperability with other hospital systems and insurance</a:t>
            </a:r>
            <a:endParaRPr sz="1600" b="0" i="0">
              <a:solidFill>
                <a:srgbClr val="FFFFFF"/>
              </a:solidFill>
              <a:latin typeface="Calibri" panose="020F0502020204030204"/>
            </a:endParaRPr>
          </a:p>
        </p:txBody>
      </p:sp>
      <p:sp>
        <p:nvSpPr>
          <p:cNvPr id="17" name="Rectangle 16"/>
          <p:cNvSpPr/>
          <p:nvPr/>
        </p:nvSpPr>
        <p:spPr>
          <a:xfrm>
            <a:off x="5779008" y="2148840"/>
            <a:ext cx="5394960" cy="1234440"/>
          </a:xfrm>
          <a:prstGeom prst="rect">
            <a:avLst/>
          </a:prstGeom>
          <a:solidFill>
            <a:srgbClr val="009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8" name="TextBox 17"/>
          <p:cNvSpPr txBox="1"/>
          <p:nvPr/>
        </p:nvSpPr>
        <p:spPr>
          <a:xfrm>
            <a:off x="5870448" y="2203704"/>
            <a:ext cx="5212080" cy="368300"/>
          </a:xfrm>
          <a:prstGeom prst="rect">
            <a:avLst/>
          </a:prstGeom>
          <a:noFill/>
        </p:spPr>
        <p:txBody>
          <a:bodyPr wrap="square">
            <a:spAutoFit/>
          </a:bodyPr>
          <a:lstStyle/>
          <a:p>
            <a:pPr algn="l"/>
            <a:r>
              <a:rPr b="1" i="0">
                <a:solidFill>
                  <a:srgbClr val="FFFFFF"/>
                </a:solidFill>
                <a:latin typeface="Calibri" panose="020F0502020204030204"/>
              </a:rPr>
              <a:t>📱 Native Mobile</a:t>
            </a:r>
            <a:endParaRPr b="1" i="0">
              <a:solidFill>
                <a:srgbClr val="FFFFFF"/>
              </a:solidFill>
              <a:latin typeface="Calibri" panose="020F0502020204030204"/>
            </a:endParaRPr>
          </a:p>
        </p:txBody>
      </p:sp>
      <p:sp>
        <p:nvSpPr>
          <p:cNvPr id="19" name="Rectangle 18"/>
          <p:cNvSpPr/>
          <p:nvPr/>
        </p:nvSpPr>
        <p:spPr>
          <a:xfrm>
            <a:off x="5870448" y="2496312"/>
            <a:ext cx="5212080"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0" name="TextBox 19"/>
          <p:cNvSpPr txBox="1"/>
          <p:nvPr/>
        </p:nvSpPr>
        <p:spPr>
          <a:xfrm>
            <a:off x="5870448" y="2551176"/>
            <a:ext cx="5212080" cy="583565"/>
          </a:xfrm>
          <a:prstGeom prst="rect">
            <a:avLst/>
          </a:prstGeom>
          <a:noFill/>
        </p:spPr>
        <p:txBody>
          <a:bodyPr wrap="square">
            <a:spAutoFit/>
          </a:bodyPr>
          <a:lstStyle/>
          <a:p>
            <a:pPr algn="l"/>
            <a:r>
              <a:rPr sz="1600" b="0" i="0">
                <a:solidFill>
                  <a:srgbClr val="FFFFFF"/>
                </a:solidFill>
                <a:latin typeface="Calibri" panose="020F0502020204030204"/>
              </a:rPr>
              <a:t>React Native apps for iOS and Android with full offline sync and native push notifications</a:t>
            </a:r>
            <a:endParaRPr sz="1600" b="0" i="0">
              <a:solidFill>
                <a:srgbClr val="FFFFFF"/>
              </a:solidFill>
              <a:latin typeface="Calibri" panose="020F0502020204030204"/>
            </a:endParaRPr>
          </a:p>
        </p:txBody>
      </p:sp>
      <p:sp>
        <p:nvSpPr>
          <p:cNvPr id="21" name="Rectangle 20"/>
          <p:cNvSpPr/>
          <p:nvPr/>
        </p:nvSpPr>
        <p:spPr>
          <a:xfrm>
            <a:off x="201168" y="3520440"/>
            <a:ext cx="5394960" cy="1234440"/>
          </a:xfrm>
          <a:prstGeom prst="rect">
            <a:avLst/>
          </a:prstGeom>
          <a:solidFill>
            <a:srgbClr val="D97F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2" name="TextBox 21"/>
          <p:cNvSpPr txBox="1"/>
          <p:nvPr/>
        </p:nvSpPr>
        <p:spPr>
          <a:xfrm>
            <a:off x="292608" y="3575304"/>
            <a:ext cx="5212080" cy="368300"/>
          </a:xfrm>
          <a:prstGeom prst="rect">
            <a:avLst/>
          </a:prstGeom>
          <a:noFill/>
        </p:spPr>
        <p:txBody>
          <a:bodyPr wrap="square">
            <a:spAutoFit/>
          </a:bodyPr>
          <a:lstStyle/>
          <a:p>
            <a:pPr algn="l"/>
            <a:r>
              <a:rPr b="1" i="0">
                <a:solidFill>
                  <a:srgbClr val="FFFFFF"/>
                </a:solidFill>
                <a:latin typeface="Calibri" panose="020F0502020204030204"/>
              </a:rPr>
              <a:t>📊 Predictive Analytics</a:t>
            </a:r>
            <a:endParaRPr b="1" i="0">
              <a:solidFill>
                <a:srgbClr val="FFFFFF"/>
              </a:solidFill>
              <a:latin typeface="Calibri" panose="020F0502020204030204"/>
            </a:endParaRPr>
          </a:p>
        </p:txBody>
      </p:sp>
      <p:sp>
        <p:nvSpPr>
          <p:cNvPr id="23" name="Rectangle 22"/>
          <p:cNvSpPr/>
          <p:nvPr/>
        </p:nvSpPr>
        <p:spPr>
          <a:xfrm>
            <a:off x="292608" y="3867912"/>
            <a:ext cx="5212080"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4" name="TextBox 23"/>
          <p:cNvSpPr txBox="1"/>
          <p:nvPr/>
        </p:nvSpPr>
        <p:spPr>
          <a:xfrm>
            <a:off x="292608" y="3922776"/>
            <a:ext cx="5212080" cy="583565"/>
          </a:xfrm>
          <a:prstGeom prst="rect">
            <a:avLst/>
          </a:prstGeom>
          <a:noFill/>
        </p:spPr>
        <p:txBody>
          <a:bodyPr wrap="square">
            <a:spAutoFit/>
          </a:bodyPr>
          <a:lstStyle/>
          <a:p>
            <a:pPr algn="l"/>
            <a:r>
              <a:rPr sz="1600" b="0" i="0">
                <a:solidFill>
                  <a:srgbClr val="FFFFFF"/>
                </a:solidFill>
                <a:latin typeface="Calibri" panose="020F0502020204030204"/>
              </a:rPr>
              <a:t>Bed occupancy forecasting, revenue prediction, staff workload optimization using historical data</a:t>
            </a:r>
            <a:endParaRPr sz="1600" b="0" i="0">
              <a:solidFill>
                <a:srgbClr val="FFFFFF"/>
              </a:solidFill>
              <a:latin typeface="Calibri" panose="020F0502020204030204"/>
            </a:endParaRPr>
          </a:p>
        </p:txBody>
      </p:sp>
      <p:sp>
        <p:nvSpPr>
          <p:cNvPr id="25" name="Rectangle 24"/>
          <p:cNvSpPr/>
          <p:nvPr/>
        </p:nvSpPr>
        <p:spPr>
          <a:xfrm>
            <a:off x="5779008" y="3520440"/>
            <a:ext cx="5394960" cy="12344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6" name="TextBox 25"/>
          <p:cNvSpPr txBox="1"/>
          <p:nvPr/>
        </p:nvSpPr>
        <p:spPr>
          <a:xfrm>
            <a:off x="5870448" y="3575304"/>
            <a:ext cx="5212080" cy="368300"/>
          </a:xfrm>
          <a:prstGeom prst="rect">
            <a:avLst/>
          </a:prstGeom>
          <a:noFill/>
        </p:spPr>
        <p:txBody>
          <a:bodyPr wrap="square">
            <a:spAutoFit/>
          </a:bodyPr>
          <a:lstStyle/>
          <a:p>
            <a:pPr algn="l"/>
            <a:r>
              <a:rPr b="1" i="0">
                <a:solidFill>
                  <a:srgbClr val="FFFFFF"/>
                </a:solidFill>
                <a:latin typeface="Calibri" panose="020F0502020204030204"/>
              </a:rPr>
              <a:t>💳 Insurance Automation</a:t>
            </a:r>
            <a:endParaRPr b="1" i="0">
              <a:solidFill>
                <a:srgbClr val="FFFFFF"/>
              </a:solidFill>
              <a:latin typeface="Calibri" panose="020F0502020204030204"/>
            </a:endParaRPr>
          </a:p>
        </p:txBody>
      </p:sp>
      <p:sp>
        <p:nvSpPr>
          <p:cNvPr id="27" name="Rectangle 26"/>
          <p:cNvSpPr/>
          <p:nvPr/>
        </p:nvSpPr>
        <p:spPr>
          <a:xfrm>
            <a:off x="5870448" y="3867912"/>
            <a:ext cx="5212080"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8" name="TextBox 27"/>
          <p:cNvSpPr txBox="1"/>
          <p:nvPr/>
        </p:nvSpPr>
        <p:spPr>
          <a:xfrm>
            <a:off x="5870448" y="3922776"/>
            <a:ext cx="5212080" cy="583565"/>
          </a:xfrm>
          <a:prstGeom prst="rect">
            <a:avLst/>
          </a:prstGeom>
          <a:noFill/>
        </p:spPr>
        <p:txBody>
          <a:bodyPr wrap="square">
            <a:spAutoFit/>
          </a:bodyPr>
          <a:lstStyle/>
          <a:p>
            <a:pPr algn="l"/>
            <a:r>
              <a:rPr sz="1600" b="0" i="0">
                <a:solidFill>
                  <a:srgbClr val="FFFFFF"/>
                </a:solidFill>
                <a:latin typeface="Calibri" panose="020F0502020204030204"/>
              </a:rPr>
              <a:t>Automated insurance claim submission, pre-authorization, and reconciliation with providers</a:t>
            </a:r>
            <a:endParaRPr sz="1600" b="0" i="0">
              <a:solidFill>
                <a:srgbClr val="FFFFFF"/>
              </a:solidFill>
              <a:latin typeface="Calibri" panose="020F0502020204030204"/>
            </a:endParaRPr>
          </a:p>
        </p:txBody>
      </p:sp>
      <p:sp>
        <p:nvSpPr>
          <p:cNvPr id="29" name="Rectangle 28"/>
          <p:cNvSpPr/>
          <p:nvPr/>
        </p:nvSpPr>
        <p:spPr>
          <a:xfrm>
            <a:off x="201168" y="4892040"/>
            <a:ext cx="5394960" cy="123444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0" name="TextBox 29"/>
          <p:cNvSpPr txBox="1"/>
          <p:nvPr/>
        </p:nvSpPr>
        <p:spPr>
          <a:xfrm>
            <a:off x="292608" y="4946903"/>
            <a:ext cx="5212080" cy="368300"/>
          </a:xfrm>
          <a:prstGeom prst="rect">
            <a:avLst/>
          </a:prstGeom>
          <a:noFill/>
        </p:spPr>
        <p:txBody>
          <a:bodyPr wrap="square">
            <a:spAutoFit/>
          </a:bodyPr>
          <a:lstStyle/>
          <a:p>
            <a:pPr algn="l"/>
            <a:r>
              <a:rPr b="1" i="0">
                <a:solidFill>
                  <a:srgbClr val="FFFFFF"/>
                </a:solidFill>
                <a:latin typeface="Calibri" panose="020F0502020204030204"/>
              </a:rPr>
              <a:t>🧪 Lab Equipment API</a:t>
            </a:r>
            <a:endParaRPr b="1" i="0">
              <a:solidFill>
                <a:srgbClr val="FFFFFF"/>
              </a:solidFill>
              <a:latin typeface="Calibri" panose="020F0502020204030204"/>
            </a:endParaRPr>
          </a:p>
        </p:txBody>
      </p:sp>
      <p:sp>
        <p:nvSpPr>
          <p:cNvPr id="31" name="Rectangle 30"/>
          <p:cNvSpPr/>
          <p:nvPr/>
        </p:nvSpPr>
        <p:spPr>
          <a:xfrm>
            <a:off x="292608" y="5239512"/>
            <a:ext cx="5212080"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2" name="TextBox 31"/>
          <p:cNvSpPr txBox="1"/>
          <p:nvPr/>
        </p:nvSpPr>
        <p:spPr>
          <a:xfrm>
            <a:off x="292608" y="5294376"/>
            <a:ext cx="5212080" cy="583565"/>
          </a:xfrm>
          <a:prstGeom prst="rect">
            <a:avLst/>
          </a:prstGeom>
          <a:noFill/>
        </p:spPr>
        <p:txBody>
          <a:bodyPr wrap="square">
            <a:spAutoFit/>
          </a:bodyPr>
          <a:lstStyle/>
          <a:p>
            <a:pPr algn="l"/>
            <a:r>
              <a:rPr sz="1600" b="0" i="0">
                <a:solidFill>
                  <a:srgbClr val="FFFFFF"/>
                </a:solidFill>
                <a:latin typeface="Calibri" panose="020F0502020204030204"/>
              </a:rPr>
              <a:t>Direct integration with lab analyzers to auto-import results without manual entry</a:t>
            </a:r>
            <a:endParaRPr sz="1600" b="0" i="0">
              <a:solidFill>
                <a:srgbClr val="FFFFFF"/>
              </a:solidFill>
              <a:latin typeface="Calibri" panose="020F0502020204030204"/>
            </a:endParaRPr>
          </a:p>
        </p:txBody>
      </p:sp>
      <p:sp>
        <p:nvSpPr>
          <p:cNvPr id="33" name="Rectangle 32"/>
          <p:cNvSpPr/>
          <p:nvPr/>
        </p:nvSpPr>
        <p:spPr>
          <a:xfrm>
            <a:off x="5779008" y="4892040"/>
            <a:ext cx="5394960" cy="1234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4" name="TextBox 33"/>
          <p:cNvSpPr txBox="1"/>
          <p:nvPr/>
        </p:nvSpPr>
        <p:spPr>
          <a:xfrm>
            <a:off x="5870448" y="4946903"/>
            <a:ext cx="5212080" cy="368300"/>
          </a:xfrm>
          <a:prstGeom prst="rect">
            <a:avLst/>
          </a:prstGeom>
          <a:noFill/>
        </p:spPr>
        <p:txBody>
          <a:bodyPr wrap="square">
            <a:spAutoFit/>
          </a:bodyPr>
          <a:lstStyle/>
          <a:p>
            <a:pPr algn="l"/>
            <a:r>
              <a:rPr b="1" i="0">
                <a:solidFill>
                  <a:srgbClr val="FFFFFF"/>
                </a:solidFill>
                <a:latin typeface="Calibri" panose="020F0502020204030204"/>
              </a:rPr>
              <a:t>🛡️ Zero-Trust Security</a:t>
            </a:r>
            <a:endParaRPr b="1" i="0">
              <a:solidFill>
                <a:srgbClr val="FFFFFF"/>
              </a:solidFill>
              <a:latin typeface="Calibri" panose="020F0502020204030204"/>
            </a:endParaRPr>
          </a:p>
        </p:txBody>
      </p:sp>
      <p:sp>
        <p:nvSpPr>
          <p:cNvPr id="35" name="Rectangle 34"/>
          <p:cNvSpPr/>
          <p:nvPr/>
        </p:nvSpPr>
        <p:spPr>
          <a:xfrm>
            <a:off x="5870448" y="5239512"/>
            <a:ext cx="5212080" cy="228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6" name="TextBox 35"/>
          <p:cNvSpPr txBox="1"/>
          <p:nvPr/>
        </p:nvSpPr>
        <p:spPr>
          <a:xfrm>
            <a:off x="5870448" y="5294376"/>
            <a:ext cx="5212080" cy="583565"/>
          </a:xfrm>
          <a:prstGeom prst="rect">
            <a:avLst/>
          </a:prstGeom>
          <a:noFill/>
        </p:spPr>
        <p:txBody>
          <a:bodyPr wrap="square">
            <a:spAutoFit/>
          </a:bodyPr>
          <a:lstStyle/>
          <a:p>
            <a:pPr algn="l"/>
            <a:r>
              <a:rPr sz="1600" b="0" i="0">
                <a:solidFill>
                  <a:srgbClr val="FFFFFF"/>
                </a:solidFill>
                <a:latin typeface="Calibri" panose="020F0502020204030204"/>
              </a:rPr>
              <a:t>Implement zero-trust network access, mTLS between services, and hardware security keys (FIDO2)</a:t>
            </a:r>
            <a:endParaRPr sz="1600" b="0" i="0">
              <a:solidFill>
                <a:srgbClr val="FFFFFF"/>
              </a:solidFill>
              <a:latin typeface="Calibri" panose="020F0502020204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5836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502920"/>
          </a:xfrm>
          <a:prstGeom prst="rect">
            <a:avLst/>
          </a:prstGeom>
          <a:noFill/>
        </p:spPr>
        <p:txBody>
          <a:bodyPr wrap="square">
            <a:spAutoFit/>
          </a:bodyPr>
          <a:lstStyle/>
          <a:p>
            <a:pPr algn="l"/>
            <a:r>
              <a:rPr sz="2000" b="1" i="0">
                <a:solidFill>
                  <a:srgbClr val="FFFFFF"/>
                </a:solidFill>
                <a:latin typeface="Calibri" panose="020F0502020204030204"/>
              </a:rPr>
              <a:t>Conclusion — Summary</a:t>
            </a:r>
            <a:endParaRPr sz="2000" b="1" i="0">
              <a:solidFill>
                <a:srgbClr val="FFFFFF"/>
              </a:solidFill>
              <a:latin typeface="Calibri" panose="020F0502020204030204"/>
            </a:endParaRPr>
          </a:p>
        </p:txBody>
      </p:sp>
      <p:sp>
        <p:nvSpPr>
          <p:cNvPr id="4" name="Rectangle 3"/>
          <p:cNvSpPr/>
          <p:nvPr/>
        </p:nvSpPr>
        <p:spPr>
          <a:xfrm>
            <a:off x="0" y="658368"/>
            <a:ext cx="109728" cy="61996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749808"/>
            <a:ext cx="11795760" cy="41605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822960"/>
            <a:ext cx="11430000" cy="3122930"/>
          </a:xfrm>
          <a:prstGeom prst="rect">
            <a:avLst/>
          </a:prstGeom>
          <a:noFill/>
        </p:spPr>
        <p:txBody>
          <a:bodyPr wrap="square">
            <a:spAutoFit/>
          </a:bodyPr>
          <a:lstStyle/>
          <a:p>
            <a:pPr algn="l">
              <a:spcBef>
                <a:spcPts val="400"/>
              </a:spcBef>
              <a:spcAft>
                <a:spcPts val="200"/>
              </a:spcAft>
            </a:pPr>
            <a:r>
              <a:rPr>
                <a:solidFill>
                  <a:srgbClr val="1E293B"/>
                </a:solidFill>
                <a:latin typeface="Calibri" panose="020F0502020204030204"/>
              </a:rPr>
              <a:t>  •  Built a production-grade HMS covering the complete hospital workflow from registration to discharge and billing</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Supports 19 user roles with strict RBAC across 30+ independent, modular backend services</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Implements enterprise-level security: Argon2id, RS256 JWT, pgcrypto field encryption, CSRF, ClamScan, hash-chain audit</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Enables real-time collaboration via Socket.io: live chat, instant notifications, telemedicine video calls</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Designed as a PWA for cross-device accessibility including offline support via service worker</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Integrates Razorpay for real payment processing, Puppeteer for PDF generation, BullMQ for async jobs</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Tamper-evident audit logs with hash-chain verification — a feature normally found in financial/legal systems</a:t>
            </a:r>
            <a:endParaRPr>
              <a:solidFill>
                <a:srgbClr val="1E293B"/>
              </a:solidFill>
              <a:latin typeface="Calibri" panose="020F0502020204030204"/>
            </a:endParaRPr>
          </a:p>
          <a:p>
            <a:pPr algn="l">
              <a:spcBef>
                <a:spcPts val="400"/>
              </a:spcBef>
              <a:spcAft>
                <a:spcPts val="200"/>
              </a:spcAft>
            </a:pPr>
            <a:r>
              <a:rPr>
                <a:solidFill>
                  <a:srgbClr val="1E293B"/>
                </a:solidFill>
                <a:latin typeface="Calibri" panose="020F0502020204030204"/>
              </a:rPr>
              <a:t>  •  Demonstrates how modern web technologies can solve real, complex healthcare challenges at scale</a:t>
            </a:r>
            <a:endParaRPr>
              <a:solidFill>
                <a:srgbClr val="1E293B"/>
              </a:solidFill>
              <a:latin typeface="Calibri" panose="020F0502020204030204"/>
            </a:endParaRPr>
          </a:p>
        </p:txBody>
      </p:sp>
      <p:sp>
        <p:nvSpPr>
          <p:cNvPr id="7" name="Rectangle 6"/>
          <p:cNvSpPr/>
          <p:nvPr/>
        </p:nvSpPr>
        <p:spPr>
          <a:xfrm>
            <a:off x="201168" y="5010912"/>
            <a:ext cx="11777472" cy="166420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5047488"/>
            <a:ext cx="11612880" cy="347472"/>
          </a:xfrm>
          <a:prstGeom prst="rect">
            <a:avLst/>
          </a:prstGeom>
          <a:noFill/>
        </p:spPr>
        <p:txBody>
          <a:bodyPr wrap="square">
            <a:spAutoFit/>
          </a:bodyPr>
          <a:lstStyle/>
          <a:p>
            <a:pPr algn="ctr"/>
            <a:r>
              <a:rPr sz="1400" b="0" i="1">
                <a:solidFill>
                  <a:srgbClr val="00B4D8"/>
                </a:solidFill>
                <a:latin typeface="Calibri" panose="020F0502020204030204"/>
              </a:rPr>
              <a:t>“ This system doesn’t just manage a hospital — it secures it, connects it, and makes it smarter. ”</a:t>
            </a:r>
            <a:endParaRPr sz="1400" b="0" i="1">
              <a:solidFill>
                <a:srgbClr val="00B4D8"/>
              </a:solidFill>
              <a:latin typeface="Calibri" panose="020F0502020204030204"/>
            </a:endParaRPr>
          </a:p>
        </p:txBody>
      </p:sp>
      <p:sp>
        <p:nvSpPr>
          <p:cNvPr id="9" name="Rectangle 8"/>
          <p:cNvSpPr/>
          <p:nvPr/>
        </p:nvSpPr>
        <p:spPr>
          <a:xfrm>
            <a:off x="1371600" y="5440680"/>
            <a:ext cx="9445752"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9476" y="5532120"/>
            <a:ext cx="1737360" cy="475488"/>
          </a:xfrm>
          <a:prstGeom prst="rect">
            <a:avLst/>
          </a:prstGeom>
          <a:noFill/>
        </p:spPr>
        <p:txBody>
          <a:bodyPr wrap="square">
            <a:spAutoFit/>
          </a:bodyPr>
          <a:lstStyle/>
          <a:p>
            <a:pPr algn="ctr"/>
            <a:r>
              <a:rPr sz="2200" b="1" i="0">
                <a:solidFill>
                  <a:srgbClr val="00B4D8"/>
                </a:solidFill>
                <a:latin typeface="Calibri" panose="020F0502020204030204"/>
              </a:rPr>
              <a:t>19</a:t>
            </a:r>
            <a:endParaRPr sz="2200" b="1" i="0">
              <a:solidFill>
                <a:srgbClr val="00B4D8"/>
              </a:solidFill>
              <a:latin typeface="Calibri" panose="020F0502020204030204"/>
            </a:endParaRPr>
          </a:p>
        </p:txBody>
      </p:sp>
      <p:sp>
        <p:nvSpPr>
          <p:cNvPr id="11" name="TextBox 10"/>
          <p:cNvSpPr txBox="1"/>
          <p:nvPr/>
        </p:nvSpPr>
        <p:spPr>
          <a:xfrm>
            <a:off x="379476" y="5989320"/>
            <a:ext cx="1737360" cy="347472"/>
          </a:xfrm>
          <a:prstGeom prst="rect">
            <a:avLst/>
          </a:prstGeom>
          <a:noFill/>
        </p:spPr>
        <p:txBody>
          <a:bodyPr wrap="square">
            <a:spAutoFit/>
          </a:bodyPr>
          <a:lstStyle/>
          <a:p>
            <a:pPr algn="ctr"/>
            <a:r>
              <a:rPr sz="900" b="0" i="0">
                <a:solidFill>
                  <a:srgbClr val="FFFFFF"/>
                </a:solidFill>
                <a:latin typeface="Calibri" panose="020F0502020204030204"/>
              </a:rPr>
              <a:t>User Roles</a:t>
            </a:r>
            <a:endParaRPr sz="900" b="0" i="0">
              <a:solidFill>
                <a:srgbClr val="FFFFFF"/>
              </a:solidFill>
              <a:latin typeface="Calibri" panose="020F0502020204030204"/>
            </a:endParaRPr>
          </a:p>
        </p:txBody>
      </p:sp>
      <p:sp>
        <p:nvSpPr>
          <p:cNvPr id="12" name="TextBox 11"/>
          <p:cNvSpPr txBox="1"/>
          <p:nvPr/>
        </p:nvSpPr>
        <p:spPr>
          <a:xfrm>
            <a:off x="2318004" y="5532120"/>
            <a:ext cx="1737360" cy="475488"/>
          </a:xfrm>
          <a:prstGeom prst="rect">
            <a:avLst/>
          </a:prstGeom>
          <a:noFill/>
        </p:spPr>
        <p:txBody>
          <a:bodyPr wrap="square">
            <a:spAutoFit/>
          </a:bodyPr>
          <a:lstStyle/>
          <a:p>
            <a:pPr algn="ctr"/>
            <a:r>
              <a:rPr sz="2200" b="1" i="0">
                <a:solidFill>
                  <a:srgbClr val="00B4D8"/>
                </a:solidFill>
                <a:latin typeface="Calibri" panose="020F0502020204030204"/>
              </a:rPr>
              <a:t>30+</a:t>
            </a:r>
            <a:endParaRPr sz="2200" b="1" i="0">
              <a:solidFill>
                <a:srgbClr val="00B4D8"/>
              </a:solidFill>
              <a:latin typeface="Calibri" panose="020F0502020204030204"/>
            </a:endParaRPr>
          </a:p>
        </p:txBody>
      </p:sp>
      <p:sp>
        <p:nvSpPr>
          <p:cNvPr id="13" name="TextBox 12"/>
          <p:cNvSpPr txBox="1"/>
          <p:nvPr/>
        </p:nvSpPr>
        <p:spPr>
          <a:xfrm>
            <a:off x="2318004" y="5989320"/>
            <a:ext cx="1737360" cy="347472"/>
          </a:xfrm>
          <a:prstGeom prst="rect">
            <a:avLst/>
          </a:prstGeom>
          <a:noFill/>
        </p:spPr>
        <p:txBody>
          <a:bodyPr wrap="square">
            <a:spAutoFit/>
          </a:bodyPr>
          <a:lstStyle/>
          <a:p>
            <a:pPr algn="ctr"/>
            <a:r>
              <a:rPr sz="900" b="0" i="0">
                <a:solidFill>
                  <a:srgbClr val="FFFFFF"/>
                </a:solidFill>
                <a:latin typeface="Calibri" panose="020F0502020204030204"/>
              </a:rPr>
              <a:t>API Modules</a:t>
            </a:r>
            <a:endParaRPr sz="900" b="0" i="0">
              <a:solidFill>
                <a:srgbClr val="FFFFFF"/>
              </a:solidFill>
              <a:latin typeface="Calibri" panose="020F0502020204030204"/>
            </a:endParaRPr>
          </a:p>
        </p:txBody>
      </p:sp>
      <p:sp>
        <p:nvSpPr>
          <p:cNvPr id="14" name="TextBox 13"/>
          <p:cNvSpPr txBox="1"/>
          <p:nvPr/>
        </p:nvSpPr>
        <p:spPr>
          <a:xfrm>
            <a:off x="4256532" y="5532120"/>
            <a:ext cx="1737360" cy="475488"/>
          </a:xfrm>
          <a:prstGeom prst="rect">
            <a:avLst/>
          </a:prstGeom>
          <a:noFill/>
        </p:spPr>
        <p:txBody>
          <a:bodyPr wrap="square">
            <a:spAutoFit/>
          </a:bodyPr>
          <a:lstStyle/>
          <a:p>
            <a:pPr algn="ctr"/>
            <a:r>
              <a:rPr sz="2200" b="1" i="0">
                <a:solidFill>
                  <a:srgbClr val="00B4D8"/>
                </a:solidFill>
                <a:latin typeface="Calibri" panose="020F0502020204030204"/>
              </a:rPr>
              <a:t>40+</a:t>
            </a:r>
            <a:endParaRPr sz="2200" b="1" i="0">
              <a:solidFill>
                <a:srgbClr val="00B4D8"/>
              </a:solidFill>
              <a:latin typeface="Calibri" panose="020F0502020204030204"/>
            </a:endParaRPr>
          </a:p>
        </p:txBody>
      </p:sp>
      <p:sp>
        <p:nvSpPr>
          <p:cNvPr id="15" name="TextBox 14"/>
          <p:cNvSpPr txBox="1"/>
          <p:nvPr/>
        </p:nvSpPr>
        <p:spPr>
          <a:xfrm>
            <a:off x="4256532" y="5989320"/>
            <a:ext cx="1737360" cy="347472"/>
          </a:xfrm>
          <a:prstGeom prst="rect">
            <a:avLst/>
          </a:prstGeom>
          <a:noFill/>
        </p:spPr>
        <p:txBody>
          <a:bodyPr wrap="square">
            <a:spAutoFit/>
          </a:bodyPr>
          <a:lstStyle/>
          <a:p>
            <a:pPr algn="ctr"/>
            <a:r>
              <a:rPr sz="900" b="0" i="0">
                <a:solidFill>
                  <a:srgbClr val="FFFFFF"/>
                </a:solidFill>
                <a:latin typeface="Calibri" panose="020F0502020204030204"/>
              </a:rPr>
              <a:t>DB Tables</a:t>
            </a:r>
            <a:endParaRPr sz="900" b="0" i="0">
              <a:solidFill>
                <a:srgbClr val="FFFFFF"/>
              </a:solidFill>
              <a:latin typeface="Calibri" panose="020F0502020204030204"/>
            </a:endParaRPr>
          </a:p>
        </p:txBody>
      </p:sp>
      <p:sp>
        <p:nvSpPr>
          <p:cNvPr id="16" name="TextBox 15"/>
          <p:cNvSpPr txBox="1"/>
          <p:nvPr/>
        </p:nvSpPr>
        <p:spPr>
          <a:xfrm>
            <a:off x="6195060" y="5532120"/>
            <a:ext cx="1737360" cy="475488"/>
          </a:xfrm>
          <a:prstGeom prst="rect">
            <a:avLst/>
          </a:prstGeom>
          <a:noFill/>
        </p:spPr>
        <p:txBody>
          <a:bodyPr wrap="square">
            <a:spAutoFit/>
          </a:bodyPr>
          <a:lstStyle/>
          <a:p>
            <a:pPr algn="ctr"/>
            <a:r>
              <a:rPr sz="2200" b="1" i="0">
                <a:solidFill>
                  <a:srgbClr val="00B4D8"/>
                </a:solidFill>
                <a:latin typeface="Calibri" panose="020F0502020204030204"/>
              </a:rPr>
              <a:t>9</a:t>
            </a:r>
            <a:endParaRPr sz="2200" b="1" i="0">
              <a:solidFill>
                <a:srgbClr val="00B4D8"/>
              </a:solidFill>
              <a:latin typeface="Calibri" panose="020F0502020204030204"/>
            </a:endParaRPr>
          </a:p>
        </p:txBody>
      </p:sp>
      <p:sp>
        <p:nvSpPr>
          <p:cNvPr id="17" name="TextBox 16"/>
          <p:cNvSpPr txBox="1"/>
          <p:nvPr/>
        </p:nvSpPr>
        <p:spPr>
          <a:xfrm>
            <a:off x="6195060" y="5989320"/>
            <a:ext cx="1737360" cy="347472"/>
          </a:xfrm>
          <a:prstGeom prst="rect">
            <a:avLst/>
          </a:prstGeom>
          <a:noFill/>
        </p:spPr>
        <p:txBody>
          <a:bodyPr wrap="square">
            <a:spAutoFit/>
          </a:bodyPr>
          <a:lstStyle/>
          <a:p>
            <a:pPr algn="ctr"/>
            <a:r>
              <a:rPr sz="900" b="0" i="0">
                <a:solidFill>
                  <a:srgbClr val="FFFFFF"/>
                </a:solidFill>
                <a:latin typeface="Calibri" panose="020F0502020204030204"/>
              </a:rPr>
              <a:t>Security Layers</a:t>
            </a:r>
            <a:endParaRPr sz="900" b="0" i="0">
              <a:solidFill>
                <a:srgbClr val="FFFFFF"/>
              </a:solidFill>
              <a:latin typeface="Calibri" panose="020F0502020204030204"/>
            </a:endParaRPr>
          </a:p>
        </p:txBody>
      </p:sp>
      <p:sp>
        <p:nvSpPr>
          <p:cNvPr id="18" name="TextBox 17"/>
          <p:cNvSpPr txBox="1"/>
          <p:nvPr/>
        </p:nvSpPr>
        <p:spPr>
          <a:xfrm>
            <a:off x="8133588" y="5532120"/>
            <a:ext cx="1737360" cy="475488"/>
          </a:xfrm>
          <a:prstGeom prst="rect">
            <a:avLst/>
          </a:prstGeom>
          <a:noFill/>
        </p:spPr>
        <p:txBody>
          <a:bodyPr wrap="square">
            <a:spAutoFit/>
          </a:bodyPr>
          <a:lstStyle/>
          <a:p>
            <a:pPr algn="ctr"/>
            <a:r>
              <a:rPr sz="2200" b="1" i="0">
                <a:solidFill>
                  <a:srgbClr val="00B4D8"/>
                </a:solidFill>
                <a:latin typeface="Calibri" panose="020F0502020204030204"/>
              </a:rPr>
              <a:t>4</a:t>
            </a:r>
            <a:endParaRPr sz="2200" b="1" i="0">
              <a:solidFill>
                <a:srgbClr val="00B4D8"/>
              </a:solidFill>
              <a:latin typeface="Calibri" panose="020F0502020204030204"/>
            </a:endParaRPr>
          </a:p>
        </p:txBody>
      </p:sp>
      <p:sp>
        <p:nvSpPr>
          <p:cNvPr id="19" name="TextBox 18"/>
          <p:cNvSpPr txBox="1"/>
          <p:nvPr/>
        </p:nvSpPr>
        <p:spPr>
          <a:xfrm>
            <a:off x="8133588" y="5989320"/>
            <a:ext cx="1737360" cy="347472"/>
          </a:xfrm>
          <a:prstGeom prst="rect">
            <a:avLst/>
          </a:prstGeom>
          <a:noFill/>
        </p:spPr>
        <p:txBody>
          <a:bodyPr wrap="square">
            <a:spAutoFit/>
          </a:bodyPr>
          <a:lstStyle/>
          <a:p>
            <a:pPr algn="ctr"/>
            <a:r>
              <a:rPr sz="900" b="0" i="0">
                <a:solidFill>
                  <a:srgbClr val="FFFFFF"/>
                </a:solidFill>
                <a:latin typeface="Calibri" panose="020F0502020204030204"/>
              </a:rPr>
              <a:t>Socket.io Namespaces</a:t>
            </a:r>
            <a:endParaRPr sz="900" b="0" i="0">
              <a:solidFill>
                <a:srgbClr val="FFFFFF"/>
              </a:solidFill>
              <a:latin typeface="Calibri" panose="020F0502020204030204"/>
            </a:endParaRPr>
          </a:p>
        </p:txBody>
      </p:sp>
      <p:sp>
        <p:nvSpPr>
          <p:cNvPr id="20" name="TextBox 19"/>
          <p:cNvSpPr txBox="1"/>
          <p:nvPr/>
        </p:nvSpPr>
        <p:spPr>
          <a:xfrm>
            <a:off x="10072116" y="5532120"/>
            <a:ext cx="1737360" cy="475488"/>
          </a:xfrm>
          <a:prstGeom prst="rect">
            <a:avLst/>
          </a:prstGeom>
          <a:noFill/>
        </p:spPr>
        <p:txBody>
          <a:bodyPr wrap="square">
            <a:spAutoFit/>
          </a:bodyPr>
          <a:lstStyle/>
          <a:p>
            <a:pPr algn="ctr"/>
            <a:r>
              <a:rPr sz="2200" b="1" i="0">
                <a:solidFill>
                  <a:srgbClr val="00B4D8"/>
                </a:solidFill>
                <a:latin typeface="Calibri" panose="020F0502020204030204"/>
              </a:rPr>
              <a:t>3</a:t>
            </a:r>
            <a:endParaRPr sz="2200" b="1" i="0">
              <a:solidFill>
                <a:srgbClr val="00B4D8"/>
              </a:solidFill>
              <a:latin typeface="Calibri" panose="020F0502020204030204"/>
            </a:endParaRPr>
          </a:p>
        </p:txBody>
      </p:sp>
      <p:sp>
        <p:nvSpPr>
          <p:cNvPr id="21" name="TextBox 20"/>
          <p:cNvSpPr txBox="1"/>
          <p:nvPr/>
        </p:nvSpPr>
        <p:spPr>
          <a:xfrm>
            <a:off x="10072116" y="5989320"/>
            <a:ext cx="1737360" cy="347472"/>
          </a:xfrm>
          <a:prstGeom prst="rect">
            <a:avLst/>
          </a:prstGeom>
          <a:noFill/>
        </p:spPr>
        <p:txBody>
          <a:bodyPr wrap="square">
            <a:spAutoFit/>
          </a:bodyPr>
          <a:lstStyle/>
          <a:p>
            <a:pPr algn="ctr"/>
            <a:r>
              <a:rPr sz="900" b="0" i="0">
                <a:solidFill>
                  <a:srgbClr val="FFFFFF"/>
                </a:solidFill>
                <a:latin typeface="Calibri" panose="020F0502020204030204"/>
              </a:rPr>
              <a:t>PDF Types</a:t>
            </a:r>
            <a:endParaRPr sz="900" b="0" i="0">
              <a:solidFill>
                <a:srgbClr val="FFFFFF"/>
              </a:solidFill>
              <a:latin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3657600"/>
          </a:xfrm>
          <a:prstGeom prst="rect">
            <a:avLst/>
          </a:prstGeom>
          <a:solidFill>
            <a:srgbClr val="009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154680"/>
            <a:ext cx="12188952"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31520"/>
            <a:ext cx="11274552" cy="1005840"/>
          </a:xfrm>
          <a:prstGeom prst="rect">
            <a:avLst/>
          </a:prstGeom>
          <a:noFill/>
        </p:spPr>
        <p:txBody>
          <a:bodyPr wrap="square">
            <a:spAutoFit/>
          </a:bodyPr>
          <a:lstStyle/>
          <a:p>
            <a:pPr algn="ctr"/>
            <a:r>
              <a:rPr sz="4600" b="1" i="0">
                <a:solidFill>
                  <a:srgbClr val="FFFFFF"/>
                </a:solidFill>
                <a:latin typeface="Calibri" panose="020F0502020204030204"/>
              </a:rPr>
              <a:t>Thank You</a:t>
            </a:r>
            <a:endParaRPr sz="4600" b="1" i="0">
              <a:solidFill>
                <a:srgbClr val="FFFFFF"/>
              </a:solidFill>
              <a:latin typeface="Calibri" panose="020F0502020204030204"/>
            </a:endParaRPr>
          </a:p>
        </p:txBody>
      </p:sp>
      <p:sp>
        <p:nvSpPr>
          <p:cNvPr id="6" name="TextBox 5"/>
          <p:cNvSpPr txBox="1"/>
          <p:nvPr/>
        </p:nvSpPr>
        <p:spPr>
          <a:xfrm>
            <a:off x="457200" y="1828800"/>
            <a:ext cx="11274552" cy="502920"/>
          </a:xfrm>
          <a:prstGeom prst="rect">
            <a:avLst/>
          </a:prstGeom>
          <a:noFill/>
        </p:spPr>
        <p:txBody>
          <a:bodyPr wrap="square">
            <a:spAutoFit/>
          </a:bodyPr>
          <a:lstStyle/>
          <a:p>
            <a:pPr algn="ctr"/>
            <a:r>
              <a:rPr sz="2000" b="0" i="0">
                <a:solidFill>
                  <a:srgbClr val="00B4D8"/>
                </a:solidFill>
                <a:latin typeface="Calibri" panose="020F0502020204030204"/>
              </a:rPr>
              <a:t>Questions &amp; Discussion Welcome</a:t>
            </a:r>
            <a:endParaRPr sz="2000" b="0" i="0">
              <a:solidFill>
                <a:srgbClr val="00B4D8"/>
              </a:solidFill>
              <a:latin typeface="Calibri" panose="020F0502020204030204"/>
            </a:endParaRPr>
          </a:p>
        </p:txBody>
      </p:sp>
      <p:sp>
        <p:nvSpPr>
          <p:cNvPr id="7" name="Rectangle 6"/>
          <p:cNvSpPr/>
          <p:nvPr/>
        </p:nvSpPr>
        <p:spPr>
          <a:xfrm>
            <a:off x="1371600" y="2468880"/>
            <a:ext cx="9445752" cy="228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3337560"/>
            <a:ext cx="2103120" cy="438912"/>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19 User Roles</a:t>
            </a:r>
            <a:endParaRPr sz="1000" b="1">
              <a:solidFill>
                <a:srgbClr val="FFFFFF"/>
              </a:solidFill>
              <a:latin typeface="Calibri" panose="020F0502020204030204"/>
            </a:endParaRPr>
          </a:p>
        </p:txBody>
      </p:sp>
      <p:sp>
        <p:nvSpPr>
          <p:cNvPr id="9" name="Rounded Rectangle 8"/>
          <p:cNvSpPr/>
          <p:nvPr/>
        </p:nvSpPr>
        <p:spPr>
          <a:xfrm>
            <a:off x="2834640" y="3337560"/>
            <a:ext cx="2103120" cy="438912"/>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30+ Modules</a:t>
            </a:r>
            <a:endParaRPr sz="1000" b="1">
              <a:solidFill>
                <a:srgbClr val="FFFFFF"/>
              </a:solidFill>
              <a:latin typeface="Calibri" panose="020F0502020204030204"/>
            </a:endParaRPr>
          </a:p>
        </p:txBody>
      </p:sp>
      <p:sp>
        <p:nvSpPr>
          <p:cNvPr id="10" name="Rounded Rectangle 9"/>
          <p:cNvSpPr/>
          <p:nvPr/>
        </p:nvSpPr>
        <p:spPr>
          <a:xfrm>
            <a:off x="5212080" y="3337560"/>
            <a:ext cx="2103120" cy="438912"/>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40+ DB Tables</a:t>
            </a:r>
            <a:endParaRPr sz="1000" b="1">
              <a:solidFill>
                <a:srgbClr val="FFFFFF"/>
              </a:solidFill>
              <a:latin typeface="Calibri" panose="020F0502020204030204"/>
            </a:endParaRPr>
          </a:p>
        </p:txBody>
      </p:sp>
      <p:sp>
        <p:nvSpPr>
          <p:cNvPr id="11" name="Rounded Rectangle 10"/>
          <p:cNvSpPr/>
          <p:nvPr/>
        </p:nvSpPr>
        <p:spPr>
          <a:xfrm>
            <a:off x="7589520" y="3337560"/>
            <a:ext cx="2103120" cy="438912"/>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9 Security Layers</a:t>
            </a:r>
            <a:endParaRPr sz="1000" b="1">
              <a:solidFill>
                <a:srgbClr val="FFFFFF"/>
              </a:solidFill>
              <a:latin typeface="Calibri" panose="020F0502020204030204"/>
            </a:endParaRPr>
          </a:p>
        </p:txBody>
      </p:sp>
      <p:sp>
        <p:nvSpPr>
          <p:cNvPr id="12" name="Rounded Rectangle 11"/>
          <p:cNvSpPr/>
          <p:nvPr/>
        </p:nvSpPr>
        <p:spPr>
          <a:xfrm>
            <a:off x="9966960" y="3337560"/>
            <a:ext cx="2103120" cy="438912"/>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Real-time Chat</a:t>
            </a:r>
            <a:endParaRPr sz="1000" b="1">
              <a:solidFill>
                <a:srgbClr val="FFFFFF"/>
              </a:solidFill>
              <a:latin typeface="Calibri" panose="020F0502020204030204"/>
            </a:endParaRPr>
          </a:p>
        </p:txBody>
      </p:sp>
      <p:sp>
        <p:nvSpPr>
          <p:cNvPr id="13" name="Rounded Rectangle 12"/>
          <p:cNvSpPr/>
          <p:nvPr/>
        </p:nvSpPr>
        <p:spPr>
          <a:xfrm>
            <a:off x="457200" y="3913632"/>
            <a:ext cx="2103120" cy="438912"/>
          </a:xfrm>
          <a:prstGeom prst="round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Telemedicine</a:t>
            </a:r>
            <a:endParaRPr sz="1000" b="1">
              <a:solidFill>
                <a:srgbClr val="FFFFFF"/>
              </a:solidFill>
              <a:latin typeface="Calibri" panose="020F0502020204030204"/>
            </a:endParaRPr>
          </a:p>
        </p:txBody>
      </p:sp>
      <p:sp>
        <p:nvSpPr>
          <p:cNvPr id="14" name="Rounded Rectangle 13"/>
          <p:cNvSpPr/>
          <p:nvPr/>
        </p:nvSpPr>
        <p:spPr>
          <a:xfrm>
            <a:off x="2834640" y="3913632"/>
            <a:ext cx="2103120" cy="438912"/>
          </a:xfrm>
          <a:prstGeom prst="round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PDF Generation</a:t>
            </a:r>
            <a:endParaRPr sz="1000" b="1">
              <a:solidFill>
                <a:srgbClr val="FFFFFF"/>
              </a:solidFill>
              <a:latin typeface="Calibri" panose="020F0502020204030204"/>
            </a:endParaRPr>
          </a:p>
        </p:txBody>
      </p:sp>
      <p:sp>
        <p:nvSpPr>
          <p:cNvPr id="15" name="Rounded Rectangle 14"/>
          <p:cNvSpPr/>
          <p:nvPr/>
        </p:nvSpPr>
        <p:spPr>
          <a:xfrm>
            <a:off x="5212080" y="3913632"/>
            <a:ext cx="2103120" cy="438912"/>
          </a:xfrm>
          <a:prstGeom prst="round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Virus Scanning</a:t>
            </a:r>
            <a:endParaRPr sz="1000" b="1">
              <a:solidFill>
                <a:srgbClr val="FFFFFF"/>
              </a:solidFill>
              <a:latin typeface="Calibri" panose="020F0502020204030204"/>
            </a:endParaRPr>
          </a:p>
        </p:txBody>
      </p:sp>
      <p:sp>
        <p:nvSpPr>
          <p:cNvPr id="16" name="Rounded Rectangle 15"/>
          <p:cNvSpPr/>
          <p:nvPr/>
        </p:nvSpPr>
        <p:spPr>
          <a:xfrm>
            <a:off x="7589520" y="3913632"/>
            <a:ext cx="2103120" cy="438912"/>
          </a:xfrm>
          <a:prstGeom prst="round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Hash-Chain Audit</a:t>
            </a:r>
            <a:endParaRPr sz="1000" b="1">
              <a:solidFill>
                <a:srgbClr val="FFFFFF"/>
              </a:solidFill>
              <a:latin typeface="Calibri" panose="020F0502020204030204"/>
            </a:endParaRPr>
          </a:p>
        </p:txBody>
      </p:sp>
      <p:sp>
        <p:nvSpPr>
          <p:cNvPr id="17" name="Rounded Rectangle 16"/>
          <p:cNvSpPr/>
          <p:nvPr/>
        </p:nvSpPr>
        <p:spPr>
          <a:xfrm>
            <a:off x="9966960" y="3913632"/>
            <a:ext cx="2103120" cy="438912"/>
          </a:xfrm>
          <a:prstGeom prst="round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00" b="1">
                <a:solidFill>
                  <a:srgbClr val="FFFFFF"/>
                </a:solidFill>
                <a:latin typeface="Calibri" panose="020F0502020204030204"/>
              </a:rPr>
              <a:t>PWA + Offline</a:t>
            </a:r>
            <a:endParaRPr sz="1000" b="1">
              <a:solidFill>
                <a:srgbClr val="FFFFFF"/>
              </a:solidFill>
              <a:latin typeface="Calibri" panose="020F0502020204030204"/>
            </a:endParaRPr>
          </a:p>
        </p:txBody>
      </p:sp>
      <p:sp>
        <p:nvSpPr>
          <p:cNvPr id="18" name="TextBox 17"/>
          <p:cNvSpPr txBox="1"/>
          <p:nvPr/>
        </p:nvSpPr>
        <p:spPr>
          <a:xfrm>
            <a:off x="457200" y="4572000"/>
            <a:ext cx="11274425" cy="582295"/>
          </a:xfrm>
          <a:prstGeom prst="rect">
            <a:avLst/>
          </a:prstGeom>
          <a:noFill/>
        </p:spPr>
        <p:txBody>
          <a:bodyPr wrap="square">
            <a:noAutofit/>
          </a:bodyPr>
          <a:lstStyle/>
          <a:p>
            <a:pPr algn="ctr"/>
            <a:r>
              <a:rPr lang="en-US" sz="1400" b="0" i="0">
                <a:solidFill>
                  <a:srgbClr val="FFFFFF"/>
                </a:solidFill>
                <a:latin typeface="Calibri" panose="020F0502020204030204"/>
              </a:rPr>
              <a:t>Contact us at </a:t>
            </a:r>
            <a:r>
              <a:rPr sz="1400" b="0" i="0">
                <a:solidFill>
                  <a:srgbClr val="FFFFFF"/>
                </a:solidFill>
                <a:latin typeface="Calibri" panose="020F0502020204030204"/>
              </a:rPr>
              <a:t>[</a:t>
            </a:r>
            <a:r>
              <a:rPr lang="en-US" sz="1400" b="0" i="0">
                <a:solidFill>
                  <a:srgbClr val="FFFFFF"/>
                </a:solidFill>
                <a:latin typeface="Calibri" panose="020F0502020204030204"/>
              </a:rPr>
              <a:t>plalagappan06@gmail.com, gokuladharsan2006@gmail.com, mahibalaa13m@gmail.com</a:t>
            </a:r>
            <a:r>
              <a:rPr sz="1400" b="0" i="0">
                <a:solidFill>
                  <a:srgbClr val="FFFFFF"/>
                </a:solidFill>
                <a:latin typeface="Calibri" panose="020F0502020204030204"/>
              </a:rPr>
              <a:t>]  |  [</a:t>
            </a:r>
            <a:r>
              <a:rPr lang="en-US" altLang="en-US" sz="1400" b="0" i="0">
                <a:solidFill>
                  <a:srgbClr val="FFFFFF"/>
                </a:solidFill>
                <a:latin typeface="Calibri" panose="020F0502020204030204"/>
              </a:rPr>
              <a:t>https://github.com/Alagu006/hms-part-2</a:t>
            </a:r>
            <a:r>
              <a:rPr sz="1400" b="0" i="0">
                <a:solidFill>
                  <a:srgbClr val="FFFFFF"/>
                </a:solidFill>
                <a:latin typeface="Calibri" panose="020F0502020204030204"/>
              </a:rPr>
              <a:t>]  |  </a:t>
            </a:r>
            <a:endParaRPr sz="1400" b="0" i="0">
              <a:solidFill>
                <a:srgbClr val="FFFFFF"/>
              </a:solidFill>
              <a:latin typeface="Calibri" panose="020F0502020204030204"/>
            </a:endParaRPr>
          </a:p>
          <a:p>
            <a:pPr algn="ctr"/>
            <a:r>
              <a:rPr sz="1400" b="0" i="0">
                <a:solidFill>
                  <a:srgbClr val="FFFFFF"/>
                </a:solidFill>
                <a:latin typeface="Calibri" panose="020F0502020204030204"/>
              </a:rPr>
              <a:t>[</a:t>
            </a:r>
            <a:r>
              <a:rPr lang="en-US" sz="1400" b="0" i="0">
                <a:solidFill>
                  <a:srgbClr val="FFFFFF"/>
                </a:solidFill>
                <a:latin typeface="Calibri" panose="020F0502020204030204"/>
              </a:rPr>
              <a:t>SRM Valliammai Engineering College</a:t>
            </a:r>
            <a:r>
              <a:rPr sz="1400" b="0" i="0">
                <a:solidFill>
                  <a:srgbClr val="FFFFFF"/>
                </a:solidFill>
                <a:latin typeface="Calibri" panose="020F0502020204030204"/>
              </a:rPr>
              <a:t>]</a:t>
            </a:r>
            <a:endParaRPr sz="1400" b="0" i="0">
              <a:solidFill>
                <a:srgbClr val="FFFFFF"/>
              </a:solidFill>
              <a:latin typeface="Calibri" panose="020F0502020204030204"/>
            </a:endParaRPr>
          </a:p>
        </p:txBody>
      </p:sp>
      <p:sp>
        <p:nvSpPr>
          <p:cNvPr id="19" name="TextBox 18"/>
          <p:cNvSpPr txBox="1"/>
          <p:nvPr/>
        </p:nvSpPr>
        <p:spPr>
          <a:xfrm>
            <a:off x="457200" y="5445760"/>
            <a:ext cx="11274425" cy="1092200"/>
          </a:xfrm>
          <a:prstGeom prst="rect">
            <a:avLst/>
          </a:prstGeom>
          <a:noFill/>
        </p:spPr>
        <p:txBody>
          <a:bodyPr wrap="square">
            <a:noAutofit/>
          </a:bodyPr>
          <a:lstStyle/>
          <a:p>
            <a:pPr algn="ctr"/>
            <a:r>
              <a:rPr sz="1100" b="0" i="0">
                <a:solidFill>
                  <a:srgbClr val="E8F4F8"/>
                </a:solidFill>
                <a:latin typeface="Calibri" panose="020F0502020204030204"/>
              </a:rPr>
              <a:t>Built with: React 18  •  Node.js + Express 5  •  PostgreSQL  •  Redis  •  Socket.io  •  Argon2id  •  Puppeteer  •  ClamScan  •  Razorpay</a:t>
            </a:r>
            <a:endParaRPr sz="1100" b="0" i="0">
              <a:solidFill>
                <a:srgbClr val="E8F4F8"/>
              </a:solidFill>
              <a:latin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23057</Words>
  <Application>WPS Presentation</Application>
  <PresentationFormat>On-screen Show (4:3)</PresentationFormat>
  <Paragraphs>693</Paragraphs>
  <Slides>21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21</vt:i4>
      </vt:variant>
    </vt:vector>
  </HeadingPairs>
  <TitlesOfParts>
    <vt:vector size="30" baseType="lpstr">
      <vt:lpstr>Arial</vt:lpstr>
      <vt:lpstr>SimSun</vt:lpstr>
      <vt:lpstr>Wingdings</vt:lpstr>
      <vt:lpstr>Arial</vt:lpstr>
      <vt:lpstr>Calibri</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Alagu</cp:lastModifiedBy>
  <cp:revision>5</cp:revision>
  <dcterms:created xsi:type="dcterms:W3CDTF">2013-01-27T09:14:00Z</dcterms:created>
  <dcterms:modified xsi:type="dcterms:W3CDTF">2026-04-15T05:26:38Z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A80C7153E2C3444BA6AE27CE2B1A56C2_12</vt:lpwstr>
  </property>
</Properties>
</file>