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This is a production-grade Hospital Management System covering every hospital department — clinical, admin, HR, billing, and security. It supports 19 user roles and is built as a Progressive Web App.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simple CRUD application. It mirrors how a real hospital operates. Every department has its own dedicated module. The system supports 19 different user roles, each with their own dashboard and permissions. It's also a PWA — staff can install it on their phones and use it even without internet.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is fragmentation. A doctor writes a prescription on paper, a nurse records vitals in a notebook, billing is done on a separate spreadsheet. There's no single source of truth. This leads to medical errors, data loss, and security breaches. Our system solves this by bringing every department onto one unified, secure, real-time platform.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objectives were clear: digitize, secure, and connect. Every hospital role gets a purpose-built interface, every action is audited, and every piece of sensitive data is encrypted. The system also automates routine tasks like sending low-stock alerts or generating PDF discharge summaries.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follows a three-tier architecture with additional layers. Redis handles sessions and rate limiting. Socket.io enables real-time features. The backend is organized into 30+ independent modules, each handling a specific hospital function.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makes this architecture robust is the middleware pipeline. Every request passes through 9 security layers before reaching business logic. This defense-in-depth approach means multiple layers must be bypassed for any attack to succeed.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is organized into 8 functional categories. Each backend module has its own routes, controller, service layer, and Zod validation schema. This modular design means new features can be added without touching existing code.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clinical workflow is the heart of the system. A patient's journey starts with registration, where they receive a unique MRN. Appointments are scheduled, vitals recorded, prescriptions written, labs ordered, and finally a discharge PDF is automatically generated. Every step is connected and audited.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clinical care, the system manages physical and human resources. The bed matrix gives real-time bed availability. The blood bank tracks every unit from donation to transfusion. Inventory items have QR codes that can be scanned to update stock. HR functions like shifts and leaves are fully automated.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built into every layer. Argon2id is specifically designed to be slow and memory-intensive to defeat brute-force attacks. JWTs use asymmetric RS256 keys — even if someone gets the public key, they cannot forge tokens. Patient PII is encrypted in the database itself, so even a database dump reveals nothing readable.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tamper-evident audit log is particularly unique. Most systems just store logs in a table. This system chains each entry to the previous one using cryptographic hashes — if anyone deletes or modifies a log entry, the chain breaks and the system detects it immediately. That's a feature normally found in financial or legal systems.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database has 40+ tables organized around the patient as the central entity. Everything connects back to the patient. Sensitive columns are encrypted directly in the database. Multi-step operations use database transactions — either everything succeeds or nothing is saved.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API call follows the same pipeline. The prescription workflow shows how three different roles interact through the system in real time. Socket.io eliminates the need for page refreshes — the pharmacist sees new prescriptions instantly, and the patient is notified the moment their medication is dispensed.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workflows supported by actual code. The patient portal gives patients full visibility into their own care. The audit log has hash-chain verification that mathematically proves no entry has been tampered with. The blood bank tracks every unit from arrival to transfusion.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technology choices reflect a modern, production-ready stack. Express 5 has improved async error handling. Argon2id won the Password Hashing Competition and is recommended over bcrypt. Puppeteer runs headless Chrome on the server to generate PDFs. ClamScan is an open-source antivirus integrated into the upload pipeline.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advantage is that security and real-time capability are core to the architecture, not add-ons. The tamper-evident audit log is particularly unique — most hospital systems just store logs in a table. This system chains each entry with cryptographic hashes, so deletion or modification is immediately detectable.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honest about limitations is important. The telemedicine feature works but relies on an external video provider. The system is designed for a single hospital — multi-branch support would require architectural changes. The radiology module has roles and permissions defined but the full UI is partially implemented.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foundation is solid enough to support significant enhancements. AI integration using the vitals data already being collected could detect early warning signs of patient deterioration. FHIR integration would allow data exchange with other hospital systems, increasingly required by healthcare regulations. Multi-tenant support would make this commercially viable as a SaaS product.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this system goes far beyond a typical project. It implements security patterns used in banking, real-time features used in communication platforms, and clinical workflows used in actual hospital software. Every feature shown today is backed by real, working code — not mockups or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I'm happy to answer any questions about the technical implementation, security architecture, or clinical workflows. If you'd like a live demo of any specific feature, I can walk you through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05840"/>
            <a:ext cx="11274552" cy="914400"/>
          </a:xfrm>
          <a:prstGeom prst="rect">
            <a:avLst/>
          </a:prstGeom>
          <a:noFill/>
        </p:spPr>
        <p:txBody>
          <a:bodyPr wrap="square">
            <a:spAutoFit/>
          </a:bodyPr>
          <a:lstStyle/>
          <a:p>
            <a:pPr algn="ctr"/>
            <a:r>
              <a:rPr sz="3600" b="1" i="0">
                <a:solidFill>
                  <a:srgbClr val="FFFFFF"/>
                </a:solidFill>
                <a:latin typeface="Calibri"/>
              </a:rPr>
              <a:t>Hospital Management System (HMS)</a:t>
            </a:r>
          </a:p>
        </p:txBody>
      </p:sp>
      <p:sp>
        <p:nvSpPr>
          <p:cNvPr id="4" name="TextBox 3"/>
          <p:cNvSpPr txBox="1"/>
          <p:nvPr/>
        </p:nvSpPr>
        <p:spPr>
          <a:xfrm>
            <a:off x="457200" y="2011680"/>
            <a:ext cx="11274552" cy="548640"/>
          </a:xfrm>
          <a:prstGeom prst="rect">
            <a:avLst/>
          </a:prstGeom>
          <a:noFill/>
        </p:spPr>
        <p:txBody>
          <a:bodyPr wrap="square">
            <a:spAutoFit/>
          </a:bodyPr>
          <a:lstStyle/>
          <a:p>
            <a:pPr algn="ctr"/>
            <a:r>
              <a:rPr sz="1800" b="0" i="1">
                <a:solidFill>
                  <a:srgbClr val="00B4D8"/>
                </a:solidFill>
                <a:latin typeface="Calibri"/>
              </a:rPr>
              <a:t>A Full-Stack, Role-Based, Secure Healthcare Platform</a:t>
            </a:r>
          </a:p>
        </p:txBody>
      </p:sp>
      <p:sp>
        <p:nvSpPr>
          <p:cNvPr id="5" name="Rectangle 4"/>
          <p:cNvSpPr/>
          <p:nvPr/>
        </p:nvSpPr>
        <p:spPr>
          <a:xfrm>
            <a:off x="914400" y="2743200"/>
            <a:ext cx="10360152"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293876" y="2926080"/>
            <a:ext cx="2194560" cy="41148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Calibri"/>
              </a:rPr>
              <a:t>19 User Roles</a:t>
            </a:r>
          </a:p>
        </p:txBody>
      </p:sp>
      <p:sp>
        <p:nvSpPr>
          <p:cNvPr id="7" name="Rounded Rectangle 6"/>
          <p:cNvSpPr/>
          <p:nvPr/>
        </p:nvSpPr>
        <p:spPr>
          <a:xfrm>
            <a:off x="3762756" y="2926080"/>
            <a:ext cx="2194560" cy="41148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Calibri"/>
              </a:rPr>
              <a:t>30+ API Modules</a:t>
            </a:r>
          </a:p>
        </p:txBody>
      </p:sp>
      <p:sp>
        <p:nvSpPr>
          <p:cNvPr id="8" name="Rounded Rectangle 7"/>
          <p:cNvSpPr/>
          <p:nvPr/>
        </p:nvSpPr>
        <p:spPr>
          <a:xfrm>
            <a:off x="6231636" y="2926080"/>
            <a:ext cx="2194560" cy="41148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Calibri"/>
              </a:rPr>
              <a:t>40+ DB Tables</a:t>
            </a:r>
          </a:p>
        </p:txBody>
      </p:sp>
      <p:sp>
        <p:nvSpPr>
          <p:cNvPr id="9" name="Rounded Rectangle 8"/>
          <p:cNvSpPr/>
          <p:nvPr/>
        </p:nvSpPr>
        <p:spPr>
          <a:xfrm>
            <a:off x="8700516" y="2926080"/>
            <a:ext cx="2194560" cy="41148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Calibri"/>
              </a:rPr>
              <a:t>Real-Time + PWA</a:t>
            </a:r>
          </a:p>
        </p:txBody>
      </p:sp>
      <p:sp>
        <p:nvSpPr>
          <p:cNvPr id="10" name="TextBox 9"/>
          <p:cNvSpPr txBox="1"/>
          <p:nvPr/>
        </p:nvSpPr>
        <p:spPr>
          <a:xfrm>
            <a:off x="457200" y="5852160"/>
            <a:ext cx="11274552" cy="365760"/>
          </a:xfrm>
          <a:prstGeom prst="rect">
            <a:avLst/>
          </a:prstGeom>
          <a:noFill/>
        </p:spPr>
        <p:txBody>
          <a:bodyPr wrap="square">
            <a:spAutoFit/>
          </a:bodyPr>
          <a:lstStyle/>
          <a:p>
            <a:pPr algn="ctr"/>
            <a:r>
              <a:rPr sz="1200" b="0" i="0">
                <a:solidFill>
                  <a:srgbClr val="FFFFFF"/>
                </a:solidFill>
                <a:latin typeface="Calibri"/>
              </a:rPr>
              <a:t>Presented by: [Your Name]  |  [Institution]  |  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73152"/>
            <a:ext cx="11704320" cy="502920"/>
          </a:xfrm>
          <a:prstGeom prst="rect">
            <a:avLst/>
          </a:prstGeom>
          <a:noFill/>
        </p:spPr>
        <p:txBody>
          <a:bodyPr wrap="none">
            <a:spAutoFit/>
          </a:bodyPr>
          <a:lstStyle/>
          <a:p>
            <a:pPr algn="l"/>
            <a:r>
              <a:rPr sz="2200" b="1">
                <a:solidFill>
                  <a:srgbClr val="FFFFFF"/>
                </a:solidFill>
                <a:latin typeface="Calibri"/>
              </a:rPr>
              <a:t>Introduction</a:t>
            </a:r>
          </a:p>
        </p:txBody>
      </p:sp>
      <p:sp>
        <p:nvSpPr>
          <p:cNvPr id="4" name="Rectangle 3"/>
          <p:cNvSpPr/>
          <p:nvPr/>
        </p:nvSpPr>
        <p:spPr>
          <a:xfrm>
            <a:off x="0" y="640080"/>
            <a:ext cx="137160" cy="6217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777240"/>
            <a:ext cx="11612880" cy="5486400"/>
          </a:xfrm>
          <a:prstGeom prst="rect">
            <a:avLst/>
          </a:prstGeom>
          <a:noFill/>
        </p:spPr>
        <p:txBody>
          <a:bodyPr wrap="square">
            <a:spAutoFit/>
          </a:bodyPr>
          <a:lstStyle/>
          <a:p>
            <a:pPr algn="l">
              <a:spcBef>
                <a:spcPts val="400"/>
              </a:spcBef>
            </a:pPr>
            <a:r>
              <a:rPr sz="1500">
                <a:solidFill>
                  <a:srgbClr val="1E293B"/>
                </a:solidFill>
                <a:latin typeface="Calibri"/>
              </a:rPr>
              <a:t>  •  A web-based Hospital Management System (HMS) built for real hospital operations</a:t>
            </a:r>
          </a:p>
          <a:p>
            <a:pPr algn="l">
              <a:spcBef>
                <a:spcPts val="400"/>
              </a:spcBef>
            </a:pPr>
            <a:r>
              <a:rPr sz="1500">
                <a:solidFill>
                  <a:srgbClr val="1E293B"/>
                </a:solidFill>
                <a:latin typeface="Calibri"/>
              </a:rPr>
              <a:t>  •  Supports 19 distinct user roles — doctors, nurses, patients, billing, HR, security, and more</a:t>
            </a:r>
          </a:p>
          <a:p>
            <a:pPr algn="l">
              <a:spcBef>
                <a:spcPts val="400"/>
              </a:spcBef>
            </a:pPr>
            <a:r>
              <a:rPr sz="1500">
                <a:solidFill>
                  <a:srgbClr val="1E293B"/>
                </a:solidFill>
                <a:latin typeface="Calibri"/>
              </a:rPr>
              <a:t>  •  Manages the complete patient journey: Registration → Consultation → Treatment → Discharge → Billing</a:t>
            </a:r>
          </a:p>
          <a:p>
            <a:pPr algn="l">
              <a:spcBef>
                <a:spcPts val="400"/>
              </a:spcBef>
            </a:pPr>
            <a:r>
              <a:rPr sz="1500">
                <a:solidFill>
                  <a:srgbClr val="1E293B"/>
                </a:solidFill>
                <a:latin typeface="Calibri"/>
              </a:rPr>
              <a:t>  •  Enables real-time communication between all hospital departments via live chat and notifications</a:t>
            </a:r>
          </a:p>
          <a:p>
            <a:pPr algn="l">
              <a:spcBef>
                <a:spcPts val="400"/>
              </a:spcBef>
            </a:pPr>
            <a:r>
              <a:rPr sz="1500">
                <a:solidFill>
                  <a:srgbClr val="1E293B"/>
                </a:solidFill>
                <a:latin typeface="Calibri"/>
              </a:rPr>
              <a:t>  •  Built as a Progressive Web App (PWA) — installable on mobile, works offline</a:t>
            </a:r>
          </a:p>
          <a:p>
            <a:pPr algn="l">
              <a:spcBef>
                <a:spcPts val="400"/>
              </a:spcBef>
            </a:pPr>
            <a:r>
              <a:rPr sz="1500">
                <a:solidFill>
                  <a:srgbClr val="1E293B"/>
                </a:solidFill>
                <a:latin typeface="Calibri"/>
              </a:rPr>
              <a:t>  •  Every action is logged in a tamper-evident audit trail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73152"/>
            <a:ext cx="11704320" cy="502920"/>
          </a:xfrm>
          <a:prstGeom prst="rect">
            <a:avLst/>
          </a:prstGeom>
          <a:noFill/>
        </p:spPr>
        <p:txBody>
          <a:bodyPr wrap="none">
            <a:spAutoFit/>
          </a:bodyPr>
          <a:lstStyle/>
          <a:p>
            <a:pPr algn="l"/>
            <a:r>
              <a:rPr sz="2200" b="1">
                <a:solidFill>
                  <a:srgbClr val="FFFFFF"/>
                </a:solidFill>
                <a:latin typeface="Calibri"/>
              </a:rPr>
              <a:t>The Problem We're Solving</a:t>
            </a:r>
          </a:p>
        </p:txBody>
      </p:sp>
      <p:sp>
        <p:nvSpPr>
          <p:cNvPr id="4" name="Rectangle 3"/>
          <p:cNvSpPr/>
          <p:nvPr/>
        </p:nvSpPr>
        <p:spPr>
          <a:xfrm>
            <a:off x="0" y="640080"/>
            <a:ext cx="137160" cy="6217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777240"/>
            <a:ext cx="11612880" cy="5486400"/>
          </a:xfrm>
          <a:prstGeom prst="rect">
            <a:avLst/>
          </a:prstGeom>
          <a:noFill/>
        </p:spPr>
        <p:txBody>
          <a:bodyPr wrap="square">
            <a:spAutoFit/>
          </a:bodyPr>
          <a:lstStyle/>
          <a:p>
            <a:pPr algn="l">
              <a:spcBef>
                <a:spcPts val="400"/>
              </a:spcBef>
            </a:pPr>
            <a:r>
              <a:rPr sz="1500">
                <a:solidFill>
                  <a:srgbClr val="1E293B"/>
                </a:solidFill>
                <a:latin typeface="Calibri"/>
              </a:rPr>
              <a:t>  •  Hospitals rely on paper records and manual processes — slow, error-prone, and insecure</a:t>
            </a:r>
          </a:p>
          <a:p>
            <a:pPr algn="l">
              <a:spcBef>
                <a:spcPts val="400"/>
              </a:spcBef>
            </a:pPr>
            <a:r>
              <a:rPr sz="1500">
                <a:solidFill>
                  <a:srgbClr val="1E293B"/>
                </a:solidFill>
                <a:latin typeface="Calibri"/>
              </a:rPr>
              <a:t>  •  Patient data is scattered across departments with no unified view</a:t>
            </a:r>
          </a:p>
          <a:p>
            <a:pPr algn="l">
              <a:spcBef>
                <a:spcPts val="400"/>
              </a:spcBef>
            </a:pPr>
            <a:r>
              <a:rPr sz="1500">
                <a:solidFill>
                  <a:srgbClr val="1E293B"/>
                </a:solidFill>
                <a:latin typeface="Calibri"/>
              </a:rPr>
              <a:t>  •  No real-time coordination between doctors, nurses, pharmacists, and labs</a:t>
            </a:r>
          </a:p>
          <a:p>
            <a:pPr algn="l">
              <a:spcBef>
                <a:spcPts val="400"/>
              </a:spcBef>
            </a:pPr>
            <a:r>
              <a:rPr sz="1500">
                <a:solidFill>
                  <a:srgbClr val="1E293B"/>
                </a:solidFill>
                <a:latin typeface="Calibri"/>
              </a:rPr>
              <a:t>  •  Billing and inventory managed separately — causing delays and financial losses</a:t>
            </a:r>
          </a:p>
          <a:p>
            <a:pPr algn="l">
              <a:spcBef>
                <a:spcPts val="400"/>
              </a:spcBef>
            </a:pPr>
            <a:r>
              <a:rPr sz="1500">
                <a:solidFill>
                  <a:srgbClr val="1E293B"/>
                </a:solidFill>
                <a:latin typeface="Calibri"/>
              </a:rPr>
              <a:t>  •  No audit trail — impossible to track who changed what and when</a:t>
            </a:r>
          </a:p>
          <a:p>
            <a:pPr algn="l">
              <a:spcBef>
                <a:spcPts val="400"/>
              </a:spcBef>
            </a:pPr>
            <a:r>
              <a:rPr sz="1500">
                <a:solidFill>
                  <a:srgbClr val="1E293B"/>
                </a:solidFill>
                <a:latin typeface="Calibri"/>
              </a:rPr>
              <a:t>  •  Security gaps — unauthorized access to sensitive patient data is a real risk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73152"/>
            <a:ext cx="11704320" cy="502920"/>
          </a:xfrm>
          <a:prstGeom prst="rect">
            <a:avLst/>
          </a:prstGeom>
          <a:noFill/>
        </p:spPr>
        <p:txBody>
          <a:bodyPr wrap="none">
            <a:spAutoFit/>
          </a:bodyPr>
          <a:lstStyle/>
          <a:p>
            <a:pPr algn="l"/>
            <a:r>
              <a:rPr sz="2200" b="1">
                <a:solidFill>
                  <a:srgbClr val="FFFFFF"/>
                </a:solidFill>
                <a:latin typeface="Calibri"/>
              </a:rPr>
              <a:t>Project Objectives</a:t>
            </a:r>
          </a:p>
        </p:txBody>
      </p:sp>
      <p:sp>
        <p:nvSpPr>
          <p:cNvPr id="4" name="Rectangle 3"/>
          <p:cNvSpPr/>
          <p:nvPr/>
        </p:nvSpPr>
        <p:spPr>
          <a:xfrm>
            <a:off x="0" y="640080"/>
            <a:ext cx="137160" cy="6217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777240"/>
            <a:ext cx="11612880" cy="5486400"/>
          </a:xfrm>
          <a:prstGeom prst="rect">
            <a:avLst/>
          </a:prstGeom>
          <a:noFill/>
        </p:spPr>
        <p:txBody>
          <a:bodyPr wrap="square">
            <a:spAutoFit/>
          </a:bodyPr>
          <a:lstStyle/>
          <a:p>
            <a:pPr algn="l">
              <a:spcBef>
                <a:spcPts val="400"/>
              </a:spcBef>
            </a:pPr>
            <a:r>
              <a:rPr sz="1500">
                <a:solidFill>
                  <a:srgbClr val="1E293B"/>
                </a:solidFill>
                <a:latin typeface="Calibri"/>
              </a:rPr>
              <a:t>  •  Digitize all hospital workflows — clinical, administrative, and operational</a:t>
            </a:r>
          </a:p>
          <a:p>
            <a:pPr algn="l">
              <a:spcBef>
                <a:spcPts val="400"/>
              </a:spcBef>
            </a:pPr>
            <a:r>
              <a:rPr sz="1500">
                <a:solidFill>
                  <a:srgbClr val="1E293B"/>
                </a:solidFill>
                <a:latin typeface="Calibri"/>
              </a:rPr>
              <a:t>  •  Enforce role-based access so each user sees only what they're authorized to see</a:t>
            </a:r>
          </a:p>
          <a:p>
            <a:pPr algn="l">
              <a:spcBef>
                <a:spcPts val="400"/>
              </a:spcBef>
            </a:pPr>
            <a:r>
              <a:rPr sz="1500">
                <a:solidFill>
                  <a:srgbClr val="1E293B"/>
                </a:solidFill>
                <a:latin typeface="Calibri"/>
              </a:rPr>
              <a:t>  •  Enable real-time collaboration between departments via live messaging and notifications</a:t>
            </a:r>
          </a:p>
          <a:p>
            <a:pPr algn="l">
              <a:spcBef>
                <a:spcPts val="400"/>
              </a:spcBef>
            </a:pPr>
            <a:r>
              <a:rPr sz="1500">
                <a:solidFill>
                  <a:srgbClr val="1E293B"/>
                </a:solidFill>
                <a:latin typeface="Calibri"/>
              </a:rPr>
              <a:t>  •  Secure patient data with encryption, audit trails, and multi-layer authentication</a:t>
            </a:r>
          </a:p>
          <a:p>
            <a:pPr algn="l">
              <a:spcBef>
                <a:spcPts val="400"/>
              </a:spcBef>
            </a:pPr>
            <a:r>
              <a:rPr sz="1500">
                <a:solidFill>
                  <a:srgbClr val="1E293B"/>
                </a:solidFill>
                <a:latin typeface="Calibri"/>
              </a:rPr>
              <a:t>  •  Automate billing, inventory alerts, shift scheduling, and leave management</a:t>
            </a:r>
          </a:p>
          <a:p>
            <a:pPr algn="l">
              <a:spcBef>
                <a:spcPts val="400"/>
              </a:spcBef>
            </a:pPr>
            <a:r>
              <a:rPr sz="1500">
                <a:solidFill>
                  <a:srgbClr val="1E293B"/>
                </a:solidFill>
                <a:latin typeface="Calibri"/>
              </a:rPr>
              <a:t>  •  Provide analytics dashboards for data-driven hospital administration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73152"/>
            <a:ext cx="11704320" cy="502920"/>
          </a:xfrm>
          <a:prstGeom prst="rect">
            <a:avLst/>
          </a:prstGeom>
          <a:noFill/>
        </p:spPr>
        <p:txBody>
          <a:bodyPr wrap="none">
            <a:spAutoFit/>
          </a:bodyPr>
          <a:lstStyle/>
          <a:p>
            <a:pPr algn="l"/>
            <a:r>
              <a:rPr sz="2200" b="1">
                <a:solidFill>
                  <a:srgbClr val="FFFFFF"/>
                </a:solidFill>
                <a:latin typeface="Calibri"/>
              </a:rPr>
              <a:t>System Overview</a:t>
            </a:r>
          </a:p>
        </p:txBody>
      </p:sp>
      <p:sp>
        <p:nvSpPr>
          <p:cNvPr id="4" name="Rectangle 3"/>
          <p:cNvSpPr/>
          <p:nvPr/>
        </p:nvSpPr>
        <p:spPr>
          <a:xfrm>
            <a:off x="0" y="640080"/>
            <a:ext cx="137160" cy="6217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0"/>
            <a:ext cx="7772400" cy="3840480"/>
          </a:xfrm>
          <a:prstGeom prst="rect">
            <a:avLst/>
          </a:prstGeom>
          <a:noFill/>
        </p:spPr>
        <p:txBody>
          <a:bodyPr wrap="none">
            <a:spAutoFit/>
          </a:bodyPr>
          <a:lstStyle/>
          <a:p>
            <a:r>
              <a:rPr sz="900">
                <a:solidFill>
                  <a:srgbClr val="00B4D8"/>
                </a:solidFill>
                <a:latin typeface="Courier New"/>
              </a:rPr>
              <a:t>  ┌─────────────────────────────────────────────┐
  │         FRONTEND  (React 18 PWA)            │
  │  19 Role Dashboards │ Real-time UI Updates  │
  └──────────────┬──────────────────────────────┘
                 │  HTTPS + WebSocket (WSS)
  ┌──────────────▼──────────────────────────────┐
  │      BACKEND  (Node.js + Express 5)         │
  │  30+ API Modules │ JWT Auth │ Socket.io     │
  └──────┬───────────────────────┬──────────────┘
         │                       │
  ┌──────▼─────┐       ┌────────▼────────┐
  │ PostgreSQL  │       │  Redis Cache    │
  │ 40+ Tables  │       │  Sessions       │
  │ PII Encrypt │       │  Job Queues     │
  └─────────────┘       └─────────────────┘</a:t>
            </a:r>
          </a:p>
        </p:txBody>
      </p:sp>
      <p:sp>
        <p:nvSpPr>
          <p:cNvPr id="6" name="TextBox 5"/>
          <p:cNvSpPr txBox="1"/>
          <p:nvPr/>
        </p:nvSpPr>
        <p:spPr>
          <a:xfrm>
            <a:off x="274320" y="4663440"/>
            <a:ext cx="11612880" cy="2011680"/>
          </a:xfrm>
          <a:prstGeom prst="rect">
            <a:avLst/>
          </a:prstGeom>
          <a:noFill/>
        </p:spPr>
        <p:txBody>
          <a:bodyPr wrap="square">
            <a:spAutoFit/>
          </a:bodyPr>
          <a:lstStyle/>
          <a:p>
            <a:pPr algn="l">
              <a:spcBef>
                <a:spcPts val="400"/>
              </a:spcBef>
            </a:pPr>
            <a:r>
              <a:rPr sz="1400">
                <a:solidFill>
                  <a:srgbClr val="1E293B"/>
                </a:solidFill>
                <a:latin typeface="Calibri"/>
              </a:rPr>
              <a:t>  •  Frontend: React 18 + Vite PWA with Zustand state management and TanStack Query</a:t>
            </a:r>
          </a:p>
          <a:p>
            <a:pPr algn="l">
              <a:spcBef>
                <a:spcPts val="400"/>
              </a:spcBef>
            </a:pPr>
            <a:r>
              <a:rPr sz="1400">
                <a:solidFill>
                  <a:srgbClr val="1E293B"/>
                </a:solidFill>
                <a:latin typeface="Calibri"/>
              </a:rPr>
              <a:t>  •  Backend: Node.js + Express 5 with 30+ independent feature modules</a:t>
            </a:r>
          </a:p>
          <a:p>
            <a:pPr algn="l">
              <a:spcBef>
                <a:spcPts val="400"/>
              </a:spcBef>
            </a:pPr>
            <a:r>
              <a:rPr sz="1400">
                <a:solidFill>
                  <a:srgbClr val="1E293B"/>
                </a:solidFill>
                <a:latin typeface="Calibri"/>
              </a:rPr>
              <a:t>  •  Data layer: PostgreSQL (40+ tables, field-level encryption) + Redis (sessions, queues)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73152"/>
            <a:ext cx="11704320" cy="502920"/>
          </a:xfrm>
          <a:prstGeom prst="rect">
            <a:avLst/>
          </a:prstGeom>
          <a:noFill/>
        </p:spPr>
        <p:txBody>
          <a:bodyPr wrap="none">
            <a:spAutoFit/>
          </a:bodyPr>
          <a:lstStyle/>
          <a:p>
            <a:pPr algn="l"/>
            <a:r>
              <a:rPr sz="2200" b="1">
                <a:solidFill>
                  <a:srgbClr val="FFFFFF"/>
                </a:solidFill>
                <a:latin typeface="Calibri"/>
              </a:rPr>
              <a:t>Technical Architecture — Middleware Pipeline</a:t>
            </a:r>
          </a:p>
        </p:txBody>
      </p:sp>
      <p:sp>
        <p:nvSpPr>
          <p:cNvPr id="4" name="Rectangle 3"/>
          <p:cNvSpPr/>
          <p:nvPr/>
        </p:nvSpPr>
        <p:spPr>
          <a:xfrm>
            <a:off x="0" y="640080"/>
            <a:ext cx="137160" cy="6217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0"/>
            <a:ext cx="7772400" cy="3200400"/>
          </a:xfrm>
          <a:prstGeom prst="rect">
            <a:avLst/>
          </a:prstGeom>
          <a:noFill/>
        </p:spPr>
        <p:txBody>
          <a:bodyPr wrap="none">
            <a:spAutoFit/>
          </a:bodyPr>
          <a:lstStyle/>
          <a:p>
            <a:r>
              <a:rPr sz="1000">
                <a:solidFill>
                  <a:srgbClr val="1E293B"/>
                </a:solidFill>
                <a:latin typeface="Courier New"/>
              </a:rPr>
              <a:t>  EVERY REQUEST PASSES THROUGH 9 LAYERS:
  [1] Request ID  →  [2] Helmet Headers  →  [3] CORS Check
        ↓
  [4] Rate Limiter (Redis)  →  [5] IP Block Check
        ↓
  [6] CSRF Token Validation  →  [7] Input Sanitization
        ↓
  [8] JWT Authentication (RS256)  →  [9] RBAC Authorization
        ↓
  ✅  Route Handler (Business Logic)</a:t>
            </a:r>
          </a:p>
        </p:txBody>
      </p:sp>
      <p:sp>
        <p:nvSpPr>
          <p:cNvPr id="6" name="TextBox 5"/>
          <p:cNvSpPr txBox="1"/>
          <p:nvPr/>
        </p:nvSpPr>
        <p:spPr>
          <a:xfrm>
            <a:off x="274320" y="4114800"/>
            <a:ext cx="11612880" cy="2560320"/>
          </a:xfrm>
          <a:prstGeom prst="rect">
            <a:avLst/>
          </a:prstGeom>
          <a:noFill/>
        </p:spPr>
        <p:txBody>
          <a:bodyPr wrap="square">
            <a:spAutoFit/>
          </a:bodyPr>
          <a:lstStyle/>
          <a:p>
            <a:pPr algn="l">
              <a:spcBef>
                <a:spcPts val="400"/>
              </a:spcBef>
            </a:pPr>
            <a:r>
              <a:rPr sz="1400">
                <a:solidFill>
                  <a:srgbClr val="1E293B"/>
                </a:solidFill>
                <a:latin typeface="Calibri"/>
              </a:rPr>
              <a:t>  •  RS256 asymmetric JWT — private key signs tokens, public key verifies (15-min expiry)</a:t>
            </a:r>
          </a:p>
          <a:p>
            <a:pPr algn="l">
              <a:spcBef>
                <a:spcPts val="400"/>
              </a:spcBef>
            </a:pPr>
            <a:r>
              <a:rPr sz="1400">
                <a:solidFill>
                  <a:srgbClr val="1E293B"/>
                </a:solidFill>
                <a:latin typeface="Calibri"/>
              </a:rPr>
              <a:t>  •  Redis-backed sliding window rate limiting — 200 req/min per IP, 20 logins per 15 min</a:t>
            </a:r>
          </a:p>
          <a:p>
            <a:pPr algn="l">
              <a:spcBef>
                <a:spcPts val="400"/>
              </a:spcBef>
            </a:pPr>
            <a:r>
              <a:rPr sz="1400">
                <a:solidFill>
                  <a:srgbClr val="1E293B"/>
                </a:solidFill>
                <a:latin typeface="Calibri"/>
              </a:rPr>
              <a:t>  •  CSRF double-submit cookie pattern on all state-changing requests</a:t>
            </a:r>
          </a:p>
          <a:p>
            <a:pPr algn="l">
              <a:spcBef>
                <a:spcPts val="400"/>
              </a:spcBef>
            </a:pPr>
            <a:r>
              <a:rPr sz="1400">
                <a:solidFill>
                  <a:srgbClr val="1E293B"/>
                </a:solidFill>
                <a:latin typeface="Calibri"/>
              </a:rPr>
              <a:t>  •  Role-Based Access Control (RBAC) — 19 roles, middleware-enforced on every route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73152"/>
            <a:ext cx="11704320" cy="502920"/>
          </a:xfrm>
          <a:prstGeom prst="rect">
            <a:avLst/>
          </a:prstGeom>
          <a:noFill/>
        </p:spPr>
        <p:txBody>
          <a:bodyPr wrap="none">
            <a:spAutoFit/>
          </a:bodyPr>
          <a:lstStyle/>
          <a:p>
            <a:pPr algn="l"/>
            <a:r>
              <a:rPr sz="2200" b="1">
                <a:solidFill>
                  <a:srgbClr val="FFFFFF"/>
                </a:solidFill>
                <a:latin typeface="Calibri"/>
              </a:rPr>
              <a:t>System Modules — 30+ Backend, 15+ Frontend</a:t>
            </a:r>
          </a:p>
        </p:txBody>
      </p:sp>
      <p:sp>
        <p:nvSpPr>
          <p:cNvPr id="4" name="Rectangle 3"/>
          <p:cNvSpPr/>
          <p:nvPr/>
        </p:nvSpPr>
        <p:spPr>
          <a:xfrm>
            <a:off x="0" y="640080"/>
            <a:ext cx="137160" cy="6217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0"/>
            <a:ext cx="5669280" cy="5943600"/>
          </a:xfrm>
          <a:prstGeom prst="rect">
            <a:avLst/>
          </a:prstGeom>
          <a:noFill/>
        </p:spPr>
        <p:txBody>
          <a:bodyPr wrap="square">
            <a:spAutoFit/>
          </a:bodyPr>
          <a:lstStyle/>
          <a:p>
            <a:pPr>
              <a:spcBef>
                <a:spcPts val="200"/>
              </a:spcBef>
            </a:pPr>
            <a:r>
              <a:rPr sz="1200" b="1">
                <a:solidFill>
                  <a:srgbClr val="00B4D8"/>
                </a:solidFill>
                <a:latin typeface="Calibri"/>
              </a:rPr>
              <a:t>🏥 CLINICAL</a:t>
            </a:r>
          </a:p>
          <a:p>
            <a:pPr>
              <a:spcBef>
                <a:spcPts val="200"/>
              </a:spcBef>
            </a:pPr>
            <a:r>
              <a:rPr sz="1200" b="0">
                <a:solidFill>
                  <a:srgbClr val="1E293B"/>
                </a:solidFill>
                <a:latin typeface="Calibri"/>
              </a:rPr>
              <a:t>Patients, Appointments, Vitals, Prescriptions, Lab Orders,
Discharge Summaries, Telemedicine, OT Scheduling</a:t>
            </a:r>
          </a:p>
          <a:p>
            <a:pPr>
              <a:spcBef>
                <a:spcPts val="200"/>
              </a:spcBef>
            </a:pPr>
            <a:r>
              <a:rPr sz="1200" b="0">
                <a:solidFill>
                  <a:srgbClr val="1E293B"/>
                </a:solidFill>
                <a:latin typeface="Calibri"/>
              </a:rPr>
              <a:t/>
            </a:r>
          </a:p>
          <a:p>
            <a:pPr>
              <a:spcBef>
                <a:spcPts val="200"/>
              </a:spcBef>
            </a:pPr>
            <a:r>
              <a:rPr sz="1200" b="1">
                <a:solidFill>
                  <a:srgbClr val="00B4D8"/>
                </a:solidFill>
                <a:latin typeface="Calibri"/>
              </a:rPr>
              <a:t>💊 PHARMACY &amp; LAB</a:t>
            </a:r>
          </a:p>
          <a:p>
            <a:pPr>
              <a:spcBef>
                <a:spcPts val="200"/>
              </a:spcBef>
            </a:pPr>
            <a:r>
              <a:rPr sz="1200" b="0">
                <a:solidFill>
                  <a:srgbClr val="1E293B"/>
                </a:solidFill>
                <a:latin typeface="Calibri"/>
              </a:rPr>
              <a:t>Medicine Database, Dispensing Queue, Lab Orders,
Lab Results, Blood Bank</a:t>
            </a:r>
          </a:p>
          <a:p>
            <a:pPr>
              <a:spcBef>
                <a:spcPts val="200"/>
              </a:spcBef>
            </a:pPr>
            <a:r>
              <a:rPr sz="1200" b="0">
                <a:solidFill>
                  <a:srgbClr val="1E293B"/>
                </a:solidFill>
                <a:latin typeface="Calibri"/>
              </a:rPr>
              <a:t/>
            </a:r>
          </a:p>
          <a:p>
            <a:pPr>
              <a:spcBef>
                <a:spcPts val="200"/>
              </a:spcBef>
            </a:pPr>
            <a:r>
              <a:rPr sz="1200" b="1">
                <a:solidFill>
                  <a:srgbClr val="00B4D8"/>
                </a:solidFill>
                <a:latin typeface="Calibri"/>
              </a:rPr>
              <a:t>💰 FINANCE</a:t>
            </a:r>
          </a:p>
          <a:p>
            <a:pPr>
              <a:spcBef>
                <a:spcPts val="200"/>
              </a:spcBef>
            </a:pPr>
            <a:r>
              <a:rPr sz="1200" b="0">
                <a:solidFill>
                  <a:srgbClr val="1E293B"/>
                </a:solidFill>
                <a:latin typeface="Calibri"/>
              </a:rPr>
              <a:t>Billing, Payments, Insurance, Financial Summary,
Razorpay Integration</a:t>
            </a:r>
          </a:p>
          <a:p>
            <a:pPr>
              <a:spcBef>
                <a:spcPts val="200"/>
              </a:spcBef>
            </a:pPr>
            <a:r>
              <a:rPr sz="1200" b="0">
                <a:solidFill>
                  <a:srgbClr val="1E293B"/>
                </a:solidFill>
                <a:latin typeface="Calibri"/>
              </a:rPr>
              <a:t/>
            </a:r>
          </a:p>
          <a:p>
            <a:pPr>
              <a:spcBef>
                <a:spcPts val="200"/>
              </a:spcBef>
            </a:pPr>
            <a:r>
              <a:rPr sz="1200" b="1">
                <a:solidFill>
                  <a:srgbClr val="00B4D8"/>
                </a:solidFill>
                <a:latin typeface="Calibri"/>
              </a:rPr>
              <a:t>👥 HR &amp; ADMIN</a:t>
            </a:r>
          </a:p>
          <a:p>
            <a:pPr>
              <a:spcBef>
                <a:spcPts val="200"/>
              </a:spcBef>
            </a:pPr>
            <a:r>
              <a:rPr sz="1200" b="0">
                <a:solidFill>
                  <a:srgbClr val="1E293B"/>
                </a:solidFill>
                <a:latin typeface="Calibri"/>
              </a:rPr>
              <a:t>User Management, Shifts, Leaves, Departments,
Payroll, Analytics</a:t>
            </a:r>
          </a:p>
        </p:txBody>
      </p:sp>
      <p:sp>
        <p:nvSpPr>
          <p:cNvPr id="6" name="TextBox 5"/>
          <p:cNvSpPr txBox="1"/>
          <p:nvPr/>
        </p:nvSpPr>
        <p:spPr>
          <a:xfrm>
            <a:off x="6217920" y="731520"/>
            <a:ext cx="5669280" cy="5943600"/>
          </a:xfrm>
          <a:prstGeom prst="rect">
            <a:avLst/>
          </a:prstGeom>
          <a:noFill/>
        </p:spPr>
        <p:txBody>
          <a:bodyPr wrap="square">
            <a:spAutoFit/>
          </a:bodyPr>
          <a:lstStyle/>
          <a:p>
            <a:pPr>
              <a:spcBef>
                <a:spcPts val="200"/>
              </a:spcBef>
            </a:pPr>
            <a:r>
              <a:rPr sz="1200" b="1">
                <a:solidFill>
                  <a:srgbClr val="00B4D8"/>
                </a:solidFill>
                <a:latin typeface="Calibri"/>
              </a:rPr>
              <a:t>🔒 SECURITY &amp; AUDIT</a:t>
            </a:r>
          </a:p>
          <a:p>
            <a:pPr>
              <a:spcBef>
                <a:spcPts val="200"/>
              </a:spcBef>
            </a:pPr>
            <a:r>
              <a:rPr sz="1200" b="0">
                <a:solidFill>
                  <a:srgbClr val="1E293B"/>
                </a:solidFill>
                <a:latin typeface="Calibri"/>
              </a:rPr>
              <a:t>Audit Logs (Hash-Chain), IP Blocking,
Session Management, Incident Reports</a:t>
            </a:r>
          </a:p>
          <a:p>
            <a:pPr>
              <a:spcBef>
                <a:spcPts val="200"/>
              </a:spcBef>
            </a:pPr>
            <a:r>
              <a:rPr sz="1200" b="0">
                <a:solidFill>
                  <a:srgbClr val="1E293B"/>
                </a:solidFill>
                <a:latin typeface="Calibri"/>
              </a:rPr>
              <a:t/>
            </a:r>
          </a:p>
          <a:p>
            <a:pPr>
              <a:spcBef>
                <a:spcPts val="200"/>
              </a:spcBef>
            </a:pPr>
            <a:r>
              <a:rPr sz="1200" b="1">
                <a:solidFill>
                  <a:srgbClr val="00B4D8"/>
                </a:solidFill>
                <a:latin typeface="Calibri"/>
              </a:rPr>
              <a:t>📦 OPERATIONS</a:t>
            </a:r>
          </a:p>
          <a:p>
            <a:pPr>
              <a:spcBef>
                <a:spcPts val="200"/>
              </a:spcBef>
            </a:pPr>
            <a:r>
              <a:rPr sz="1200" b="0">
                <a:solidFill>
                  <a:srgbClr val="1E293B"/>
                </a:solidFill>
                <a:latin typeface="Calibri"/>
              </a:rPr>
              <a:t>Inventory, Bed Matrix, QR Codes,
Visitor Logs, Handover Notes</a:t>
            </a:r>
          </a:p>
          <a:p>
            <a:pPr>
              <a:spcBef>
                <a:spcPts val="200"/>
              </a:spcBef>
            </a:pPr>
            <a:r>
              <a:rPr sz="1200" b="0">
                <a:solidFill>
                  <a:srgbClr val="1E293B"/>
                </a:solidFill>
                <a:latin typeface="Calibri"/>
              </a:rPr>
              <a:t/>
            </a:r>
          </a:p>
          <a:p>
            <a:pPr>
              <a:spcBef>
                <a:spcPts val="200"/>
              </a:spcBef>
            </a:pPr>
            <a:r>
              <a:rPr sz="1200" b="1">
                <a:solidFill>
                  <a:srgbClr val="00B4D8"/>
                </a:solidFill>
                <a:latin typeface="Calibri"/>
              </a:rPr>
              <a:t>💬 COMMUNICATION</a:t>
            </a:r>
          </a:p>
          <a:p>
            <a:pPr>
              <a:spcBef>
                <a:spcPts val="200"/>
              </a:spcBef>
            </a:pPr>
            <a:r>
              <a:rPr sz="1200" b="0">
                <a:solidFill>
                  <a:srgbClr val="1E293B"/>
                </a:solidFill>
                <a:latin typeface="Calibri"/>
              </a:rPr>
              <a:t>Real-time Messaging, Notifications,
Broadcasts, Telemedicine Signaling</a:t>
            </a:r>
          </a:p>
          <a:p>
            <a:pPr>
              <a:spcBef>
                <a:spcPts val="200"/>
              </a:spcBef>
            </a:pPr>
            <a:r>
              <a:rPr sz="1200" b="0">
                <a:solidFill>
                  <a:srgbClr val="1E293B"/>
                </a:solidFill>
                <a:latin typeface="Calibri"/>
              </a:rPr>
              <a:t/>
            </a:r>
          </a:p>
          <a:p>
            <a:pPr>
              <a:spcBef>
                <a:spcPts val="200"/>
              </a:spcBef>
            </a:pPr>
            <a:r>
              <a:rPr sz="1200" b="1">
                <a:solidFill>
                  <a:srgbClr val="00B4D8"/>
                </a:solidFill>
                <a:latin typeface="Calibri"/>
              </a:rPr>
              <a:t>🌐 PATIENT PORTAL</a:t>
            </a:r>
          </a:p>
          <a:p>
            <a:pPr>
              <a:spcBef>
                <a:spcPts val="200"/>
              </a:spcBef>
            </a:pPr>
            <a:r>
              <a:rPr sz="1200" b="0">
                <a:solidFill>
                  <a:srgbClr val="1E293B"/>
                </a:solidFill>
                <a:latin typeface="Calibri"/>
              </a:rPr>
              <a:t>Medical Timeline, Prescriptions, Lab Results,
Bills, Appointments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73152"/>
            <a:ext cx="11704320" cy="502920"/>
          </a:xfrm>
          <a:prstGeom prst="rect">
            <a:avLst/>
          </a:prstGeom>
          <a:noFill/>
        </p:spPr>
        <p:txBody>
          <a:bodyPr wrap="none">
            <a:spAutoFit/>
          </a:bodyPr>
          <a:lstStyle/>
          <a:p>
            <a:pPr algn="l"/>
            <a:r>
              <a:rPr sz="2200" b="1">
                <a:solidFill>
                  <a:srgbClr val="FFFFFF"/>
                </a:solidFill>
                <a:latin typeface="Calibri"/>
              </a:rPr>
              <a:t>Core Clinical Features</a:t>
            </a:r>
          </a:p>
        </p:txBody>
      </p:sp>
      <p:sp>
        <p:nvSpPr>
          <p:cNvPr id="4" name="Rectangle 3"/>
          <p:cNvSpPr/>
          <p:nvPr/>
        </p:nvSpPr>
        <p:spPr>
          <a:xfrm>
            <a:off x="0" y="640080"/>
            <a:ext cx="137160" cy="6217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777240"/>
            <a:ext cx="11612880" cy="5760720"/>
          </a:xfrm>
          <a:prstGeom prst="rect">
            <a:avLst/>
          </a:prstGeom>
          <a:noFill/>
        </p:spPr>
        <p:txBody>
          <a:bodyPr wrap="square">
            <a:spAutoFit/>
          </a:bodyPr>
          <a:lstStyle/>
          <a:p>
            <a:pPr algn="l">
              <a:spcBef>
                <a:spcPts val="400"/>
              </a:spcBef>
            </a:pPr>
            <a:r>
              <a:rPr sz="1400">
                <a:solidFill>
                  <a:srgbClr val="1E293B"/>
                </a:solidFill>
                <a:latin typeface="Calibri"/>
              </a:rPr>
              <a:t>  •  Patient Registration &amp; MRN: Receptionist creates patient → system auto-generates unique Medical Record Number</a:t>
            </a:r>
          </a:p>
          <a:p>
            <a:pPr algn="l">
              <a:spcBef>
                <a:spcPts val="400"/>
              </a:spcBef>
            </a:pPr>
            <a:r>
              <a:rPr sz="1400">
                <a:solidFill>
                  <a:srgbClr val="1E293B"/>
                </a:solidFill>
                <a:latin typeface="Calibri"/>
              </a:rPr>
              <a:t>  •  Appointment Scheduling: Supports in-person, telemedicine, and follow-up types with doctor availability</a:t>
            </a:r>
          </a:p>
          <a:p>
            <a:pPr algn="l">
              <a:spcBef>
                <a:spcPts val="400"/>
              </a:spcBef>
            </a:pPr>
            <a:r>
              <a:rPr sz="1400">
                <a:solidFill>
                  <a:srgbClr val="1E293B"/>
                </a:solidFill>
                <a:latin typeface="Calibri"/>
              </a:rPr>
              <a:t>  •  Vital Signs Recording: Nurses record temperature, BP, pulse, SpO2, respiratory rate, BMI — alerts for abnormal values</a:t>
            </a:r>
          </a:p>
          <a:p>
            <a:pPr algn="l">
              <a:spcBef>
                <a:spcPts val="400"/>
              </a:spcBef>
            </a:pPr>
            <a:r>
              <a:rPr sz="1400">
                <a:solidFill>
                  <a:srgbClr val="1E293B"/>
                </a:solidFill>
                <a:latin typeface="Calibri"/>
              </a:rPr>
              <a:t>  •  Prescription Management: Doctors write from medicine database; pharmacists see live dispensing queue; PDF download available</a:t>
            </a:r>
          </a:p>
          <a:p>
            <a:pPr algn="l">
              <a:spcBef>
                <a:spcPts val="400"/>
              </a:spcBef>
            </a:pPr>
            <a:r>
              <a:rPr sz="1400">
                <a:solidFill>
                  <a:srgbClr val="1E293B"/>
                </a:solidFill>
                <a:latin typeface="Calibri"/>
              </a:rPr>
              <a:t>  •  Lab Order Workflow: Doctor orders → Lab tech records results → Doctor reviews → Patient notified via Socket.io</a:t>
            </a:r>
          </a:p>
          <a:p>
            <a:pPr algn="l">
              <a:spcBef>
                <a:spcPts val="400"/>
              </a:spcBef>
            </a:pPr>
            <a:r>
              <a:rPr sz="1400">
                <a:solidFill>
                  <a:srgbClr val="1E293B"/>
                </a:solidFill>
                <a:latin typeface="Calibri"/>
              </a:rPr>
              <a:t>  •  Discharge Summaries: Auto-generated PDF (via Puppeteer) with diagnosis, medications, and follow-up instructions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73152"/>
            <a:ext cx="11704320" cy="502920"/>
          </a:xfrm>
          <a:prstGeom prst="rect">
            <a:avLst/>
          </a:prstGeom>
          <a:noFill/>
        </p:spPr>
        <p:txBody>
          <a:bodyPr wrap="none">
            <a:spAutoFit/>
          </a:bodyPr>
          <a:lstStyle/>
          <a:p>
            <a:pPr algn="l"/>
            <a:r>
              <a:rPr sz="2200" b="1">
                <a:solidFill>
                  <a:srgbClr val="FFFFFF"/>
                </a:solidFill>
                <a:latin typeface="Calibri"/>
              </a:rPr>
              <a:t>Operational Features</a:t>
            </a:r>
          </a:p>
        </p:txBody>
      </p:sp>
      <p:sp>
        <p:nvSpPr>
          <p:cNvPr id="4" name="Rectangle 3"/>
          <p:cNvSpPr/>
          <p:nvPr/>
        </p:nvSpPr>
        <p:spPr>
          <a:xfrm>
            <a:off x="0" y="640080"/>
            <a:ext cx="137160" cy="6217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777240"/>
            <a:ext cx="11612880" cy="5760720"/>
          </a:xfrm>
          <a:prstGeom prst="rect">
            <a:avLst/>
          </a:prstGeom>
          <a:noFill/>
        </p:spPr>
        <p:txBody>
          <a:bodyPr wrap="square">
            <a:spAutoFit/>
          </a:bodyPr>
          <a:lstStyle/>
          <a:p>
            <a:pPr algn="l">
              <a:spcBef>
                <a:spcPts val="400"/>
              </a:spcBef>
            </a:pPr>
            <a:r>
              <a:rPr sz="1400">
                <a:solidFill>
                  <a:srgbClr val="1E293B"/>
                </a:solidFill>
                <a:latin typeface="Calibri"/>
              </a:rPr>
              <a:t>  •  Bed Matrix: Real-time visual grid of all hospital beds — available, occupied, or under maintenance — with patient assignment</a:t>
            </a:r>
          </a:p>
          <a:p>
            <a:pPr algn="l">
              <a:spcBef>
                <a:spcPts val="400"/>
              </a:spcBef>
            </a:pPr>
            <a:r>
              <a:rPr sz="1400">
                <a:solidFill>
                  <a:srgbClr val="1E293B"/>
                </a:solidFill>
                <a:latin typeface="Calibri"/>
              </a:rPr>
              <a:t>  •  Blood Bank: Tracks blood units by type, component, expiry date, and full transfusion history</a:t>
            </a:r>
          </a:p>
          <a:p>
            <a:pPr algn="l">
              <a:spcBef>
                <a:spcPts val="400"/>
              </a:spcBef>
            </a:pPr>
            <a:r>
              <a:rPr sz="1400">
                <a:solidFill>
                  <a:srgbClr val="1E293B"/>
                </a:solidFill>
                <a:latin typeface="Calibri"/>
              </a:rPr>
              <a:t>  •  Inventory + QR Codes: Stock levels with reorder alerts; QR code generation and scanning for physical items</a:t>
            </a:r>
          </a:p>
          <a:p>
            <a:pPr algn="l">
              <a:spcBef>
                <a:spcPts val="400"/>
              </a:spcBef>
            </a:pPr>
            <a:r>
              <a:rPr sz="1400">
                <a:solidFill>
                  <a:srgbClr val="1E293B"/>
                </a:solidFill>
                <a:latin typeface="Calibri"/>
              </a:rPr>
              <a:t>  •  OT Scheduling: Operating theater bookings with surgeon, anesthetist, and procedure assignment</a:t>
            </a:r>
          </a:p>
          <a:p>
            <a:pPr algn="l">
              <a:spcBef>
                <a:spcPts val="400"/>
              </a:spcBef>
            </a:pPr>
            <a:r>
              <a:rPr sz="1400">
                <a:solidFill>
                  <a:srgbClr val="1E293B"/>
                </a:solidFill>
                <a:latin typeface="Calibri"/>
              </a:rPr>
              <a:t>  •  Shift &amp; Leave Management: Staff scheduling, shift swap requests, leave applications with approval workflows and balance tracking</a:t>
            </a:r>
          </a:p>
          <a:p>
            <a:pPr algn="l">
              <a:spcBef>
                <a:spcPts val="400"/>
              </a:spcBef>
            </a:pPr>
            <a:r>
              <a:rPr sz="1400">
                <a:solidFill>
                  <a:srgbClr val="1E293B"/>
                </a:solidFill>
                <a:latin typeface="Calibri"/>
              </a:rPr>
              <a:t>  •  Visitor Management: Check-in/out with badge tracking, relationship logging, and security officer access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73152"/>
            <a:ext cx="11704320" cy="502920"/>
          </a:xfrm>
          <a:prstGeom prst="rect">
            <a:avLst/>
          </a:prstGeom>
          <a:noFill/>
        </p:spPr>
        <p:txBody>
          <a:bodyPr wrap="none">
            <a:spAutoFit/>
          </a:bodyPr>
          <a:lstStyle/>
          <a:p>
            <a:pPr algn="l"/>
            <a:r>
              <a:rPr sz="2200" b="1">
                <a:solidFill>
                  <a:srgbClr val="FFFFFF"/>
                </a:solidFill>
                <a:latin typeface="Calibri"/>
              </a:rPr>
              <a:t>Security Architecture — Layer 1</a:t>
            </a:r>
          </a:p>
        </p:txBody>
      </p:sp>
      <p:sp>
        <p:nvSpPr>
          <p:cNvPr id="4" name="Rectangle 3"/>
          <p:cNvSpPr/>
          <p:nvPr/>
        </p:nvSpPr>
        <p:spPr>
          <a:xfrm>
            <a:off x="0" y="640080"/>
            <a:ext cx="137160" cy="6217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777240"/>
            <a:ext cx="11612880" cy="5760720"/>
          </a:xfrm>
          <a:prstGeom prst="rect">
            <a:avLst/>
          </a:prstGeom>
          <a:noFill/>
        </p:spPr>
        <p:txBody>
          <a:bodyPr wrap="square">
            <a:spAutoFit/>
          </a:bodyPr>
          <a:lstStyle/>
          <a:p>
            <a:pPr algn="l">
              <a:spcBef>
                <a:spcPts val="400"/>
              </a:spcBef>
            </a:pPr>
            <a:r>
              <a:rPr sz="1400">
                <a:solidFill>
                  <a:srgbClr val="1E293B"/>
                </a:solidFill>
                <a:latin typeface="Calibri"/>
              </a:rPr>
              <a:t>  🔐  Argon2id Password Hashing — industry's strongest algorithm, resistant to GPU brute-force attacks</a:t>
            </a:r>
          </a:p>
          <a:p>
            <a:pPr algn="l">
              <a:spcBef>
                <a:spcPts val="400"/>
              </a:spcBef>
            </a:pPr>
            <a:r>
              <a:rPr sz="1400">
                <a:solidFill>
                  <a:srgbClr val="1E293B"/>
                </a:solidFill>
                <a:latin typeface="Calibri"/>
              </a:rPr>
              <a:t>  🔑  RS256 JWT (Asymmetric Keys) — access tokens signed with private key, verified with public key; 15-min expiry</a:t>
            </a:r>
          </a:p>
          <a:p>
            <a:pPr algn="l">
              <a:spcBef>
                <a:spcPts val="400"/>
              </a:spcBef>
            </a:pPr>
            <a:r>
              <a:rPr sz="1400">
                <a:solidFill>
                  <a:srgbClr val="1E293B"/>
                </a:solidFill>
                <a:latin typeface="Calibri"/>
              </a:rPr>
              <a:t>  🔄  Refresh Token Rotation — single-use tokens in Redis; each refresh issues a brand-new token</a:t>
            </a:r>
          </a:p>
          <a:p>
            <a:pPr algn="l">
              <a:spcBef>
                <a:spcPts val="400"/>
              </a:spcBef>
            </a:pPr>
            <a:r>
              <a:rPr sz="1400">
                <a:solidFill>
                  <a:srgbClr val="1E293B"/>
                </a:solidFill>
                <a:latin typeface="Calibri"/>
              </a:rPr>
              <a:t>  🛡️  CSRF Protection — double-submit cookie pattern; every state-changing request requires a valid CSRF token</a:t>
            </a:r>
          </a:p>
          <a:p>
            <a:pPr algn="l">
              <a:spcBef>
                <a:spcPts val="400"/>
              </a:spcBef>
            </a:pPr>
            <a:r>
              <a:rPr sz="1400">
                <a:solidFill>
                  <a:srgbClr val="1E293B"/>
                </a:solidFill>
                <a:latin typeface="Calibri"/>
              </a:rPr>
              <a:t>  🗄️  Field-Level Encryption — patient PII (email, phone, address) encrypted at rest using PostgreSQL pgcrypto</a:t>
            </a:r>
          </a:p>
          <a:p>
            <a:pPr algn="l">
              <a:spcBef>
                <a:spcPts val="400"/>
              </a:spcBef>
            </a:pPr>
            <a:r>
              <a:rPr sz="1400">
                <a:solidFill>
                  <a:srgbClr val="1E293B"/>
                </a:solidFill>
                <a:latin typeface="Calibri"/>
              </a:rPr>
              <a:t>  🦠  File Virus Scanning — every uploaded file scanned with ClamScan antivirus before storage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73152"/>
            <a:ext cx="11704320" cy="502920"/>
          </a:xfrm>
          <a:prstGeom prst="rect">
            <a:avLst/>
          </a:prstGeom>
          <a:noFill/>
        </p:spPr>
        <p:txBody>
          <a:bodyPr wrap="none">
            <a:spAutoFit/>
          </a:bodyPr>
          <a:lstStyle/>
          <a:p>
            <a:pPr algn="l"/>
            <a:r>
              <a:rPr sz="2200" b="1">
                <a:solidFill>
                  <a:srgbClr val="FFFFFF"/>
                </a:solidFill>
                <a:latin typeface="Calibri"/>
              </a:rPr>
              <a:t>Security Architecture — Layer 2</a:t>
            </a:r>
          </a:p>
        </p:txBody>
      </p:sp>
      <p:sp>
        <p:nvSpPr>
          <p:cNvPr id="4" name="Rectangle 3"/>
          <p:cNvSpPr/>
          <p:nvPr/>
        </p:nvSpPr>
        <p:spPr>
          <a:xfrm>
            <a:off x="0" y="640080"/>
            <a:ext cx="137160" cy="6217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777240"/>
            <a:ext cx="11612880" cy="5760720"/>
          </a:xfrm>
          <a:prstGeom prst="rect">
            <a:avLst/>
          </a:prstGeom>
          <a:noFill/>
        </p:spPr>
        <p:txBody>
          <a:bodyPr wrap="square">
            <a:spAutoFit/>
          </a:bodyPr>
          <a:lstStyle/>
          <a:p>
            <a:pPr algn="l">
              <a:spcBef>
                <a:spcPts val="400"/>
              </a:spcBef>
            </a:pPr>
            <a:r>
              <a:rPr sz="1400">
                <a:solidFill>
                  <a:srgbClr val="1E293B"/>
                </a:solidFill>
                <a:latin typeface="Calibri"/>
              </a:rPr>
              <a:t>  🚦  Rate Limiting — Redis sliding window: 20 login attempts/15 min; 200 API calls/min per IP</a:t>
            </a:r>
          </a:p>
          <a:p>
            <a:pPr algn="l">
              <a:spcBef>
                <a:spcPts val="400"/>
              </a:spcBef>
            </a:pPr>
            <a:r>
              <a:rPr sz="1400">
                <a:solidFill>
                  <a:srgbClr val="1E293B"/>
                </a:solidFill>
                <a:latin typeface="Calibri"/>
              </a:rPr>
              <a:t>  🔒  Account Lockout — 5 failed attempts → 15-minute lockout + automatic email notification to user</a:t>
            </a:r>
          </a:p>
          <a:p>
            <a:pPr algn="l">
              <a:spcBef>
                <a:spcPts val="400"/>
              </a:spcBef>
            </a:pPr>
            <a:r>
              <a:rPr sz="1400">
                <a:solidFill>
                  <a:srgbClr val="1E293B"/>
                </a:solidFill>
                <a:latin typeface="Calibri"/>
              </a:rPr>
              <a:t>  🚫  IP Blocking — admins can block specific IPs with optional expiry; checked on every request</a:t>
            </a:r>
          </a:p>
          <a:p>
            <a:pPr algn="l">
              <a:spcBef>
                <a:spcPts val="400"/>
              </a:spcBef>
            </a:pPr>
            <a:r>
              <a:rPr sz="1400">
                <a:solidFill>
                  <a:srgbClr val="1E293B"/>
                </a:solidFill>
                <a:latin typeface="Calibri"/>
              </a:rPr>
              <a:t>  🧹  Input Sanitization — all data stripped of null bytes and control characters before processing</a:t>
            </a:r>
          </a:p>
          <a:p>
            <a:pPr algn="l">
              <a:spcBef>
                <a:spcPts val="400"/>
              </a:spcBef>
            </a:pPr>
            <a:r>
              <a:rPr sz="1400">
                <a:solidFill>
                  <a:srgbClr val="1E293B"/>
                </a:solidFill>
                <a:latin typeface="Calibri"/>
              </a:rPr>
              <a:t>  🔐  Client-Side Payload Encryption — sensitive form data encrypted with AES-256-GCM before leaving the browser</a:t>
            </a:r>
          </a:p>
          <a:p>
            <a:pPr algn="l">
              <a:spcBef>
                <a:spcPts val="400"/>
              </a:spcBef>
            </a:pPr>
            <a:r>
              <a:rPr sz="1400">
                <a:solidFill>
                  <a:srgbClr val="1E293B"/>
                </a:solidFill>
                <a:latin typeface="Calibri"/>
              </a:rPr>
              <a:t>  ⛓️  Tamper-Evident Audit Logs — hash-chain: each log entry hashes the previous entry (like blockchain)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73152"/>
            <a:ext cx="11704320" cy="502920"/>
          </a:xfrm>
          <a:prstGeom prst="rect">
            <a:avLst/>
          </a:prstGeom>
          <a:noFill/>
        </p:spPr>
        <p:txBody>
          <a:bodyPr wrap="none">
            <a:spAutoFit/>
          </a:bodyPr>
          <a:lstStyle/>
          <a:p>
            <a:pPr algn="l"/>
            <a:r>
              <a:rPr sz="2200" b="1">
                <a:solidFill>
                  <a:srgbClr val="FFFFFF"/>
                </a:solidFill>
                <a:latin typeface="Calibri"/>
              </a:rPr>
              <a:t>Database Design — PostgreSQL (40+ Tables)</a:t>
            </a:r>
          </a:p>
        </p:txBody>
      </p:sp>
      <p:sp>
        <p:nvSpPr>
          <p:cNvPr id="4" name="Rectangle 3"/>
          <p:cNvSpPr/>
          <p:nvPr/>
        </p:nvSpPr>
        <p:spPr>
          <a:xfrm>
            <a:off x="0" y="640080"/>
            <a:ext cx="137160" cy="6217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0"/>
            <a:ext cx="7772400" cy="4114800"/>
          </a:xfrm>
          <a:prstGeom prst="rect">
            <a:avLst/>
          </a:prstGeom>
          <a:noFill/>
        </p:spPr>
        <p:txBody>
          <a:bodyPr wrap="none">
            <a:spAutoFit/>
          </a:bodyPr>
          <a:lstStyle/>
          <a:p>
            <a:r>
              <a:rPr sz="900">
                <a:solidFill>
                  <a:srgbClr val="1E293B"/>
                </a:solidFill>
                <a:latin typeface="Courier New"/>
              </a:rPr>
              <a:t>  users ──── user_roles ──── departments
    │
    ├── sessions (IP/UA hashed)
    │
  patients ──────────────────────────────────────────
    │
    ├── appointments ──── medical_records
    ├── vitals
    ├── prescriptions ──── prescription_items ──── medicines
    ├── lab_orders ──── lab_results
    ├── discharge_summaries
    └── bills ──── bill_items ──── payments
  rooms ──── beds ──── patients
  ot_schedules ──── users (surgeon + anesthetist)
  messages ──── message_groups
  audit_logs (hash-chain verified)
  blood_bank_units | inventory_items | shift_schedules</a:t>
            </a:r>
          </a:p>
        </p:txBody>
      </p:sp>
      <p:sp>
        <p:nvSpPr>
          <p:cNvPr id="6" name="TextBox 5"/>
          <p:cNvSpPr txBox="1"/>
          <p:nvPr/>
        </p:nvSpPr>
        <p:spPr>
          <a:xfrm>
            <a:off x="274320" y="4937760"/>
            <a:ext cx="11612880" cy="1737360"/>
          </a:xfrm>
          <a:prstGeom prst="rect">
            <a:avLst/>
          </a:prstGeom>
          <a:noFill/>
        </p:spPr>
        <p:txBody>
          <a:bodyPr wrap="square">
            <a:spAutoFit/>
          </a:bodyPr>
          <a:lstStyle/>
          <a:p>
            <a:pPr algn="l">
              <a:spcBef>
                <a:spcPts val="400"/>
              </a:spcBef>
            </a:pPr>
            <a:r>
              <a:rPr sz="1400">
                <a:solidFill>
                  <a:srgbClr val="1E293B"/>
                </a:solidFill>
                <a:latin typeface="Calibri"/>
              </a:rPr>
              <a:t>  •  Encrypted columns: email, phone, address, emergency contact (pgcrypto AES)</a:t>
            </a:r>
          </a:p>
          <a:p>
            <a:pPr algn="l">
              <a:spcBef>
                <a:spcPts val="400"/>
              </a:spcBef>
            </a:pPr>
            <a:r>
              <a:rPr sz="1400">
                <a:solidFill>
                  <a:srgbClr val="1E293B"/>
                </a:solidFill>
                <a:latin typeface="Calibri"/>
              </a:rPr>
              <a:t>  •  DB transactions used for multi-step operations (patient creation, discharge)</a:t>
            </a:r>
          </a:p>
          <a:p>
            <a:pPr algn="l">
              <a:spcBef>
                <a:spcPts val="400"/>
              </a:spcBef>
            </a:pPr>
            <a:r>
              <a:rPr sz="1400">
                <a:solidFill>
                  <a:srgbClr val="1E293B"/>
                </a:solidFill>
                <a:latin typeface="Calibri"/>
              </a:rPr>
              <a:t>  •  Indexes on foreign keys, MRN, employee_id, and timestamps for performance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73152"/>
            <a:ext cx="11704320" cy="502920"/>
          </a:xfrm>
          <a:prstGeom prst="rect">
            <a:avLst/>
          </a:prstGeom>
          <a:noFill/>
        </p:spPr>
        <p:txBody>
          <a:bodyPr wrap="none">
            <a:spAutoFit/>
          </a:bodyPr>
          <a:lstStyle/>
          <a:p>
            <a:pPr algn="l"/>
            <a:r>
              <a:rPr sz="2200" b="1">
                <a:solidFill>
                  <a:srgbClr val="FFFFFF"/>
                </a:solidFill>
                <a:latin typeface="Calibri"/>
              </a:rPr>
              <a:t>API Flow — Prescription Workflow Example</a:t>
            </a:r>
          </a:p>
        </p:txBody>
      </p:sp>
      <p:sp>
        <p:nvSpPr>
          <p:cNvPr id="4" name="Rectangle 3"/>
          <p:cNvSpPr/>
          <p:nvPr/>
        </p:nvSpPr>
        <p:spPr>
          <a:xfrm>
            <a:off x="0" y="640080"/>
            <a:ext cx="137160" cy="6217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0"/>
            <a:ext cx="11612880" cy="5760720"/>
          </a:xfrm>
          <a:prstGeom prst="rect">
            <a:avLst/>
          </a:prstGeom>
          <a:noFill/>
        </p:spPr>
        <p:txBody>
          <a:bodyPr wrap="none">
            <a:spAutoFit/>
          </a:bodyPr>
          <a:lstStyle/>
          <a:p>
            <a:r>
              <a:rPr sz="1100">
                <a:solidFill>
                  <a:srgbClr val="1E293B"/>
                </a:solidFill>
                <a:latin typeface="Courier New"/>
              </a:rPr>
              <a:t>  1. DOCTOR writes prescription
     └─► POST /api/prescriptions
         └─► JWT verified → RBAC (DOCTOR only) → Zod validation
             └─► Saved to DB → Pharmacist notified via Socket.io
  2. PHARMACIST reviews queue
     └─► GET /api/prescriptions  (pending filter)
         └─► PATCH /api/prescriptions/:id/dispense
             └─► Status updated → Patient notified in real-time
  3. PATIENT downloads PDF
     └─► GET /api/prescriptions/:id/pdf
         └─► Puppeteer generates PDF → Returned as download
  Every call: Request ID → Auth → RBAC → Validate → Execute → Audit Log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73152"/>
            <a:ext cx="11704320" cy="502920"/>
          </a:xfrm>
          <a:prstGeom prst="rect">
            <a:avLst/>
          </a:prstGeom>
          <a:noFill/>
        </p:spPr>
        <p:txBody>
          <a:bodyPr wrap="none">
            <a:spAutoFit/>
          </a:bodyPr>
          <a:lstStyle/>
          <a:p>
            <a:pPr algn="l"/>
            <a:r>
              <a:rPr sz="2200" b="1">
                <a:solidFill>
                  <a:srgbClr val="FFFFFF"/>
                </a:solidFill>
                <a:latin typeface="Calibri"/>
              </a:rPr>
              <a:t>Real Use Cases From the Code</a:t>
            </a:r>
          </a:p>
        </p:txBody>
      </p:sp>
      <p:sp>
        <p:nvSpPr>
          <p:cNvPr id="4" name="Rectangle 3"/>
          <p:cNvSpPr/>
          <p:nvPr/>
        </p:nvSpPr>
        <p:spPr>
          <a:xfrm>
            <a:off x="0" y="640080"/>
            <a:ext cx="137160" cy="6217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777240"/>
            <a:ext cx="5669280" cy="2560320"/>
          </a:xfrm>
          <a:prstGeom prst="rect">
            <a:avLst/>
          </a:prstGeom>
          <a:solidFill>
            <a:srgbClr val="E8F4F8"/>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868680"/>
            <a:ext cx="5486400" cy="365760"/>
          </a:xfrm>
          <a:prstGeom prst="rect">
            <a:avLst/>
          </a:prstGeom>
          <a:noFill/>
        </p:spPr>
        <p:txBody>
          <a:bodyPr wrap="none">
            <a:spAutoFit/>
          </a:bodyPr>
          <a:lstStyle/>
          <a:p>
            <a:r>
              <a:rPr sz="1300" b="1">
                <a:solidFill>
                  <a:srgbClr val="00B4D8"/>
                </a:solidFill>
                <a:latin typeface="Calibri"/>
              </a:rPr>
              <a:t>🧑‍⚕️ PATIENT PORTAL</a:t>
            </a:r>
          </a:p>
        </p:txBody>
      </p:sp>
      <p:sp>
        <p:nvSpPr>
          <p:cNvPr id="7" name="TextBox 6"/>
          <p:cNvSpPr txBox="1"/>
          <p:nvPr/>
        </p:nvSpPr>
        <p:spPr>
          <a:xfrm>
            <a:off x="365760" y="1280160"/>
            <a:ext cx="5486400" cy="1920240"/>
          </a:xfrm>
          <a:prstGeom prst="rect">
            <a:avLst/>
          </a:prstGeom>
          <a:noFill/>
        </p:spPr>
        <p:txBody>
          <a:bodyPr wrap="square">
            <a:spAutoFit/>
          </a:bodyPr>
          <a:lstStyle/>
          <a:p>
            <a:r>
              <a:rPr sz="1200">
                <a:solidFill>
                  <a:srgbClr val="1E293B"/>
                </a:solidFill>
                <a:latin typeface="Calibri"/>
              </a:rPr>
              <a:t>Patient logs in → views medical timeline → checks prescriptions → sees lab results → pays bill online</a:t>
            </a:r>
          </a:p>
        </p:txBody>
      </p:sp>
      <p:sp>
        <p:nvSpPr>
          <p:cNvPr id="8" name="Rectangle 7"/>
          <p:cNvSpPr/>
          <p:nvPr/>
        </p:nvSpPr>
        <p:spPr>
          <a:xfrm>
            <a:off x="6217920" y="777240"/>
            <a:ext cx="5669280" cy="2560320"/>
          </a:xfrm>
          <a:prstGeom prst="rect">
            <a:avLst/>
          </a:prstGeom>
          <a:solidFill>
            <a:srgbClr val="E8F4F8"/>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59" y="868680"/>
            <a:ext cx="5486400" cy="365760"/>
          </a:xfrm>
          <a:prstGeom prst="rect">
            <a:avLst/>
          </a:prstGeom>
          <a:noFill/>
        </p:spPr>
        <p:txBody>
          <a:bodyPr wrap="none">
            <a:spAutoFit/>
          </a:bodyPr>
          <a:lstStyle/>
          <a:p>
            <a:r>
              <a:rPr sz="1300" b="1">
                <a:solidFill>
                  <a:srgbClr val="00B4D8"/>
                </a:solidFill>
                <a:latin typeface="Calibri"/>
              </a:rPr>
              <a:t>📹 TELEMEDICINE</a:t>
            </a:r>
          </a:p>
        </p:txBody>
      </p:sp>
      <p:sp>
        <p:nvSpPr>
          <p:cNvPr id="10" name="TextBox 9"/>
          <p:cNvSpPr txBox="1"/>
          <p:nvPr/>
        </p:nvSpPr>
        <p:spPr>
          <a:xfrm>
            <a:off x="6309359" y="1280160"/>
            <a:ext cx="5486400" cy="1920240"/>
          </a:xfrm>
          <a:prstGeom prst="rect">
            <a:avLst/>
          </a:prstGeom>
          <a:noFill/>
        </p:spPr>
        <p:txBody>
          <a:bodyPr wrap="square">
            <a:spAutoFit/>
          </a:bodyPr>
          <a:lstStyle/>
          <a:p>
            <a:r>
              <a:rPr sz="1200">
                <a:solidFill>
                  <a:srgbClr val="1E293B"/>
                </a:solidFill>
                <a:latin typeface="Calibri"/>
              </a:rPr>
              <a:t>Doctor initiates video call → Socket.io handles WebRTC signaling → post-call: doctor creates medical record + prescription</a:t>
            </a:r>
          </a:p>
        </p:txBody>
      </p:sp>
      <p:sp>
        <p:nvSpPr>
          <p:cNvPr id="11" name="Rectangle 10"/>
          <p:cNvSpPr/>
          <p:nvPr/>
        </p:nvSpPr>
        <p:spPr>
          <a:xfrm>
            <a:off x="274320" y="3566160"/>
            <a:ext cx="5669280" cy="2560320"/>
          </a:xfrm>
          <a:prstGeom prst="rect">
            <a:avLst/>
          </a:prstGeom>
          <a:solidFill>
            <a:srgbClr val="E8F4F8"/>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3657600"/>
            <a:ext cx="5486400" cy="365760"/>
          </a:xfrm>
          <a:prstGeom prst="rect">
            <a:avLst/>
          </a:prstGeom>
          <a:noFill/>
        </p:spPr>
        <p:txBody>
          <a:bodyPr wrap="none">
            <a:spAutoFit/>
          </a:bodyPr>
          <a:lstStyle/>
          <a:p>
            <a:r>
              <a:rPr sz="1300" b="1">
                <a:solidFill>
                  <a:srgbClr val="00B4D8"/>
                </a:solidFill>
                <a:latin typeface="Calibri"/>
              </a:rPr>
              <a:t>🔍 AUDIT INVESTIGATION</a:t>
            </a:r>
          </a:p>
        </p:txBody>
      </p:sp>
      <p:sp>
        <p:nvSpPr>
          <p:cNvPr id="13" name="TextBox 12"/>
          <p:cNvSpPr txBox="1"/>
          <p:nvPr/>
        </p:nvSpPr>
        <p:spPr>
          <a:xfrm>
            <a:off x="365760" y="4069080"/>
            <a:ext cx="5486400" cy="1920240"/>
          </a:xfrm>
          <a:prstGeom prst="rect">
            <a:avLst/>
          </a:prstGeom>
          <a:noFill/>
        </p:spPr>
        <p:txBody>
          <a:bodyPr wrap="square">
            <a:spAutoFit/>
          </a:bodyPr>
          <a:lstStyle/>
          <a:p>
            <a:r>
              <a:rPr sz="1200">
                <a:solidFill>
                  <a:srgbClr val="1E293B"/>
                </a:solidFill>
                <a:latin typeface="Calibri"/>
              </a:rPr>
              <a:t>Admin suspects unauthorized access → opens Audit Log Viewer → filters by user/date → verifies hash-chain integrity → flags suspicious entry</a:t>
            </a:r>
          </a:p>
        </p:txBody>
      </p:sp>
      <p:sp>
        <p:nvSpPr>
          <p:cNvPr id="14" name="Rectangle 13"/>
          <p:cNvSpPr/>
          <p:nvPr/>
        </p:nvSpPr>
        <p:spPr>
          <a:xfrm>
            <a:off x="6217920" y="3566160"/>
            <a:ext cx="5669280" cy="2560320"/>
          </a:xfrm>
          <a:prstGeom prst="rect">
            <a:avLst/>
          </a:prstGeom>
          <a:solidFill>
            <a:srgbClr val="E8F4F8"/>
          </a:solidFill>
          <a:ln>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59" y="3657600"/>
            <a:ext cx="5486400" cy="365760"/>
          </a:xfrm>
          <a:prstGeom prst="rect">
            <a:avLst/>
          </a:prstGeom>
          <a:noFill/>
        </p:spPr>
        <p:txBody>
          <a:bodyPr wrap="none">
            <a:spAutoFit/>
          </a:bodyPr>
          <a:lstStyle/>
          <a:p>
            <a:r>
              <a:rPr sz="1300" b="1">
                <a:solidFill>
                  <a:srgbClr val="00B4D8"/>
                </a:solidFill>
                <a:latin typeface="Calibri"/>
              </a:rPr>
              <a:t>🦸 BLOOD BANK EMERGENCY</a:t>
            </a:r>
          </a:p>
        </p:txBody>
      </p:sp>
      <p:sp>
        <p:nvSpPr>
          <p:cNvPr id="16" name="TextBox 15"/>
          <p:cNvSpPr txBox="1"/>
          <p:nvPr/>
        </p:nvSpPr>
        <p:spPr>
          <a:xfrm>
            <a:off x="6309359" y="4069080"/>
            <a:ext cx="5486400" cy="1920240"/>
          </a:xfrm>
          <a:prstGeom prst="rect">
            <a:avLst/>
          </a:prstGeom>
          <a:noFill/>
        </p:spPr>
        <p:txBody>
          <a:bodyPr wrap="square">
            <a:spAutoFit/>
          </a:bodyPr>
          <a:lstStyle/>
          <a:p>
            <a:r>
              <a:rPr sz="1200">
                <a:solidFill>
                  <a:srgbClr val="1E293B"/>
                </a:solidFill>
                <a:latin typeface="Calibri"/>
              </a:rPr>
              <a:t>Nurse checks Blood Bank module → filters O-negative units → checks expiry dates → requests unit → transfusion logged with full history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73152"/>
            <a:ext cx="11704320" cy="502920"/>
          </a:xfrm>
          <a:prstGeom prst="rect">
            <a:avLst/>
          </a:prstGeom>
          <a:noFill/>
        </p:spPr>
        <p:txBody>
          <a:bodyPr wrap="none">
            <a:spAutoFit/>
          </a:bodyPr>
          <a:lstStyle/>
          <a:p>
            <a:pPr algn="l"/>
            <a:r>
              <a:rPr sz="2200" b="1">
                <a:solidFill>
                  <a:srgbClr val="FFFFFF"/>
                </a:solidFill>
                <a:latin typeface="Calibri"/>
              </a:rPr>
              <a:t>Technology Stack</a:t>
            </a:r>
          </a:p>
        </p:txBody>
      </p:sp>
      <p:sp>
        <p:nvSpPr>
          <p:cNvPr id="4" name="Rectangle 3"/>
          <p:cNvSpPr/>
          <p:nvPr/>
        </p:nvSpPr>
        <p:spPr>
          <a:xfrm>
            <a:off x="0" y="640080"/>
            <a:ext cx="137160" cy="6217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274320" y="731520"/>
          <a:ext cx="11612880" cy="5852160"/>
        </p:xfrm>
        <a:graphic>
          <a:graphicData uri="http://schemas.openxmlformats.org/drawingml/2006/table">
            <a:tbl>
              <a:tblPr firstRow="1" bandRow="1">
                <a:tableStyleId>{5C22544A-7EE6-4342-B048-85BDC9FD1C3A}</a:tableStyleId>
              </a:tblPr>
              <a:tblGrid>
                <a:gridCol w="5806440"/>
                <a:gridCol w="5806440"/>
              </a:tblGrid>
              <a:tr h="365760">
                <a:tc>
                  <a:txBody>
                    <a:bodyPr/>
                    <a:lstStyle/>
                    <a:p>
                      <a:r>
                        <a:rPr b="1" sz="1300">
                          <a:solidFill>
                            <a:srgbClr val="FFFFFF"/>
                          </a:solidFill>
                          <a:latin typeface="Calibri"/>
                        </a:rPr>
                        <a:t>Technology</a:t>
                      </a:r>
                    </a:p>
                  </a:txBody>
                  <a:tcPr>
                    <a:solidFill>
                      <a:srgbClr val="0D2137"/>
                    </a:solidFill>
                  </a:tcPr>
                </a:tc>
                <a:tc>
                  <a:txBody>
                    <a:bodyPr/>
                    <a:lstStyle/>
                    <a:p>
                      <a:r>
                        <a:rPr b="1" sz="1300">
                          <a:solidFill>
                            <a:srgbClr val="FFFFFF"/>
                          </a:solidFill>
                          <a:latin typeface="Calibri"/>
                        </a:rPr>
                        <a:t>Version / Purpose</a:t>
                      </a:r>
                    </a:p>
                  </a:txBody>
                  <a:tcPr>
                    <a:solidFill>
                      <a:srgbClr val="0D2137"/>
                    </a:solidFill>
                  </a:tcPr>
                </a:tc>
              </a:tr>
              <a:tr h="365760">
                <a:tc>
                  <a:txBody>
                    <a:bodyPr/>
                    <a:lstStyle/>
                    <a:p>
                      <a:r>
                        <a:rPr b="1" sz="1100">
                          <a:solidFill>
                            <a:srgbClr val="0096B7"/>
                          </a:solidFill>
                          <a:latin typeface="Calibri"/>
                        </a:rPr>
                        <a:t>React 18</a:t>
                      </a:r>
                    </a:p>
                  </a:txBody>
                  <a:tcPr>
                    <a:solidFill>
                      <a:srgbClr val="E8F4F8"/>
                    </a:solidFill>
                  </a:tcPr>
                </a:tc>
                <a:tc>
                  <a:txBody>
                    <a:bodyPr/>
                    <a:lstStyle/>
                    <a:p>
                      <a:r>
                        <a:rPr sz="1100">
                          <a:solidFill>
                            <a:srgbClr val="1E293B"/>
                          </a:solidFill>
                          <a:latin typeface="Calibri"/>
                        </a:rPr>
                        <a:t>18.2.0 — UI framework with lazy-loaded routes</a:t>
                      </a:r>
                    </a:p>
                  </a:txBody>
                  <a:tcPr>
                    <a:solidFill>
                      <a:srgbClr val="E8F4F8"/>
                    </a:solidFill>
                  </a:tcPr>
                </a:tc>
              </a:tr>
              <a:tr h="365760">
                <a:tc>
                  <a:txBody>
                    <a:bodyPr/>
                    <a:lstStyle/>
                    <a:p>
                      <a:r>
                        <a:rPr b="1" sz="1100">
                          <a:solidFill>
                            <a:srgbClr val="0096B7"/>
                          </a:solidFill>
                          <a:latin typeface="Calibri"/>
                        </a:rPr>
                        <a:t>Vite + PWA</a:t>
                      </a:r>
                    </a:p>
                  </a:txBody>
                  <a:tcPr>
                    <a:solidFill>
                      <a:srgbClr val="FFFFFF"/>
                    </a:solidFill>
                  </a:tcPr>
                </a:tc>
                <a:tc>
                  <a:txBody>
                    <a:bodyPr/>
                    <a:lstStyle/>
                    <a:p>
                      <a:r>
                        <a:rPr sz="1100">
                          <a:solidFill>
                            <a:srgbClr val="1E293B"/>
                          </a:solidFill>
                          <a:latin typeface="Calibri"/>
                        </a:rPr>
                        <a:t>5.0 — Build tool + offline/installable support</a:t>
                      </a:r>
                    </a:p>
                  </a:txBody>
                  <a:tcPr>
                    <a:solidFill>
                      <a:srgbClr val="FFFFFF"/>
                    </a:solidFill>
                  </a:tcPr>
                </a:tc>
              </a:tr>
              <a:tr h="365760">
                <a:tc>
                  <a:txBody>
                    <a:bodyPr/>
                    <a:lstStyle/>
                    <a:p>
                      <a:r>
                        <a:rPr b="1" sz="1100">
                          <a:solidFill>
                            <a:srgbClr val="0096B7"/>
                          </a:solidFill>
                          <a:latin typeface="Calibri"/>
                        </a:rPr>
                        <a:t>Zustand</a:t>
                      </a:r>
                    </a:p>
                  </a:txBody>
                  <a:tcPr>
                    <a:solidFill>
                      <a:srgbClr val="E8F4F8"/>
                    </a:solidFill>
                  </a:tcPr>
                </a:tc>
                <a:tc>
                  <a:txBody>
                    <a:bodyPr/>
                    <a:lstStyle/>
                    <a:p>
                      <a:r>
                        <a:rPr sz="1100">
                          <a:solidFill>
                            <a:srgbClr val="1E293B"/>
                          </a:solidFill>
                          <a:latin typeface="Calibri"/>
                        </a:rPr>
                        <a:t>5.0 — Client state management (sessionStorage persistence)</a:t>
                      </a:r>
                    </a:p>
                  </a:txBody>
                  <a:tcPr>
                    <a:solidFill>
                      <a:srgbClr val="E8F4F8"/>
                    </a:solidFill>
                  </a:tcPr>
                </a:tc>
              </a:tr>
              <a:tr h="365760">
                <a:tc>
                  <a:txBody>
                    <a:bodyPr/>
                    <a:lstStyle/>
                    <a:p>
                      <a:r>
                        <a:rPr b="1" sz="1100">
                          <a:solidFill>
                            <a:srgbClr val="0096B7"/>
                          </a:solidFill>
                          <a:latin typeface="Calibri"/>
                        </a:rPr>
                        <a:t>TanStack Query</a:t>
                      </a:r>
                    </a:p>
                  </a:txBody>
                  <a:tcPr>
                    <a:solidFill>
                      <a:srgbClr val="FFFFFF"/>
                    </a:solidFill>
                  </a:tcPr>
                </a:tc>
                <a:tc>
                  <a:txBody>
                    <a:bodyPr/>
                    <a:lstStyle/>
                    <a:p>
                      <a:r>
                        <a:rPr sz="1100">
                          <a:solidFill>
                            <a:srgbClr val="1E293B"/>
                          </a:solidFill>
                          <a:latin typeface="Calibri"/>
                        </a:rPr>
                        <a:t>5.17 — Server state, caching, background refetch</a:t>
                      </a:r>
                    </a:p>
                  </a:txBody>
                  <a:tcPr>
                    <a:solidFill>
                      <a:srgbClr val="FFFFFF"/>
                    </a:solidFill>
                  </a:tcPr>
                </a:tc>
              </a:tr>
              <a:tr h="365760">
                <a:tc>
                  <a:txBody>
                    <a:bodyPr/>
                    <a:lstStyle/>
                    <a:p>
                      <a:r>
                        <a:rPr b="1" sz="1100">
                          <a:solidFill>
                            <a:srgbClr val="0096B7"/>
                          </a:solidFill>
                          <a:latin typeface="Calibri"/>
                        </a:rPr>
                        <a:t>React Hook Form + Zod</a:t>
                      </a:r>
                    </a:p>
                  </a:txBody>
                  <a:tcPr>
                    <a:solidFill>
                      <a:srgbClr val="E8F4F8"/>
                    </a:solidFill>
                  </a:tcPr>
                </a:tc>
                <a:tc>
                  <a:txBody>
                    <a:bodyPr/>
                    <a:lstStyle/>
                    <a:p>
                      <a:r>
                        <a:rPr sz="1100">
                          <a:solidFill>
                            <a:srgbClr val="1E293B"/>
                          </a:solidFill>
                          <a:latin typeface="Calibri"/>
                        </a:rPr>
                        <a:t>7.72 + 4.3 — Forms and schema validation</a:t>
                      </a:r>
                    </a:p>
                  </a:txBody>
                  <a:tcPr>
                    <a:solidFill>
                      <a:srgbClr val="E8F4F8"/>
                    </a:solidFill>
                  </a:tcPr>
                </a:tc>
              </a:tr>
              <a:tr h="365760">
                <a:tc>
                  <a:txBody>
                    <a:bodyPr/>
                    <a:lstStyle/>
                    <a:p>
                      <a:r>
                        <a:rPr b="1" sz="1100">
                          <a:solidFill>
                            <a:srgbClr val="0096B7"/>
                          </a:solidFill>
                          <a:latin typeface="Calibri"/>
                        </a:rPr>
                        <a:t>Recharts</a:t>
                      </a:r>
                    </a:p>
                  </a:txBody>
                  <a:tcPr>
                    <a:solidFill>
                      <a:srgbClr val="FFFFFF"/>
                    </a:solidFill>
                  </a:tcPr>
                </a:tc>
                <a:tc>
                  <a:txBody>
                    <a:bodyPr/>
                    <a:lstStyle/>
                    <a:p>
                      <a:r>
                        <a:rPr sz="1100">
                          <a:solidFill>
                            <a:srgbClr val="1E293B"/>
                          </a:solidFill>
                          <a:latin typeface="Calibri"/>
                        </a:rPr>
                        <a:t>3.8 — Analytics and dashboard charts</a:t>
                      </a:r>
                    </a:p>
                  </a:txBody>
                  <a:tcPr>
                    <a:solidFill>
                      <a:srgbClr val="FFFFFF"/>
                    </a:solidFill>
                  </a:tcPr>
                </a:tc>
              </a:tr>
              <a:tr h="365760">
                <a:tc>
                  <a:txBody>
                    <a:bodyPr/>
                    <a:lstStyle/>
                    <a:p>
                      <a:r>
                        <a:rPr b="1" sz="1100">
                          <a:solidFill>
                            <a:srgbClr val="0096B7"/>
                          </a:solidFill>
                          <a:latin typeface="Calibri"/>
                        </a:rPr>
                        <a:t>Socket.io Client</a:t>
                      </a:r>
                    </a:p>
                  </a:txBody>
                  <a:tcPr>
                    <a:solidFill>
                      <a:srgbClr val="E8F4F8"/>
                    </a:solidFill>
                  </a:tcPr>
                </a:tc>
                <a:tc>
                  <a:txBody>
                    <a:bodyPr/>
                    <a:lstStyle/>
                    <a:p>
                      <a:r>
                        <a:rPr sz="1100">
                          <a:solidFill>
                            <a:srgbClr val="1E293B"/>
                          </a:solidFill>
                          <a:latin typeface="Calibri"/>
                        </a:rPr>
                        <a:t>4.8.3 — Real-time WebSocket communication</a:t>
                      </a:r>
                    </a:p>
                  </a:txBody>
                  <a:tcPr>
                    <a:solidFill>
                      <a:srgbClr val="E8F4F8"/>
                    </a:solidFill>
                  </a:tcPr>
                </a:tc>
              </a:tr>
              <a:tr h="365760">
                <a:tc>
                  <a:txBody>
                    <a:bodyPr/>
                    <a:lstStyle/>
                    <a:p>
                      <a:r>
                        <a:rPr b="1" sz="1100">
                          <a:solidFill>
                            <a:srgbClr val="0096B7"/>
                          </a:solidFill>
                          <a:latin typeface="Calibri"/>
                        </a:rPr>
                        <a:t>Node.js + Express</a:t>
                      </a:r>
                    </a:p>
                  </a:txBody>
                  <a:tcPr>
                    <a:solidFill>
                      <a:srgbClr val="FFFFFF"/>
                    </a:solidFill>
                  </a:tcPr>
                </a:tc>
                <a:tc>
                  <a:txBody>
                    <a:bodyPr/>
                    <a:lstStyle/>
                    <a:p>
                      <a:r>
                        <a:rPr sz="1100">
                          <a:solidFill>
                            <a:srgbClr val="1E293B"/>
                          </a:solidFill>
                          <a:latin typeface="Calibri"/>
                        </a:rPr>
                        <a:t>5.2.1 — REST API server</a:t>
                      </a:r>
                    </a:p>
                  </a:txBody>
                  <a:tcPr>
                    <a:solidFill>
                      <a:srgbClr val="FFFFFF"/>
                    </a:solidFill>
                  </a:tcPr>
                </a:tc>
              </a:tr>
              <a:tr h="365760">
                <a:tc>
                  <a:txBody>
                    <a:bodyPr/>
                    <a:lstStyle/>
                    <a:p>
                      <a:r>
                        <a:rPr b="1" sz="1100">
                          <a:solidFill>
                            <a:srgbClr val="0096B7"/>
                          </a:solidFill>
                          <a:latin typeface="Calibri"/>
                        </a:rPr>
                        <a:t>PostgreSQL + pgcrypto</a:t>
                      </a:r>
                    </a:p>
                  </a:txBody>
                  <a:tcPr>
                    <a:solidFill>
                      <a:srgbClr val="E8F4F8"/>
                    </a:solidFill>
                  </a:tcPr>
                </a:tc>
                <a:tc>
                  <a:txBody>
                    <a:bodyPr/>
                    <a:lstStyle/>
                    <a:p>
                      <a:r>
                        <a:rPr sz="1100">
                          <a:solidFill>
                            <a:srgbClr val="1E293B"/>
                          </a:solidFill>
                          <a:latin typeface="Calibri"/>
                        </a:rPr>
                        <a:t>— — Relational DB + field-level encryption</a:t>
                      </a:r>
                    </a:p>
                  </a:txBody>
                  <a:tcPr>
                    <a:solidFill>
                      <a:srgbClr val="E8F4F8"/>
                    </a:solidFill>
                  </a:tcPr>
                </a:tc>
              </a:tr>
              <a:tr h="365760">
                <a:tc>
                  <a:txBody>
                    <a:bodyPr/>
                    <a:lstStyle/>
                    <a:p>
                      <a:r>
                        <a:rPr b="1" sz="1100">
                          <a:solidFill>
                            <a:srgbClr val="0096B7"/>
                          </a:solidFill>
                          <a:latin typeface="Calibri"/>
                        </a:rPr>
                        <a:t>Redis + BullMQ</a:t>
                      </a:r>
                    </a:p>
                  </a:txBody>
                  <a:tcPr>
                    <a:solidFill>
                      <a:srgbClr val="FFFFFF"/>
                    </a:solidFill>
                  </a:tcPr>
                </a:tc>
                <a:tc>
                  <a:txBody>
                    <a:bodyPr/>
                    <a:lstStyle/>
                    <a:p>
                      <a:r>
                        <a:rPr sz="1100">
                          <a:solidFill>
                            <a:srgbClr val="1E293B"/>
                          </a:solidFill>
                          <a:latin typeface="Calibri"/>
                        </a:rPr>
                        <a:t>— — Sessions, rate limiting, async job queues</a:t>
                      </a:r>
                    </a:p>
                  </a:txBody>
                  <a:tcPr>
                    <a:solidFill>
                      <a:srgbClr val="FFFFFF"/>
                    </a:solidFill>
                  </a:tcPr>
                </a:tc>
              </a:tr>
              <a:tr h="365760">
                <a:tc>
                  <a:txBody>
                    <a:bodyPr/>
                    <a:lstStyle/>
                    <a:p>
                      <a:r>
                        <a:rPr b="1" sz="1100">
                          <a:solidFill>
                            <a:srgbClr val="0096B7"/>
                          </a:solidFill>
                          <a:latin typeface="Calibri"/>
                        </a:rPr>
                        <a:t>Argon2id</a:t>
                      </a:r>
                    </a:p>
                  </a:txBody>
                  <a:tcPr>
                    <a:solidFill>
                      <a:srgbClr val="E8F4F8"/>
                    </a:solidFill>
                  </a:tcPr>
                </a:tc>
                <a:tc>
                  <a:txBody>
                    <a:bodyPr/>
                    <a:lstStyle/>
                    <a:p>
                      <a:r>
                        <a:rPr sz="1100">
                          <a:solidFill>
                            <a:srgbClr val="1E293B"/>
                          </a:solidFill>
                          <a:latin typeface="Calibri"/>
                        </a:rPr>
                        <a:t>0.44 — Password hashing (PHC winner)</a:t>
                      </a:r>
                    </a:p>
                  </a:txBody>
                  <a:tcPr>
                    <a:solidFill>
                      <a:srgbClr val="E8F4F8"/>
                    </a:solidFill>
                  </a:tcPr>
                </a:tc>
              </a:tr>
              <a:tr h="365760">
                <a:tc>
                  <a:txBody>
                    <a:bodyPr/>
                    <a:lstStyle/>
                    <a:p>
                      <a:r>
                        <a:rPr b="1" sz="1100">
                          <a:solidFill>
                            <a:srgbClr val="0096B7"/>
                          </a:solidFill>
                          <a:latin typeface="Calibri"/>
                        </a:rPr>
                        <a:t>Puppeteer</a:t>
                      </a:r>
                    </a:p>
                  </a:txBody>
                  <a:tcPr>
                    <a:solidFill>
                      <a:srgbClr val="FFFFFF"/>
                    </a:solidFill>
                  </a:tcPr>
                </a:tc>
                <a:tc>
                  <a:txBody>
                    <a:bodyPr/>
                    <a:lstStyle/>
                    <a:p>
                      <a:r>
                        <a:rPr sz="1100">
                          <a:solidFill>
                            <a:srgbClr val="1E293B"/>
                          </a:solidFill>
                          <a:latin typeface="Calibri"/>
                        </a:rPr>
                        <a:t>22.0 — Headless Chrome PDF generation</a:t>
                      </a:r>
                    </a:p>
                  </a:txBody>
                  <a:tcPr>
                    <a:solidFill>
                      <a:srgbClr val="FFFFFF"/>
                    </a:solidFill>
                  </a:tcPr>
                </a:tc>
              </a:tr>
              <a:tr h="365760">
                <a:tc>
                  <a:txBody>
                    <a:bodyPr/>
                    <a:lstStyle/>
                    <a:p>
                      <a:r>
                        <a:rPr b="1" sz="1100">
                          <a:solidFill>
                            <a:srgbClr val="0096B7"/>
                          </a:solidFill>
                          <a:latin typeface="Calibri"/>
                        </a:rPr>
                        <a:t>ClamScan</a:t>
                      </a:r>
                    </a:p>
                  </a:txBody>
                  <a:tcPr>
                    <a:solidFill>
                      <a:srgbClr val="E8F4F8"/>
                    </a:solidFill>
                  </a:tcPr>
                </a:tc>
                <a:tc>
                  <a:txBody>
                    <a:bodyPr/>
                    <a:lstStyle/>
                    <a:p>
                      <a:r>
                        <a:rPr sz="1100">
                          <a:solidFill>
                            <a:srgbClr val="1E293B"/>
                          </a:solidFill>
                          <a:latin typeface="Calibri"/>
                        </a:rPr>
                        <a:t>2.4 — Antivirus file scanning</a:t>
                      </a:r>
                    </a:p>
                  </a:txBody>
                  <a:tcPr>
                    <a:solidFill>
                      <a:srgbClr val="E8F4F8"/>
                    </a:solidFill>
                  </a:tcPr>
                </a:tc>
              </a:tr>
              <a:tr h="365760">
                <a:tc>
                  <a:txBody>
                    <a:bodyPr/>
                    <a:lstStyle/>
                    <a:p>
                      <a:r>
                        <a:rPr b="1" sz="1100">
                          <a:solidFill>
                            <a:srgbClr val="0096B7"/>
                          </a:solidFill>
                          <a:latin typeface="Calibri"/>
                        </a:rPr>
                        <a:t>Razorpay</a:t>
                      </a:r>
                    </a:p>
                  </a:txBody>
                  <a:tcPr>
                    <a:solidFill>
                      <a:srgbClr val="FFFFFF"/>
                    </a:solidFill>
                  </a:tcPr>
                </a:tc>
                <a:tc>
                  <a:txBody>
                    <a:bodyPr/>
                    <a:lstStyle/>
                    <a:p>
                      <a:r>
                        <a:rPr sz="1100">
                          <a:solidFill>
                            <a:srgbClr val="1E293B"/>
                          </a:solidFill>
                          <a:latin typeface="Calibri"/>
                        </a:rPr>
                        <a:t>2.9.6 — Payment gateway integration</a:t>
                      </a:r>
                    </a:p>
                  </a:txBody>
                  <a:tcPr>
                    <a:solidFill>
                      <a:srgbClr val="FFFFFF"/>
                    </a:solidFill>
                  </a:tcPr>
                </a:tc>
              </a:tr>
              <a:tr h="365760">
                <a:tc>
                  <a:txBody>
                    <a:bodyPr/>
                    <a:lstStyle/>
                    <a:p>
                      <a:r>
                        <a:rPr b="1" sz="1100">
                          <a:solidFill>
                            <a:srgbClr val="0096B7"/>
                          </a:solidFill>
                          <a:latin typeface="Calibri"/>
                        </a:rPr>
                        <a:t>Helmet + CSRF-CSRF</a:t>
                      </a:r>
                    </a:p>
                  </a:txBody>
                  <a:tcPr>
                    <a:solidFill>
                      <a:srgbClr val="E8F4F8"/>
                    </a:solidFill>
                  </a:tcPr>
                </a:tc>
                <a:tc>
                  <a:txBody>
                    <a:bodyPr/>
                    <a:lstStyle/>
                    <a:p>
                      <a:r>
                        <a:rPr sz="1100">
                          <a:solidFill>
                            <a:srgbClr val="1E293B"/>
                          </a:solidFill>
                          <a:latin typeface="Calibri"/>
                        </a:rPr>
                        <a:t>8.0 + 4.0 — Security headers + CSRF protection</a:t>
                      </a:r>
                    </a:p>
                  </a:txBody>
                  <a:tcPr>
                    <a:solidFill>
                      <a:srgbClr val="E8F4F8"/>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73152"/>
            <a:ext cx="11704320" cy="502920"/>
          </a:xfrm>
          <a:prstGeom prst="rect">
            <a:avLst/>
          </a:prstGeom>
          <a:noFill/>
        </p:spPr>
        <p:txBody>
          <a:bodyPr wrap="none">
            <a:spAutoFit/>
          </a:bodyPr>
          <a:lstStyle/>
          <a:p>
            <a:pPr algn="l"/>
            <a:r>
              <a:rPr sz="2200" b="1">
                <a:solidFill>
                  <a:srgbClr val="FFFFFF"/>
                </a:solidFill>
                <a:latin typeface="Calibri"/>
              </a:rPr>
              <a:t>Key Advantages</a:t>
            </a:r>
          </a:p>
        </p:txBody>
      </p:sp>
      <p:sp>
        <p:nvSpPr>
          <p:cNvPr id="4" name="Rectangle 3"/>
          <p:cNvSpPr/>
          <p:nvPr/>
        </p:nvSpPr>
        <p:spPr>
          <a:xfrm>
            <a:off x="0" y="640080"/>
            <a:ext cx="137160" cy="6217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777240"/>
            <a:ext cx="11612880" cy="5760720"/>
          </a:xfrm>
          <a:prstGeom prst="rect">
            <a:avLst/>
          </a:prstGeom>
          <a:noFill/>
        </p:spPr>
        <p:txBody>
          <a:bodyPr wrap="square">
            <a:spAutoFit/>
          </a:bodyPr>
          <a:lstStyle/>
          <a:p>
            <a:pPr algn="l">
              <a:spcBef>
                <a:spcPts val="400"/>
              </a:spcBef>
            </a:pPr>
            <a:r>
              <a:rPr sz="1400">
                <a:solidFill>
                  <a:srgbClr val="1E293B"/>
                </a:solidFill>
                <a:latin typeface="Calibri"/>
              </a:rPr>
              <a:t>  ✅  Truly Role-Based: 19 roles with granular permissions — no role can access another's data</a:t>
            </a:r>
          </a:p>
          <a:p>
            <a:pPr algn="l">
              <a:spcBef>
                <a:spcPts val="400"/>
              </a:spcBef>
            </a:pPr>
            <a:r>
              <a:rPr sz="1400">
                <a:solidFill>
                  <a:srgbClr val="1E293B"/>
                </a:solidFill>
                <a:latin typeface="Calibri"/>
              </a:rPr>
              <a:t>  ✅  Defense in Depth: 9 middleware layers + field encryption + payload encryption = multiple security barriers</a:t>
            </a:r>
          </a:p>
          <a:p>
            <a:pPr algn="l">
              <a:spcBef>
                <a:spcPts val="400"/>
              </a:spcBef>
            </a:pPr>
            <a:r>
              <a:rPr sz="1400">
                <a:solidFill>
                  <a:srgbClr val="1E293B"/>
                </a:solidFill>
                <a:latin typeface="Calibri"/>
              </a:rPr>
              <a:t>  ✅  Real-Time Everything: Socket.io powers live chat, notifications, telemedicine, and force-logout — no polling</a:t>
            </a:r>
          </a:p>
          <a:p>
            <a:pPr algn="l">
              <a:spcBef>
                <a:spcPts val="400"/>
              </a:spcBef>
            </a:pPr>
            <a:r>
              <a:rPr sz="1400">
                <a:solidFill>
                  <a:srgbClr val="1E293B"/>
                </a:solidFill>
                <a:latin typeface="Calibri"/>
              </a:rPr>
              <a:t>  ✅  Tamper-Evident Audit Trail: Hash-chain verification makes logs mathematically provable — unique in most HMS systems</a:t>
            </a:r>
          </a:p>
          <a:p>
            <a:pPr algn="l">
              <a:spcBef>
                <a:spcPts val="400"/>
              </a:spcBef>
            </a:pPr>
            <a:r>
              <a:rPr sz="1400">
                <a:solidFill>
                  <a:srgbClr val="1E293B"/>
                </a:solidFill>
                <a:latin typeface="Calibri"/>
              </a:rPr>
              <a:t>  ✅  PWA Support: Works offline, installable on mobile — critical for hospital environments with poor connectivity</a:t>
            </a:r>
          </a:p>
          <a:p>
            <a:pPr algn="l">
              <a:spcBef>
                <a:spcPts val="400"/>
              </a:spcBef>
            </a:pPr>
            <a:r>
              <a:rPr sz="1400">
                <a:solidFill>
                  <a:srgbClr val="1E293B"/>
                </a:solidFill>
                <a:latin typeface="Calibri"/>
              </a:rPr>
              <a:t>  ✅  Automated Workflows: PDF generation, email notifications, virus scanning run asynchronously via BullMQ job queues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73152"/>
            <a:ext cx="11704320" cy="502920"/>
          </a:xfrm>
          <a:prstGeom prst="rect">
            <a:avLst/>
          </a:prstGeom>
          <a:noFill/>
        </p:spPr>
        <p:txBody>
          <a:bodyPr wrap="none">
            <a:spAutoFit/>
          </a:bodyPr>
          <a:lstStyle/>
          <a:p>
            <a:pPr algn="l"/>
            <a:r>
              <a:rPr sz="2200" b="1">
                <a:solidFill>
                  <a:srgbClr val="FFFFFF"/>
                </a:solidFill>
                <a:latin typeface="Calibri"/>
              </a:rPr>
              <a:t>Current Limitations</a:t>
            </a:r>
          </a:p>
        </p:txBody>
      </p:sp>
      <p:sp>
        <p:nvSpPr>
          <p:cNvPr id="4" name="Rectangle 3"/>
          <p:cNvSpPr/>
          <p:nvPr/>
        </p:nvSpPr>
        <p:spPr>
          <a:xfrm>
            <a:off x="0" y="640080"/>
            <a:ext cx="137160" cy="6217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777240"/>
            <a:ext cx="11612880" cy="5760720"/>
          </a:xfrm>
          <a:prstGeom prst="rect">
            <a:avLst/>
          </a:prstGeom>
          <a:noFill/>
        </p:spPr>
        <p:txBody>
          <a:bodyPr wrap="square">
            <a:spAutoFit/>
          </a:bodyPr>
          <a:lstStyle/>
          <a:p>
            <a:pPr algn="l">
              <a:spcBef>
                <a:spcPts val="400"/>
              </a:spcBef>
            </a:pPr>
            <a:r>
              <a:rPr sz="1400">
                <a:solidFill>
                  <a:srgbClr val="1E293B"/>
                </a:solidFill>
                <a:latin typeface="Calibri"/>
              </a:rPr>
              <a:t>  ⚠️  Telemedicine Provider: Video signaling uses Socket.io but actual video stream depends on external provider (Twilio/Jitsi) — not fully self-hosted</a:t>
            </a:r>
          </a:p>
          <a:p>
            <a:pPr algn="l">
              <a:spcBef>
                <a:spcPts val="400"/>
              </a:spcBef>
            </a:pPr>
            <a:r>
              <a:rPr sz="1400">
                <a:solidFill>
                  <a:srgbClr val="1E293B"/>
                </a:solidFill>
                <a:latin typeface="Calibri"/>
              </a:rPr>
              <a:t>  ⚠️  Single Hospital: Designed for one hospital instance — no multi-tenant or multi-branch support currently</a:t>
            </a:r>
          </a:p>
          <a:p>
            <a:pPr algn="l">
              <a:spcBef>
                <a:spcPts val="400"/>
              </a:spcBef>
            </a:pPr>
            <a:r>
              <a:rPr sz="1400">
                <a:solidFill>
                  <a:srgbClr val="1E293B"/>
                </a:solidFill>
                <a:latin typeface="Calibri"/>
              </a:rPr>
              <a:t>  ⚠️  No CI/CD Pipeline: No automated deployment pipeline or Kubernetes configuration — manual setup required</a:t>
            </a:r>
          </a:p>
          <a:p>
            <a:pPr algn="l">
              <a:spcBef>
                <a:spcPts val="400"/>
              </a:spcBef>
            </a:pPr>
            <a:r>
              <a:rPr sz="1400">
                <a:solidFill>
                  <a:srgbClr val="1E293B"/>
                </a:solidFill>
                <a:latin typeface="Calibri"/>
              </a:rPr>
              <a:t>  ⚠️  Radiology Module: Radiologist role exists in RBAC but the full radiology report module is partially scaffolded</a:t>
            </a:r>
          </a:p>
          <a:p>
            <a:pPr algn="l">
              <a:spcBef>
                <a:spcPts val="400"/>
              </a:spcBef>
            </a:pPr>
            <a:r>
              <a:rPr sz="1400">
                <a:solidFill>
                  <a:srgbClr val="1E293B"/>
                </a:solidFill>
                <a:latin typeface="Calibri"/>
              </a:rPr>
              <a:t>  ⚠️  Payment Geography: Razorpay integration is limited to Indian payment methods — no international payment support</a:t>
            </a:r>
          </a:p>
          <a:p>
            <a:pPr algn="l">
              <a:spcBef>
                <a:spcPts val="400"/>
              </a:spcBef>
            </a:pPr>
            <a:r>
              <a:rPr sz="1400">
                <a:solidFill>
                  <a:srgbClr val="1E293B"/>
                </a:solidFill>
                <a:latin typeface="Calibri"/>
              </a:rPr>
              <a:t>  ⚠️  iOS PWA: PWA works on Android but native push notifications are limited on iOS Safari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73152"/>
            <a:ext cx="11704320" cy="502920"/>
          </a:xfrm>
          <a:prstGeom prst="rect">
            <a:avLst/>
          </a:prstGeom>
          <a:noFill/>
        </p:spPr>
        <p:txBody>
          <a:bodyPr wrap="none">
            <a:spAutoFit/>
          </a:bodyPr>
          <a:lstStyle/>
          <a:p>
            <a:pPr algn="l"/>
            <a:r>
              <a:rPr sz="2200" b="1">
                <a:solidFill>
                  <a:srgbClr val="FFFFFF"/>
                </a:solidFill>
                <a:latin typeface="Calibri"/>
              </a:rPr>
              <a:t>Future Enhancements</a:t>
            </a:r>
          </a:p>
        </p:txBody>
      </p:sp>
      <p:sp>
        <p:nvSpPr>
          <p:cNvPr id="4" name="Rectangle 3"/>
          <p:cNvSpPr/>
          <p:nvPr/>
        </p:nvSpPr>
        <p:spPr>
          <a:xfrm>
            <a:off x="0" y="640080"/>
            <a:ext cx="137160" cy="6217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777240"/>
            <a:ext cx="11612880" cy="5760720"/>
          </a:xfrm>
          <a:prstGeom prst="rect">
            <a:avLst/>
          </a:prstGeom>
          <a:noFill/>
        </p:spPr>
        <p:txBody>
          <a:bodyPr wrap="square">
            <a:spAutoFit/>
          </a:bodyPr>
          <a:lstStyle/>
          <a:p>
            <a:pPr algn="l">
              <a:spcBef>
                <a:spcPts val="400"/>
              </a:spcBef>
            </a:pPr>
            <a:r>
              <a:rPr sz="1400">
                <a:solidFill>
                  <a:srgbClr val="1E293B"/>
                </a:solidFill>
                <a:latin typeface="Calibri"/>
              </a:rPr>
              <a:t>  🚀  AI-Powered Diagnostics: ML models for vital sign anomaly detection and drug interaction warnings</a:t>
            </a:r>
          </a:p>
          <a:p>
            <a:pPr algn="l">
              <a:spcBef>
                <a:spcPts val="400"/>
              </a:spcBef>
            </a:pPr>
            <a:r>
              <a:rPr sz="1400">
                <a:solidFill>
                  <a:srgbClr val="1E293B"/>
                </a:solidFill>
                <a:latin typeface="Calibri"/>
              </a:rPr>
              <a:t>  🏢  Multi-Tenant Architecture: Support multiple hospital branches with complete data isolation</a:t>
            </a:r>
          </a:p>
          <a:p>
            <a:pPr algn="l">
              <a:spcBef>
                <a:spcPts val="400"/>
              </a:spcBef>
            </a:pPr>
            <a:r>
              <a:rPr sz="1400">
                <a:solidFill>
                  <a:srgbClr val="1E293B"/>
                </a:solidFill>
                <a:latin typeface="Calibri"/>
              </a:rPr>
              <a:t>  🔗  HL7/FHIR Integration: Standard healthcare data exchange for interoperability with other hospital systems</a:t>
            </a:r>
          </a:p>
          <a:p>
            <a:pPr algn="l">
              <a:spcBef>
                <a:spcPts val="400"/>
              </a:spcBef>
            </a:pPr>
            <a:r>
              <a:rPr sz="1400">
                <a:solidFill>
                  <a:srgbClr val="1E293B"/>
                </a:solidFill>
                <a:latin typeface="Calibri"/>
              </a:rPr>
              <a:t>  📱  Native Mobile Apps: React Native apps for iOS and Android with full offline sync</a:t>
            </a:r>
          </a:p>
          <a:p>
            <a:pPr algn="l">
              <a:spcBef>
                <a:spcPts val="400"/>
              </a:spcBef>
            </a:pPr>
            <a:r>
              <a:rPr sz="1400">
                <a:solidFill>
                  <a:srgbClr val="1E293B"/>
                </a:solidFill>
                <a:latin typeface="Calibri"/>
              </a:rPr>
              <a:t>  📊  Predictive Analytics: Bed occupancy forecasting, patient readmission risk scoring, revenue prediction</a:t>
            </a:r>
          </a:p>
          <a:p>
            <a:pPr algn="l">
              <a:spcBef>
                <a:spcPts val="400"/>
              </a:spcBef>
            </a:pPr>
            <a:r>
              <a:rPr sz="1400">
                <a:solidFill>
                  <a:srgbClr val="1E293B"/>
                </a:solidFill>
                <a:latin typeface="Calibri"/>
              </a:rPr>
              <a:t>  💳  Automated Insurance Billing: Insurance claim submission and reconciliation with providers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400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73152"/>
            <a:ext cx="11704320" cy="502920"/>
          </a:xfrm>
          <a:prstGeom prst="rect">
            <a:avLst/>
          </a:prstGeom>
          <a:noFill/>
        </p:spPr>
        <p:txBody>
          <a:bodyPr wrap="none">
            <a:spAutoFit/>
          </a:bodyPr>
          <a:lstStyle/>
          <a:p>
            <a:pPr algn="l"/>
            <a:r>
              <a:rPr sz="2200" b="1">
                <a:solidFill>
                  <a:srgbClr val="FFFFFF"/>
                </a:solidFill>
                <a:latin typeface="Calibri"/>
              </a:rPr>
              <a:t>Conclusion</a:t>
            </a:r>
          </a:p>
        </p:txBody>
      </p:sp>
      <p:sp>
        <p:nvSpPr>
          <p:cNvPr id="4" name="Rectangle 3"/>
          <p:cNvSpPr/>
          <p:nvPr/>
        </p:nvSpPr>
        <p:spPr>
          <a:xfrm>
            <a:off x="0" y="640080"/>
            <a:ext cx="137160" cy="62179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777240"/>
            <a:ext cx="11612880" cy="4572000"/>
          </a:xfrm>
          <a:prstGeom prst="rect">
            <a:avLst/>
          </a:prstGeom>
          <a:noFill/>
        </p:spPr>
        <p:txBody>
          <a:bodyPr wrap="square">
            <a:spAutoFit/>
          </a:bodyPr>
          <a:lstStyle/>
          <a:p>
            <a:pPr algn="l">
              <a:spcBef>
                <a:spcPts val="400"/>
              </a:spcBef>
            </a:pPr>
            <a:r>
              <a:rPr sz="1400">
                <a:solidFill>
                  <a:srgbClr val="1E293B"/>
                </a:solidFill>
                <a:latin typeface="Calibri"/>
              </a:rPr>
              <a:t>  •  Built a production-grade HMS covering the complete hospital workflow end-to-end</a:t>
            </a:r>
          </a:p>
          <a:p>
            <a:pPr algn="l">
              <a:spcBef>
                <a:spcPts val="400"/>
              </a:spcBef>
            </a:pPr>
            <a:r>
              <a:rPr sz="1400">
                <a:solidFill>
                  <a:srgbClr val="1E293B"/>
                </a:solidFill>
                <a:latin typeface="Calibri"/>
              </a:rPr>
              <a:t>  •  Supports 19 user roles with strict RBAC across 30+ independent modules</a:t>
            </a:r>
          </a:p>
          <a:p>
            <a:pPr algn="l">
              <a:spcBef>
                <a:spcPts val="400"/>
              </a:spcBef>
            </a:pPr>
            <a:r>
              <a:rPr sz="1400">
                <a:solidFill>
                  <a:srgbClr val="1E293B"/>
                </a:solidFill>
                <a:latin typeface="Calibri"/>
              </a:rPr>
              <a:t>  •  Implements enterprise-level security: Argon2id, RS256 JWT, pgcrypto, CSRF, virus scanning, hash-chain audit logs</a:t>
            </a:r>
          </a:p>
          <a:p>
            <a:pPr algn="l">
              <a:spcBef>
                <a:spcPts val="400"/>
              </a:spcBef>
            </a:pPr>
            <a:r>
              <a:rPr sz="1400">
                <a:solidFill>
                  <a:srgbClr val="1E293B"/>
                </a:solidFill>
                <a:latin typeface="Calibri"/>
              </a:rPr>
              <a:t>  •  Enables real-time collaboration via Socket.io for messaging, notifications, and telemedicine</a:t>
            </a:r>
          </a:p>
          <a:p>
            <a:pPr algn="l">
              <a:spcBef>
                <a:spcPts val="400"/>
              </a:spcBef>
            </a:pPr>
            <a:r>
              <a:rPr sz="1400">
                <a:solidFill>
                  <a:srgbClr val="1E293B"/>
                </a:solidFill>
                <a:latin typeface="Calibri"/>
              </a:rPr>
              <a:t>  •  Designed as a PWA for cross-device accessibility including offline support</a:t>
            </a:r>
          </a:p>
          <a:p>
            <a:pPr algn="l">
              <a:spcBef>
                <a:spcPts val="400"/>
              </a:spcBef>
            </a:pPr>
            <a:r>
              <a:rPr sz="1400">
                <a:solidFill>
                  <a:srgbClr val="1E293B"/>
                </a:solidFill>
                <a:latin typeface="Calibri"/>
              </a:rPr>
              <a:t>  •  Demonstrates how modern web technologies can solve real healthcare challenges</a:t>
            </a:r>
          </a:p>
        </p:txBody>
      </p:sp>
      <p:sp>
        <p:nvSpPr>
          <p:cNvPr id="6" name="Rectangle 5"/>
          <p:cNvSpPr/>
          <p:nvPr/>
        </p:nvSpPr>
        <p:spPr>
          <a:xfrm>
            <a:off x="457200" y="5486400"/>
            <a:ext cx="11274552" cy="82296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5532120"/>
            <a:ext cx="11091672" cy="731520"/>
          </a:xfrm>
          <a:prstGeom prst="rect">
            <a:avLst/>
          </a:prstGeom>
          <a:noFill/>
        </p:spPr>
        <p:txBody>
          <a:bodyPr wrap="square">
            <a:spAutoFit/>
          </a:bodyPr>
          <a:lstStyle/>
          <a:p>
            <a:pPr algn="ctr"/>
            <a:r>
              <a:rPr sz="1400" i="1">
                <a:solidFill>
                  <a:srgbClr val="00B4D8"/>
                </a:solidFill>
                <a:latin typeface="Calibri"/>
              </a:rPr>
              <a:t>“This system doesn’t just manage a hospital — it secures it, connects it, and makes it smarter.”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0"/>
            <a:ext cx="11274552" cy="822960"/>
          </a:xfrm>
          <a:prstGeom prst="rect">
            <a:avLst/>
          </a:prstGeom>
          <a:noFill/>
        </p:spPr>
        <p:txBody>
          <a:bodyPr wrap="square">
            <a:spAutoFit/>
          </a:bodyPr>
          <a:lstStyle/>
          <a:p>
            <a:pPr algn="ctr"/>
            <a:r>
              <a:rPr sz="4400" b="1" i="0">
                <a:solidFill>
                  <a:srgbClr val="FFFFFF"/>
                </a:solidFill>
                <a:latin typeface="Calibri"/>
              </a:rPr>
              <a:t>Thank You</a:t>
            </a:r>
          </a:p>
        </p:txBody>
      </p:sp>
      <p:sp>
        <p:nvSpPr>
          <p:cNvPr id="4" name="TextBox 3"/>
          <p:cNvSpPr txBox="1"/>
          <p:nvPr/>
        </p:nvSpPr>
        <p:spPr>
          <a:xfrm>
            <a:off x="457200" y="2194560"/>
            <a:ext cx="11274552" cy="457200"/>
          </a:xfrm>
          <a:prstGeom prst="rect">
            <a:avLst/>
          </a:prstGeom>
          <a:noFill/>
        </p:spPr>
        <p:txBody>
          <a:bodyPr wrap="square">
            <a:spAutoFit/>
          </a:bodyPr>
          <a:lstStyle/>
          <a:p>
            <a:pPr algn="ctr"/>
            <a:r>
              <a:rPr sz="2000" b="0" i="0">
                <a:solidFill>
                  <a:srgbClr val="00B4D8"/>
                </a:solidFill>
                <a:latin typeface="Calibri"/>
              </a:rPr>
              <a:t>Questions &amp; Discussion</a:t>
            </a:r>
          </a:p>
        </p:txBody>
      </p:sp>
      <p:sp>
        <p:nvSpPr>
          <p:cNvPr id="5" name="Rectangle 4"/>
          <p:cNvSpPr/>
          <p:nvPr/>
        </p:nvSpPr>
        <p:spPr>
          <a:xfrm>
            <a:off x="1371600" y="2834640"/>
            <a:ext cx="9445752"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179576" y="3108960"/>
            <a:ext cx="2286000" cy="45720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Calibri"/>
              </a:rPr>
              <a:t>19 User Roles</a:t>
            </a:r>
          </a:p>
        </p:txBody>
      </p:sp>
      <p:sp>
        <p:nvSpPr>
          <p:cNvPr id="7" name="Rounded Rectangle 6"/>
          <p:cNvSpPr/>
          <p:nvPr/>
        </p:nvSpPr>
        <p:spPr>
          <a:xfrm>
            <a:off x="3694176" y="3108960"/>
            <a:ext cx="2286000" cy="45720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Calibri"/>
              </a:rPr>
              <a:t>30+ Modules</a:t>
            </a:r>
          </a:p>
        </p:txBody>
      </p:sp>
      <p:sp>
        <p:nvSpPr>
          <p:cNvPr id="8" name="Rounded Rectangle 7"/>
          <p:cNvSpPr/>
          <p:nvPr/>
        </p:nvSpPr>
        <p:spPr>
          <a:xfrm>
            <a:off x="6208776" y="3108960"/>
            <a:ext cx="2286000" cy="45720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Calibri"/>
              </a:rPr>
              <a:t>40+ DB Tables</a:t>
            </a:r>
          </a:p>
        </p:txBody>
      </p:sp>
      <p:sp>
        <p:nvSpPr>
          <p:cNvPr id="9" name="Rounded Rectangle 8"/>
          <p:cNvSpPr/>
          <p:nvPr/>
        </p:nvSpPr>
        <p:spPr>
          <a:xfrm>
            <a:off x="8723376" y="3108960"/>
            <a:ext cx="2286000" cy="45720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Calibri"/>
              </a:rPr>
              <a:t>9 Security Layers</a:t>
            </a:r>
          </a:p>
        </p:txBody>
      </p:sp>
      <p:sp>
        <p:nvSpPr>
          <p:cNvPr id="10" name="Rounded Rectangle 9"/>
          <p:cNvSpPr/>
          <p:nvPr/>
        </p:nvSpPr>
        <p:spPr>
          <a:xfrm>
            <a:off x="1179576" y="3703320"/>
            <a:ext cx="2286000" cy="45720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Calibri"/>
              </a:rPr>
              <a:t>Real-time Chat</a:t>
            </a:r>
          </a:p>
        </p:txBody>
      </p:sp>
      <p:sp>
        <p:nvSpPr>
          <p:cNvPr id="11" name="Rounded Rectangle 10"/>
          <p:cNvSpPr/>
          <p:nvPr/>
        </p:nvSpPr>
        <p:spPr>
          <a:xfrm>
            <a:off x="3694176" y="3703320"/>
            <a:ext cx="2286000" cy="45720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Calibri"/>
              </a:rPr>
              <a:t>Telemedicine</a:t>
            </a:r>
          </a:p>
        </p:txBody>
      </p:sp>
      <p:sp>
        <p:nvSpPr>
          <p:cNvPr id="12" name="Rounded Rectangle 11"/>
          <p:cNvSpPr/>
          <p:nvPr/>
        </p:nvSpPr>
        <p:spPr>
          <a:xfrm>
            <a:off x="6208776" y="3703320"/>
            <a:ext cx="2286000" cy="45720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Calibri"/>
              </a:rPr>
              <a:t>PDF Generation</a:t>
            </a:r>
          </a:p>
        </p:txBody>
      </p:sp>
      <p:sp>
        <p:nvSpPr>
          <p:cNvPr id="13" name="Rounded Rectangle 12"/>
          <p:cNvSpPr/>
          <p:nvPr/>
        </p:nvSpPr>
        <p:spPr>
          <a:xfrm>
            <a:off x="8723376" y="3703320"/>
            <a:ext cx="2286000" cy="45720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Calibri"/>
              </a:rPr>
              <a:t>Virus Scanning</a:t>
            </a:r>
          </a:p>
        </p:txBody>
      </p:sp>
      <p:sp>
        <p:nvSpPr>
          <p:cNvPr id="14" name="TextBox 13"/>
          <p:cNvSpPr txBox="1"/>
          <p:nvPr/>
        </p:nvSpPr>
        <p:spPr>
          <a:xfrm>
            <a:off x="457200" y="6217920"/>
            <a:ext cx="11274552" cy="365760"/>
          </a:xfrm>
          <a:prstGeom prst="rect">
            <a:avLst/>
          </a:prstGeom>
          <a:noFill/>
        </p:spPr>
        <p:txBody>
          <a:bodyPr wrap="square">
            <a:spAutoFit/>
          </a:bodyPr>
          <a:lstStyle/>
          <a:p>
            <a:pPr algn="ctr"/>
            <a:r>
              <a:rPr sz="1200" b="0" i="0">
                <a:solidFill>
                  <a:srgbClr val="FFFFFF"/>
                </a:solidFill>
                <a:latin typeface="Calibri"/>
              </a:rPr>
              <a:t>[Your Email]  |  [GitHub Link]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